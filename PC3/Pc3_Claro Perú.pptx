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Source Code Pro"/>
      <p:regular r:id="rId30"/>
      <p:bold r:id="rId31"/>
      <p:italic r:id="rId32"/>
      <p:boldItalic r:id="rId33"/>
    </p:embeddedFont>
    <p:embeddedFont>
      <p:font typeface="Oswald"/>
      <p:regular r:id="rId34"/>
      <p:bold r:id="rId35"/>
    </p:embeddedFon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96">
          <p15:clr>
            <a:srgbClr val="747775"/>
          </p15:clr>
        </p15:guide>
        <p15:guide id="2" orient="horz" pos="46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093388-B851-485A-8EE1-4ADC80420260}">
  <a:tblStyle styleId="{9F093388-B851-485A-8EE1-4ADC80420260}"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16DB500-6BC9-4857-A303-CF937C3EB9CA}" styleName="Table_1">
    <a:wholeTbl>
      <a:tcTxStyle>
        <a:font>
          <a:latin typeface="Arial"/>
          <a:ea typeface="Arial"/>
          <a:cs typeface="Arial"/>
        </a:font>
        <a:srgbClr val="000000"/>
      </a:tcTxStyle>
      <a:tcStyle>
        <a:tcBdr>
          <a:left>
            <a:ln cap="flat" cmpd="sng">
              <a:solidFill>
                <a:srgbClr val="1B1C1D"/>
              </a:solidFill>
              <a:prstDash val="solid"/>
              <a:round/>
              <a:headEnd len="sm" w="sm" type="none"/>
              <a:tailEnd len="sm" w="sm" type="none"/>
            </a:ln>
          </a:left>
          <a:right>
            <a:ln cap="flat" cmpd="sng">
              <a:solidFill>
                <a:srgbClr val="1B1C1D"/>
              </a:solidFill>
              <a:prstDash val="solid"/>
              <a:round/>
              <a:headEnd len="sm" w="sm" type="none"/>
              <a:tailEnd len="sm" w="sm" type="none"/>
            </a:ln>
          </a:right>
          <a:top>
            <a:ln cap="flat" cmpd="sng">
              <a:solidFill>
                <a:srgbClr val="1B1C1D"/>
              </a:solidFill>
              <a:prstDash val="solid"/>
              <a:round/>
              <a:headEnd len="sm" w="sm" type="none"/>
              <a:tailEnd len="sm" w="sm" type="none"/>
            </a:ln>
          </a:top>
          <a:bottom>
            <a:ln cap="flat" cmpd="sng">
              <a:solidFill>
                <a:srgbClr val="1B1C1D"/>
              </a:solidFill>
              <a:prstDash val="solid"/>
              <a:round/>
              <a:headEnd len="sm" w="sm" type="none"/>
              <a:tailEnd len="sm" w="sm" type="none"/>
            </a:ln>
          </a:bottom>
          <a:insideH>
            <a:ln cap="flat" cmpd="sng">
              <a:solidFill>
                <a:srgbClr val="1B1C1D"/>
              </a:solidFill>
              <a:prstDash val="solid"/>
              <a:round/>
              <a:headEnd len="sm" w="sm" type="none"/>
              <a:tailEnd len="sm" w="sm" type="none"/>
            </a:ln>
          </a:insideH>
          <a:insideV>
            <a:ln cap="flat" cmpd="sng">
              <a:solidFill>
                <a:srgbClr val="1B1C1D"/>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
        <p:guide pos="46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ourceCodePro-bold.fntdata"/><Relationship Id="rId30" Type="http://schemas.openxmlformats.org/officeDocument/2006/relationships/font" Target="fonts/SourceCodePro-regular.fntdata"/><Relationship Id="rId11" Type="http://schemas.openxmlformats.org/officeDocument/2006/relationships/slide" Target="slides/slide5.xml"/><Relationship Id="rId33" Type="http://schemas.openxmlformats.org/officeDocument/2006/relationships/font" Target="fonts/SourceCodePro-boldItalic.fntdata"/><Relationship Id="rId10" Type="http://schemas.openxmlformats.org/officeDocument/2006/relationships/slide" Target="slides/slide4.xml"/><Relationship Id="rId32" Type="http://schemas.openxmlformats.org/officeDocument/2006/relationships/font" Target="fonts/SourceCodePro-italic.fntdata"/><Relationship Id="rId13" Type="http://schemas.openxmlformats.org/officeDocument/2006/relationships/slide" Target="slides/slide7.xml"/><Relationship Id="rId35" Type="http://schemas.openxmlformats.org/officeDocument/2006/relationships/font" Target="fonts/Oswald-bold.fntdata"/><Relationship Id="rId12" Type="http://schemas.openxmlformats.org/officeDocument/2006/relationships/slide" Target="slides/slide6.xml"/><Relationship Id="rId34" Type="http://schemas.openxmlformats.org/officeDocument/2006/relationships/font" Target="fonts/Oswald-regular.fntdata"/><Relationship Id="rId15" Type="http://schemas.openxmlformats.org/officeDocument/2006/relationships/slide" Target="slides/slide9.xml"/><Relationship Id="rId37" Type="http://schemas.openxmlformats.org/officeDocument/2006/relationships/font" Target="fonts/RobotoMono-bold.fntdata"/><Relationship Id="rId14" Type="http://schemas.openxmlformats.org/officeDocument/2006/relationships/slide" Target="slides/slide8.xml"/><Relationship Id="rId36" Type="http://schemas.openxmlformats.org/officeDocument/2006/relationships/font" Target="fonts/RobotoMono-regular.fntdata"/><Relationship Id="rId17" Type="http://schemas.openxmlformats.org/officeDocument/2006/relationships/slide" Target="slides/slide11.xml"/><Relationship Id="rId39" Type="http://schemas.openxmlformats.org/officeDocument/2006/relationships/font" Target="fonts/RobotoMono-boldItalic.fntdata"/><Relationship Id="rId16" Type="http://schemas.openxmlformats.org/officeDocument/2006/relationships/slide" Target="slides/slide10.xml"/><Relationship Id="rId38" Type="http://schemas.openxmlformats.org/officeDocument/2006/relationships/font" Target="fonts/RobotoMon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1a210705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81a210705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54fc08ba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54fc08ba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5421c05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5421c05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47fc6248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47fc6248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5421c050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5421c050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54fc08ba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54fc08ba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767b06055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767b06055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47fc6248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47fc6248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5421c050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5421c050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5421c050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5421c050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5421c050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5421c050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5421c050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5421c050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54fc08ba2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54fc08ba2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54fc08ba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54fc08ba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5421c050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5421c050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5421c050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5421c050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5421c0504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5421c050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5421c050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5421c050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5421c050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5421c050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5421c050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5421c050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5421c0504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5421c0504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47fc6248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47fc6248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Claro Perú</a:t>
            </a:r>
            <a:endParaRPr/>
          </a:p>
        </p:txBody>
      </p:sp>
      <p:sp>
        <p:nvSpPr>
          <p:cNvPr id="63" name="Google Shape;63;p13"/>
          <p:cNvSpPr txBox="1"/>
          <p:nvPr>
            <p:ph idx="1" type="subTitle"/>
          </p:nvPr>
        </p:nvSpPr>
        <p:spPr>
          <a:xfrm>
            <a:off x="0" y="3494000"/>
            <a:ext cx="3747300" cy="126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Integrantes</a:t>
            </a:r>
            <a:endParaRPr/>
          </a:p>
        </p:txBody>
      </p:sp>
      <p:sp>
        <p:nvSpPr>
          <p:cNvPr id="64" name="Google Shape;64;p13"/>
          <p:cNvSpPr txBox="1"/>
          <p:nvPr>
            <p:ph idx="1" type="subTitle"/>
          </p:nvPr>
        </p:nvSpPr>
        <p:spPr>
          <a:xfrm>
            <a:off x="4119450" y="3494000"/>
            <a:ext cx="4498800" cy="12606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s-419" sz="2000"/>
              <a:t>Callupe Pardo Yoselyn Patricia</a:t>
            </a:r>
            <a:endParaRPr sz="2000"/>
          </a:p>
          <a:p>
            <a:pPr indent="-355600" lvl="0" marL="457200" rtl="0" algn="l">
              <a:spcBef>
                <a:spcPts val="0"/>
              </a:spcBef>
              <a:spcAft>
                <a:spcPts val="0"/>
              </a:spcAft>
              <a:buSzPts val="2000"/>
              <a:buChar char="➔"/>
            </a:pPr>
            <a:r>
              <a:rPr lang="es-419" sz="2000"/>
              <a:t>Garro Oré Willian Jesús</a:t>
            </a:r>
            <a:endParaRPr sz="2000"/>
          </a:p>
          <a:p>
            <a:pPr indent="-355600" lvl="0" marL="457200" rtl="0" algn="l">
              <a:spcBef>
                <a:spcPts val="0"/>
              </a:spcBef>
              <a:spcAft>
                <a:spcPts val="0"/>
              </a:spcAft>
              <a:buSzPts val="2000"/>
              <a:buChar char="➔"/>
            </a:pPr>
            <a:r>
              <a:rPr lang="es-419" sz="2000"/>
              <a:t>Nuñez</a:t>
            </a:r>
            <a:r>
              <a:rPr lang="es-419" sz="2000"/>
              <a:t>-</a:t>
            </a:r>
            <a:r>
              <a:rPr lang="es-419" sz="2000"/>
              <a:t>Poma</a:t>
            </a:r>
            <a:r>
              <a:rPr lang="es-419" sz="2000"/>
              <a:t>-</a:t>
            </a:r>
            <a:r>
              <a:rPr lang="es-419" sz="2000"/>
              <a:t>Robert Gianpierro Jesus</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Justificación del uso de la Nube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2.1. </a:t>
            </a:r>
            <a:r>
              <a:rPr lang="es-419"/>
              <a:t>Naturaleza del Problema de </a:t>
            </a:r>
            <a:r>
              <a:rPr lang="es-419">
                <a:solidFill>
                  <a:schemeClr val="dk1"/>
                </a:solidFill>
              </a:rPr>
              <a:t>Negocio y Estrategia Híbrida</a:t>
            </a:r>
            <a:endParaRPr>
              <a:solidFill>
                <a:schemeClr val="dk1"/>
              </a:solidFill>
            </a:endParaRPr>
          </a:p>
        </p:txBody>
      </p:sp>
      <p:sp>
        <p:nvSpPr>
          <p:cNvPr id="75" name="Google Shape;75;p15"/>
          <p:cNvSpPr txBox="1"/>
          <p:nvPr/>
        </p:nvSpPr>
        <p:spPr>
          <a:xfrm>
            <a:off x="4640400" y="880200"/>
            <a:ext cx="3989400" cy="33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solidFill>
                  <a:srgbClr val="188038"/>
                </a:solidFill>
              </a:rPr>
              <a:t>3. La Solución:</a:t>
            </a:r>
            <a:r>
              <a:rPr b="1" lang="es-419" sz="1100"/>
              <a:t> Arquitectura Cloud Híbrida / Multi-cloud</a:t>
            </a:r>
            <a:endParaRPr b="1" sz="1100"/>
          </a:p>
          <a:p>
            <a:pPr indent="-298450" lvl="0" marL="457200" rtl="0" algn="l">
              <a:lnSpc>
                <a:spcPct val="115000"/>
              </a:lnSpc>
              <a:spcBef>
                <a:spcPts val="1200"/>
              </a:spcBef>
              <a:spcAft>
                <a:spcPts val="0"/>
              </a:spcAft>
              <a:buSzPts val="1100"/>
              <a:buChar char="●"/>
            </a:pPr>
            <a:r>
              <a:rPr b="1" lang="es-419" sz="1100"/>
              <a:t>Backend (Ingeniería de Datos):</a:t>
            </a:r>
            <a:endParaRPr b="1" sz="1100"/>
          </a:p>
          <a:p>
            <a:pPr indent="-298450" lvl="1" marL="914400" rtl="0" algn="l">
              <a:lnSpc>
                <a:spcPct val="115000"/>
              </a:lnSpc>
              <a:spcBef>
                <a:spcPts val="0"/>
              </a:spcBef>
              <a:spcAft>
                <a:spcPts val="0"/>
              </a:spcAft>
              <a:buSzPts val="1100"/>
              <a:buChar char="○"/>
            </a:pPr>
            <a:r>
              <a:rPr lang="es-419" sz="1100"/>
              <a:t>Se utiliza la nube (GCP) de forma elástica y </a:t>
            </a:r>
            <a:r>
              <a:rPr i="1" lang="es-419" sz="1100"/>
              <a:t>Serverless</a:t>
            </a:r>
            <a:r>
              <a:rPr lang="es-419" sz="1100"/>
              <a:t>.</a:t>
            </a:r>
            <a:endParaRPr sz="1100"/>
          </a:p>
          <a:p>
            <a:pPr indent="-298450" lvl="1" marL="914400" rtl="0" algn="l">
              <a:lnSpc>
                <a:spcPct val="115000"/>
              </a:lnSpc>
              <a:spcBef>
                <a:spcPts val="1000"/>
              </a:spcBef>
              <a:spcAft>
                <a:spcPts val="0"/>
              </a:spcAft>
              <a:buSzPts val="1100"/>
              <a:buChar char="○"/>
            </a:pPr>
            <a:r>
              <a:rPr b="1" lang="es-419" sz="1100"/>
              <a:t>Beneficio:</a:t>
            </a:r>
            <a:r>
              <a:rPr lang="es-419" sz="1100"/>
              <a:t> Se paga solo por el uso puntual (la hora de procesamiento), eliminando el costo ocioso.</a:t>
            </a:r>
            <a:endParaRPr sz="1100"/>
          </a:p>
          <a:p>
            <a:pPr indent="-298450" lvl="0" marL="457200" rtl="0" algn="l">
              <a:lnSpc>
                <a:spcPct val="115000"/>
              </a:lnSpc>
              <a:spcBef>
                <a:spcPts val="1000"/>
              </a:spcBef>
              <a:spcAft>
                <a:spcPts val="0"/>
              </a:spcAft>
              <a:buSzPts val="1100"/>
              <a:buChar char="●"/>
            </a:pPr>
            <a:r>
              <a:rPr b="1" lang="es-419" sz="1100"/>
              <a:t>Frontend (Visualización):</a:t>
            </a:r>
            <a:endParaRPr b="1" sz="1100"/>
          </a:p>
          <a:p>
            <a:pPr indent="-298450" lvl="1" marL="914400" rtl="0" algn="l">
              <a:lnSpc>
                <a:spcPct val="115000"/>
              </a:lnSpc>
              <a:spcBef>
                <a:spcPts val="1000"/>
              </a:spcBef>
              <a:spcAft>
                <a:spcPts val="0"/>
              </a:spcAft>
              <a:buSzPts val="1100"/>
              <a:buChar char="○"/>
            </a:pPr>
            <a:r>
              <a:rPr lang="es-419" sz="1100"/>
              <a:t>Se desacopla la capa de presentación.</a:t>
            </a:r>
            <a:endParaRPr sz="1100"/>
          </a:p>
          <a:p>
            <a:pPr indent="-298450" lvl="1" marL="914400" rtl="0" algn="l">
              <a:lnSpc>
                <a:spcPct val="115000"/>
              </a:lnSpc>
              <a:spcBef>
                <a:spcPts val="1200"/>
              </a:spcBef>
              <a:spcAft>
                <a:spcPts val="1000"/>
              </a:spcAft>
              <a:buSzPts val="1100"/>
              <a:buChar char="○"/>
            </a:pPr>
            <a:r>
              <a:rPr b="1" lang="es-419" sz="1100"/>
              <a:t>Beneficio:</a:t>
            </a:r>
            <a:r>
              <a:rPr lang="es-419" sz="1100"/>
              <a:t> Se utiliza la herramienta estándar del mercado (Power BI), conectándola eficientemente al almacén de datos en la nube.</a:t>
            </a:r>
            <a:endParaRPr b="1" sz="1100"/>
          </a:p>
        </p:txBody>
      </p:sp>
      <p:sp>
        <p:nvSpPr>
          <p:cNvPr id="76" name="Google Shape;76;p15"/>
          <p:cNvSpPr txBox="1"/>
          <p:nvPr/>
        </p:nvSpPr>
        <p:spPr>
          <a:xfrm>
            <a:off x="390850" y="969925"/>
            <a:ext cx="3989400" cy="2850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solidFill>
                  <a:srgbClr val="A61C00"/>
                </a:solidFill>
              </a:rPr>
              <a:t>1. Naturaleza del Problema: </a:t>
            </a:r>
            <a:r>
              <a:rPr b="1" lang="es-419" sz="1100"/>
              <a:t>Carga de Trabajo D-1 (Batch)</a:t>
            </a:r>
            <a:endParaRPr b="1" sz="1100"/>
          </a:p>
          <a:p>
            <a:pPr indent="-298450" lvl="0" marL="457200" rtl="0" algn="l">
              <a:lnSpc>
                <a:spcPct val="115000"/>
              </a:lnSpc>
              <a:spcBef>
                <a:spcPts val="1200"/>
              </a:spcBef>
              <a:spcAft>
                <a:spcPts val="0"/>
              </a:spcAft>
              <a:buSzPts val="1100"/>
              <a:buChar char="●"/>
            </a:pPr>
            <a:r>
              <a:rPr lang="es-419" sz="1100"/>
              <a:t>El requerimiento es un proceso </a:t>
            </a:r>
            <a:r>
              <a:rPr b="1" lang="es-419" sz="1100"/>
              <a:t>intermitente</a:t>
            </a:r>
            <a:r>
              <a:rPr lang="es-419" sz="1100"/>
              <a:t>:</a:t>
            </a:r>
            <a:endParaRPr sz="1100"/>
          </a:p>
          <a:p>
            <a:pPr indent="-298450" lvl="1" marL="914400" rtl="0" algn="l">
              <a:lnSpc>
                <a:spcPct val="115000"/>
              </a:lnSpc>
              <a:spcBef>
                <a:spcPts val="1000"/>
              </a:spcBef>
              <a:spcAft>
                <a:spcPts val="0"/>
              </a:spcAft>
              <a:buSzPts val="1100"/>
              <a:buChar char="○"/>
            </a:pPr>
            <a:r>
              <a:rPr b="1" lang="es-419" sz="1100"/>
              <a:t>Procesamiento Intensivo:</a:t>
            </a:r>
            <a:r>
              <a:rPr lang="es-419" sz="1100"/>
              <a:t> 1 hora diaria (madrugada).</a:t>
            </a:r>
            <a:endParaRPr sz="1100"/>
          </a:p>
          <a:p>
            <a:pPr indent="-298450" lvl="1" marL="914400" rtl="0" algn="l">
              <a:lnSpc>
                <a:spcPct val="115000"/>
              </a:lnSpc>
              <a:spcBef>
                <a:spcPts val="1200"/>
              </a:spcBef>
              <a:spcAft>
                <a:spcPts val="0"/>
              </a:spcAft>
              <a:buSzPts val="1100"/>
              <a:buChar char="○"/>
            </a:pPr>
            <a:r>
              <a:rPr b="1" lang="es-419" sz="1100"/>
              <a:t>Inactividad (ETL):</a:t>
            </a:r>
            <a:r>
              <a:rPr lang="es-419" sz="1100"/>
              <a:t> 23 horas, pero con alta demanda de lectura (consultas).</a:t>
            </a:r>
            <a:endParaRPr sz="1100"/>
          </a:p>
          <a:p>
            <a:pPr indent="0" lvl="0" marL="0" rtl="0" algn="l">
              <a:lnSpc>
                <a:spcPct val="115000"/>
              </a:lnSpc>
              <a:spcBef>
                <a:spcPts val="1200"/>
              </a:spcBef>
              <a:spcAft>
                <a:spcPts val="0"/>
              </a:spcAft>
              <a:buNone/>
            </a:pPr>
            <a:r>
              <a:rPr b="1" lang="es-419" sz="1100">
                <a:solidFill>
                  <a:srgbClr val="1155CC"/>
                </a:solidFill>
              </a:rPr>
              <a:t>2. ¿Por qué no On-Premise?</a:t>
            </a:r>
            <a:endParaRPr b="1" sz="1100">
              <a:solidFill>
                <a:srgbClr val="1155CC"/>
              </a:solidFill>
            </a:endParaRPr>
          </a:p>
          <a:p>
            <a:pPr indent="-298450" lvl="0" marL="457200" rtl="0" algn="l">
              <a:lnSpc>
                <a:spcPct val="115000"/>
              </a:lnSpc>
              <a:spcBef>
                <a:spcPts val="1200"/>
              </a:spcBef>
              <a:spcAft>
                <a:spcPts val="0"/>
              </a:spcAft>
              <a:buSzPts val="1100"/>
              <a:buChar char="●"/>
            </a:pPr>
            <a:r>
              <a:rPr lang="es-419" sz="1100"/>
              <a:t>Se descarta una solución </a:t>
            </a:r>
            <a:r>
              <a:rPr i="1" lang="es-419" sz="1100"/>
              <a:t>On-Premise</a:t>
            </a:r>
            <a:r>
              <a:rPr lang="es-419" sz="1100"/>
              <a:t> debido al alto </a:t>
            </a:r>
            <a:r>
              <a:rPr b="1" lang="es-419" sz="1100"/>
              <a:t>costo de capacidad ociosa</a:t>
            </a:r>
            <a:r>
              <a:rPr lang="es-419" sz="1100"/>
              <a:t> (se pagaría por las 23 horas de inactividad del servidor).</a:t>
            </a:r>
            <a:endParaRPr b="1"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graphicFrame>
        <p:nvGraphicFramePr>
          <p:cNvPr id="81" name="Google Shape;81;p16"/>
          <p:cNvGraphicFramePr/>
          <p:nvPr/>
        </p:nvGraphicFramePr>
        <p:xfrm>
          <a:off x="176375" y="935338"/>
          <a:ext cx="3000000" cy="3000000"/>
        </p:xfrm>
        <a:graphic>
          <a:graphicData uri="http://schemas.openxmlformats.org/drawingml/2006/table">
            <a:tbl>
              <a:tblPr bandRow="1">
                <a:noFill/>
                <a:tableStyleId>{9F093388-B851-485A-8EE1-4ADC80420260}</a:tableStyleId>
              </a:tblPr>
              <a:tblGrid>
                <a:gridCol w="1165725"/>
                <a:gridCol w="1147150"/>
                <a:gridCol w="2086050"/>
                <a:gridCol w="2347900"/>
                <a:gridCol w="2044400"/>
              </a:tblGrid>
              <a:tr h="635775">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Característica</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D966"/>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Criterio de Evaluación</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D966"/>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Google Cloud (GCP)</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CFE2F3"/>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Amazon Web Services (AWS)</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4CCCC"/>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Microsoft Azure</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B6D7A8"/>
                    </a:solidFill>
                  </a:tcPr>
                </a:tc>
              </a:tr>
              <a:tr h="108635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1. Data Warehouse (DW)</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Arquitectura y Conectividad Externa.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BigQuery:</a:t>
                      </a:r>
                      <a:r>
                        <a:rPr lang="es-419" sz="1000">
                          <a:solidFill>
                            <a:srgbClr val="1B1C1D"/>
                          </a:solidFill>
                          <a:latin typeface="Times New Roman"/>
                          <a:ea typeface="Times New Roman"/>
                          <a:cs typeface="Times New Roman"/>
                          <a:sym typeface="Times New Roman"/>
                        </a:rPr>
                        <a:t> Arquitectura </a:t>
                      </a:r>
                      <a:r>
                        <a:rPr i="1" lang="es-419" sz="1000">
                          <a:solidFill>
                            <a:srgbClr val="1B1C1D"/>
                          </a:solidFill>
                          <a:latin typeface="Times New Roman"/>
                          <a:ea typeface="Times New Roman"/>
                          <a:cs typeface="Times New Roman"/>
                          <a:sym typeface="Times New Roman"/>
                        </a:rPr>
                        <a:t>Serverless</a:t>
                      </a:r>
                      <a:r>
                        <a:rPr lang="es-419" sz="1000">
                          <a:solidFill>
                            <a:srgbClr val="1B1C1D"/>
                          </a:solidFill>
                          <a:latin typeface="Times New Roman"/>
                          <a:ea typeface="Times New Roman"/>
                          <a:cs typeface="Times New Roman"/>
                          <a:sym typeface="Times New Roman"/>
                        </a:rPr>
                        <a:t>. Destaca por sus conectores nativos de alto rendimiento para Power BI (DirectQuery), permitiendo análisis sin mover la data.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Redshift:</a:t>
                      </a:r>
                      <a:r>
                        <a:rPr lang="es-419" sz="1000">
                          <a:solidFill>
                            <a:srgbClr val="1B1C1D"/>
                          </a:solidFill>
                          <a:latin typeface="Times New Roman"/>
                          <a:ea typeface="Times New Roman"/>
                          <a:cs typeface="Times New Roman"/>
                          <a:sym typeface="Times New Roman"/>
                        </a:rPr>
                        <a:t> Potente, pero su gestión de clústeres es más compleja. La conexión con Power BI es buena pero a veces requiere gateways intermedios para rendimiento óptimo.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Synapse Analytics:</a:t>
                      </a:r>
                      <a:r>
                        <a:rPr lang="es-419" sz="1000">
                          <a:solidFill>
                            <a:srgbClr val="1B1C1D"/>
                          </a:solidFill>
                          <a:latin typeface="Times New Roman"/>
                          <a:ea typeface="Times New Roman"/>
                          <a:cs typeface="Times New Roman"/>
                          <a:sym typeface="Times New Roman"/>
                        </a:rPr>
                        <a:t> Integración nativa perfecta con Power BI, pero suele ser más costoso para cargas de trabajo pequeñas o intermitentes.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105580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2. Motor ETL (Spark)</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Velocidad para Jobs Batch Cortos.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Dataproc:</a:t>
                      </a:r>
                      <a:r>
                        <a:rPr lang="es-419" sz="1000">
                          <a:solidFill>
                            <a:srgbClr val="1B1C1D"/>
                          </a:solidFill>
                          <a:latin typeface="Times New Roman"/>
                          <a:ea typeface="Times New Roman"/>
                          <a:cs typeface="Times New Roman"/>
                          <a:sym typeface="Times New Roman"/>
                        </a:rPr>
                        <a:t> Tiempos de inicio de clúster ultra-rápidos (90 seg), ideal para jobs efímeros de 1 hora.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EMR:</a:t>
                      </a:r>
                      <a:r>
                        <a:rPr lang="es-419" sz="1000">
                          <a:solidFill>
                            <a:srgbClr val="1B1C1D"/>
                          </a:solidFill>
                          <a:latin typeface="Times New Roman"/>
                          <a:ea typeface="Times New Roman"/>
                          <a:cs typeface="Times New Roman"/>
                          <a:sym typeface="Times New Roman"/>
                        </a:rPr>
                        <a:t> Líder en funcionalidad, pero el </a:t>
                      </a:r>
                      <a:r>
                        <a:rPr i="1" lang="es-419" sz="1000">
                          <a:solidFill>
                            <a:srgbClr val="1B1C1D"/>
                          </a:solidFill>
                          <a:latin typeface="Times New Roman"/>
                          <a:ea typeface="Times New Roman"/>
                          <a:cs typeface="Times New Roman"/>
                          <a:sym typeface="Times New Roman"/>
                        </a:rPr>
                        <a:t>overhead</a:t>
                      </a:r>
                      <a:r>
                        <a:rPr lang="es-419" sz="1000">
                          <a:solidFill>
                            <a:srgbClr val="1B1C1D"/>
                          </a:solidFill>
                          <a:latin typeface="Times New Roman"/>
                          <a:ea typeface="Times New Roman"/>
                          <a:cs typeface="Times New Roman"/>
                          <a:sym typeface="Times New Roman"/>
                        </a:rPr>
                        <a:t> de inicio y configuración es mayor, lo que puede costar más tiempo que el propio procesamiento D-1.</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Databricks / HDInsight:</a:t>
                      </a:r>
                      <a:r>
                        <a:rPr lang="es-419" sz="1000">
                          <a:solidFill>
                            <a:srgbClr val="1B1C1D"/>
                          </a:solidFill>
                          <a:latin typeface="Times New Roman"/>
                          <a:ea typeface="Times New Roman"/>
                          <a:cs typeface="Times New Roman"/>
                          <a:sym typeface="Times New Roman"/>
                        </a:rPr>
                        <a:t> Excelentes capacidades, pero Databricks tiene un modelo de costos premium y HDInsight es más rígido en configuración.</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101055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3. Ecosistema de BI (Nativo vs. Mercado)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Capacidad de Visualización y Modelado.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Looker Studio:</a:t>
                      </a:r>
                      <a:r>
                        <a:rPr lang="es-419" sz="1000">
                          <a:solidFill>
                            <a:srgbClr val="1B1C1D"/>
                          </a:solidFill>
                          <a:latin typeface="Times New Roman"/>
                          <a:ea typeface="Times New Roman"/>
                          <a:cs typeface="Times New Roman"/>
                          <a:sym typeface="Times New Roman"/>
                        </a:rPr>
                        <a:t> Gratuito y web, pero limitado en modelado de datos complejo (DAX) y gobernanza corporativa.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QuickSight:</a:t>
                      </a:r>
                      <a:r>
                        <a:rPr lang="es-419" sz="1000">
                          <a:solidFill>
                            <a:srgbClr val="1B1C1D"/>
                          </a:solidFill>
                          <a:latin typeface="Times New Roman"/>
                          <a:ea typeface="Times New Roman"/>
                          <a:cs typeface="Times New Roman"/>
                          <a:sym typeface="Times New Roman"/>
                        </a:rPr>
                        <a:t> Modelo de pago por sesión. Menor adopción en el mercado y capacidades de modelado inferiores a Power BI.</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Power BI:</a:t>
                      </a:r>
                      <a:r>
                        <a:rPr lang="es-419" sz="1000">
                          <a:solidFill>
                            <a:srgbClr val="1B1C1D"/>
                          </a:solidFill>
                          <a:latin typeface="Times New Roman"/>
                          <a:ea typeface="Times New Roman"/>
                          <a:cs typeface="Times New Roman"/>
                          <a:sym typeface="Times New Roman"/>
                        </a:rPr>
                        <a:t> Líder indiscutible (Gartner). Potente motor de modelado, seguridad a nivel de fila (RLS) y estándar en la mayoría de empresas.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bl>
          </a:graphicData>
        </a:graphic>
      </p:graphicFrame>
      <p:sp>
        <p:nvSpPr>
          <p:cNvPr id="82" name="Google Shape;82;p16"/>
          <p:cNvSpPr txBox="1"/>
          <p:nvPr>
            <p:ph type="title"/>
          </p:nvPr>
        </p:nvSpPr>
        <p:spPr>
          <a:xfrm>
            <a:off x="311700" y="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2.2. </a:t>
            </a:r>
            <a:r>
              <a:rPr lang="es-419"/>
              <a:t>Análisis Comparativo de </a:t>
            </a:r>
            <a:r>
              <a:rPr lang="es-419">
                <a:solidFill>
                  <a:schemeClr val="dk1"/>
                </a:solidFill>
              </a:rPr>
              <a:t>Proveedores de Nube y Ecosistemas</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graphicFrame>
        <p:nvGraphicFramePr>
          <p:cNvPr id="87" name="Google Shape;87;p17"/>
          <p:cNvGraphicFramePr/>
          <p:nvPr/>
        </p:nvGraphicFramePr>
        <p:xfrm>
          <a:off x="175750" y="692650"/>
          <a:ext cx="3000000" cy="3000000"/>
        </p:xfrm>
        <a:graphic>
          <a:graphicData uri="http://schemas.openxmlformats.org/drawingml/2006/table">
            <a:tbl>
              <a:tblPr bandRow="1">
                <a:noFill/>
                <a:tableStyleId>{9F093388-B851-485A-8EE1-4ADC80420260}</a:tableStyleId>
              </a:tblPr>
              <a:tblGrid>
                <a:gridCol w="1256325"/>
                <a:gridCol w="1056900"/>
                <a:gridCol w="2210700"/>
                <a:gridCol w="2223875"/>
                <a:gridCol w="2044700"/>
              </a:tblGrid>
              <a:tr h="12700">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Característica</a:t>
                      </a:r>
                      <a:endParaRPr b="1"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D966"/>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Criterio de Evaluación</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D966"/>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Google Cloud (GCP)</a:t>
                      </a:r>
                      <a:endParaRPr b="1"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CFE2F3"/>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Amazon Web Services (AWS)</a:t>
                      </a:r>
                      <a:endParaRPr b="1"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4CCCC"/>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Microsoft Azure</a:t>
                      </a:r>
                      <a:endParaRPr b="1"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B6D7A8"/>
                    </a:solidFill>
                  </a:tcPr>
                </a:tc>
              </a:tr>
              <a:tr h="1270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4. Pricing (Costos)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Flexibilidad y Descuentos.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Facturación por segundo. Ofrece </a:t>
                      </a:r>
                      <a:r>
                        <a:rPr b="1" lang="es-419" sz="1000">
                          <a:solidFill>
                            <a:srgbClr val="1B1C1D"/>
                          </a:solidFill>
                          <a:latin typeface="Times New Roman"/>
                          <a:ea typeface="Times New Roman"/>
                          <a:cs typeface="Times New Roman"/>
                          <a:sym typeface="Times New Roman"/>
                        </a:rPr>
                        <a:t>Spot VMs</a:t>
                      </a:r>
                      <a:r>
                        <a:rPr lang="es-419" sz="1000">
                          <a:solidFill>
                            <a:srgbClr val="1B1C1D"/>
                          </a:solidFill>
                          <a:latin typeface="Times New Roman"/>
                          <a:ea typeface="Times New Roman"/>
                          <a:cs typeface="Times New Roman"/>
                          <a:sym typeface="Times New Roman"/>
                        </a:rPr>
                        <a:t> (Preemptibles) muy agresivas en precio (hasta 80% dscto) fáciles de integrar en Dataproc.</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Facturación por segundo. Las instancias </a:t>
                      </a:r>
                      <a:r>
                        <a:rPr i="1" lang="es-419" sz="1000">
                          <a:solidFill>
                            <a:srgbClr val="1B1C1D"/>
                          </a:solidFill>
                          <a:latin typeface="Times New Roman"/>
                          <a:ea typeface="Times New Roman"/>
                          <a:cs typeface="Times New Roman"/>
                          <a:sym typeface="Times New Roman"/>
                        </a:rPr>
                        <a:t>Spot</a:t>
                      </a:r>
                      <a:r>
                        <a:rPr lang="es-419" sz="1000">
                          <a:solidFill>
                            <a:srgbClr val="1B1C1D"/>
                          </a:solidFill>
                          <a:latin typeface="Times New Roman"/>
                          <a:ea typeface="Times New Roman"/>
                          <a:cs typeface="Times New Roman"/>
                          <a:sym typeface="Times New Roman"/>
                        </a:rPr>
                        <a:t> existen pero su política de recuperación es más agresiva, pudiendo interrumpir el ETL con mayor frecuencia.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Facturación por minuto/segundo. Modelo de licencias complejo. Costos de cómputo suelen ser ligeramente más altos sin contratos Enterprise (EA).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1270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5. Interoperabilidad y Multi-cloud</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Facilidad para integrar herramientas externas.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Alta:</a:t>
                      </a:r>
                      <a:r>
                        <a:rPr lang="es-419" sz="1000">
                          <a:solidFill>
                            <a:srgbClr val="1B1C1D"/>
                          </a:solidFill>
                          <a:latin typeface="Times New Roman"/>
                          <a:ea typeface="Times New Roman"/>
                          <a:cs typeface="Times New Roman"/>
                          <a:sym typeface="Times New Roman"/>
                        </a:rPr>
                        <a:t> GCP promueve una estrategia abierta. BigQuery permite lecturas externas y tiene APIs optimizadas (Storage API) para que herramientas como Power BI lean grandes volúmenes rápido.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Media:</a:t>
                      </a:r>
                      <a:r>
                        <a:rPr lang="es-419" sz="1000">
                          <a:solidFill>
                            <a:srgbClr val="1B1C1D"/>
                          </a:solidFill>
                          <a:latin typeface="Times New Roman"/>
                          <a:ea typeface="Times New Roman"/>
                          <a:cs typeface="Times New Roman"/>
                          <a:sym typeface="Times New Roman"/>
                        </a:rPr>
                        <a:t> AWS tiende a priorizar su propio ecosistema. Extraer datos masivos hacia herramientas externas puede incurrir en altos costos de </a:t>
                      </a:r>
                      <a:r>
                        <a:rPr i="1" lang="es-419" sz="1000">
                          <a:solidFill>
                            <a:srgbClr val="1B1C1D"/>
                          </a:solidFill>
                          <a:latin typeface="Times New Roman"/>
                          <a:ea typeface="Times New Roman"/>
                          <a:cs typeface="Times New Roman"/>
                          <a:sym typeface="Times New Roman"/>
                        </a:rPr>
                        <a:t>Egress</a:t>
                      </a:r>
                      <a:r>
                        <a:rPr lang="es-419" sz="1000">
                          <a:solidFill>
                            <a:srgbClr val="1B1C1D"/>
                          </a:solidFill>
                          <a:latin typeface="Times New Roman"/>
                          <a:ea typeface="Times New Roman"/>
                          <a:cs typeface="Times New Roman"/>
                          <a:sym typeface="Times New Roman"/>
                        </a:rPr>
                        <a:t>.</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Alta (Entorno Microsoft):</a:t>
                      </a:r>
                      <a:r>
                        <a:rPr lang="es-419" sz="1000">
                          <a:solidFill>
                            <a:srgbClr val="1B1C1D"/>
                          </a:solidFill>
                          <a:latin typeface="Times New Roman"/>
                          <a:ea typeface="Times New Roman"/>
                          <a:cs typeface="Times New Roman"/>
                          <a:sym typeface="Times New Roman"/>
                        </a:rPr>
                        <a:t> Diseñado para funcionar con Office 365, pero integrar servicios de datos externos (no Azure) a veces requiere configuración extra de redes.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6. Seguridad y Gobernanza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Control de acceso al dato.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IAM simplificado. BigQuery permite compartir datasets específicos con cuentas de servicio que Power BI puede utilizar de forma segura (autenticación OAuth2).</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IAM muy granular y potente, pero con una curva de aprendizaje alta para configurar accesos seguros desde aplicaciones externas.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Active Directory (Entra ID) es el estándar de oro, facilitando la gestión de usuarios de Power BI, pero añade complejidad si la data no está en Azure.</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2.3. </a:t>
            </a:r>
            <a:r>
              <a:rPr lang="es-419"/>
              <a:t>Selección de la Plataforma</a:t>
            </a:r>
            <a:r>
              <a:rPr lang="es-419">
                <a:solidFill>
                  <a:schemeClr val="dk1"/>
                </a:solidFill>
              </a:rPr>
              <a:t> y Alineación con Requerimientos</a:t>
            </a:r>
            <a:endParaRPr>
              <a:solidFill>
                <a:schemeClr val="dk1"/>
              </a:solidFill>
            </a:endParaRPr>
          </a:p>
        </p:txBody>
      </p:sp>
      <p:sp>
        <p:nvSpPr>
          <p:cNvPr id="93" name="Google Shape;93;p18"/>
          <p:cNvSpPr txBox="1"/>
          <p:nvPr/>
        </p:nvSpPr>
        <p:spPr>
          <a:xfrm>
            <a:off x="4516050" y="2631675"/>
            <a:ext cx="3989400" cy="160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2.  </a:t>
            </a:r>
            <a:r>
              <a:rPr b="1" lang="es-419" sz="1100"/>
              <a:t>Motor de Consulta (BigQuery):</a:t>
            </a:r>
            <a:endParaRPr b="1" sz="1100"/>
          </a:p>
          <a:p>
            <a:pPr indent="-298450" lvl="1" marL="914400" rtl="0" algn="l">
              <a:lnSpc>
                <a:spcPct val="115000"/>
              </a:lnSpc>
              <a:spcBef>
                <a:spcPts val="1000"/>
              </a:spcBef>
              <a:spcAft>
                <a:spcPts val="0"/>
              </a:spcAft>
              <a:buSzPts val="1100"/>
              <a:buChar char="○"/>
            </a:pPr>
            <a:r>
              <a:rPr lang="es-419" sz="1100"/>
              <a:t>Separa cómputo de almacenamiento (ahorro en almacenamiento).</a:t>
            </a:r>
            <a:endParaRPr sz="1100"/>
          </a:p>
          <a:p>
            <a:pPr indent="-298450" lvl="1" marL="914400" rtl="0" algn="l">
              <a:lnSpc>
                <a:spcPct val="115000"/>
              </a:lnSpc>
              <a:spcBef>
                <a:spcPts val="1200"/>
              </a:spcBef>
              <a:spcAft>
                <a:spcPts val="1000"/>
              </a:spcAft>
              <a:buSzPts val="1100"/>
              <a:buChar char="○"/>
            </a:pPr>
            <a:r>
              <a:rPr lang="es-419" sz="1100"/>
              <a:t>Power BI paga </a:t>
            </a:r>
            <a:r>
              <a:rPr b="1" lang="es-419" sz="1100"/>
              <a:t>solo por el cómputo de las consultas</a:t>
            </a:r>
            <a:r>
              <a:rPr lang="es-419" sz="1100"/>
              <a:t> que realiza, sin necesidad de un servidor de base de datos encendido 24/7.</a:t>
            </a:r>
            <a:endParaRPr b="1" sz="1100"/>
          </a:p>
        </p:txBody>
      </p:sp>
      <p:sp>
        <p:nvSpPr>
          <p:cNvPr id="94" name="Google Shape;94;p18"/>
          <p:cNvSpPr txBox="1"/>
          <p:nvPr/>
        </p:nvSpPr>
        <p:spPr>
          <a:xfrm>
            <a:off x="417725" y="2580375"/>
            <a:ext cx="3989400" cy="171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1.Procesamiento Efímero (Dataproc):</a:t>
            </a:r>
            <a:endParaRPr b="1" sz="1100"/>
          </a:p>
          <a:p>
            <a:pPr indent="-298450" lvl="0" marL="457200" rtl="0" algn="l">
              <a:lnSpc>
                <a:spcPct val="115000"/>
              </a:lnSpc>
              <a:spcBef>
                <a:spcPts val="1000"/>
              </a:spcBef>
              <a:spcAft>
                <a:spcPts val="0"/>
              </a:spcAft>
              <a:buSzPts val="1100"/>
              <a:buChar char="●"/>
            </a:pPr>
            <a:r>
              <a:rPr lang="es-419" sz="1100"/>
              <a:t>Perfecto para un ETL de 1 hora/día.</a:t>
            </a:r>
            <a:endParaRPr sz="1100"/>
          </a:p>
          <a:p>
            <a:pPr indent="-298450" lvl="0" marL="457200" rtl="0" algn="l">
              <a:lnSpc>
                <a:spcPct val="115000"/>
              </a:lnSpc>
              <a:spcBef>
                <a:spcPts val="1000"/>
              </a:spcBef>
              <a:spcAft>
                <a:spcPts val="0"/>
              </a:spcAft>
              <a:buSzPts val="1100"/>
              <a:buChar char="●"/>
            </a:pPr>
            <a:r>
              <a:rPr lang="es-419" sz="1100"/>
              <a:t>Los clústeres "efímeros" (con </a:t>
            </a:r>
            <a:r>
              <a:rPr lang="es-419" sz="1100">
                <a:solidFill>
                  <a:srgbClr val="188038"/>
                </a:solidFill>
                <a:latin typeface="Roboto Mono"/>
                <a:ea typeface="Roboto Mono"/>
                <a:cs typeface="Roboto Mono"/>
                <a:sym typeface="Roboto Mono"/>
              </a:rPr>
              <a:t>--max-idle</a:t>
            </a:r>
            <a:r>
              <a:rPr lang="es-419" sz="1100"/>
              <a:t>) se autodestruyen al terminar.</a:t>
            </a:r>
            <a:endParaRPr sz="1100"/>
          </a:p>
          <a:p>
            <a:pPr indent="-298450" lvl="0" marL="457200" rtl="0" algn="l">
              <a:lnSpc>
                <a:spcPct val="115000"/>
              </a:lnSpc>
              <a:spcBef>
                <a:spcPts val="1000"/>
              </a:spcBef>
              <a:spcAft>
                <a:spcPts val="1000"/>
              </a:spcAft>
              <a:buSzPts val="1100"/>
              <a:buChar char="●"/>
            </a:pPr>
            <a:r>
              <a:rPr lang="es-419" sz="1100"/>
              <a:t>Sus </a:t>
            </a:r>
            <a:r>
              <a:rPr b="1" lang="es-419" sz="1100"/>
              <a:t>Instancias Preemptibles (Spot)</a:t>
            </a:r>
            <a:r>
              <a:rPr lang="es-419" sz="1100"/>
              <a:t> son más estables y baratas para este caso.</a:t>
            </a:r>
            <a:endParaRPr sz="1100"/>
          </a:p>
        </p:txBody>
      </p:sp>
      <p:sp>
        <p:nvSpPr>
          <p:cNvPr id="95" name="Google Shape;95;p18"/>
          <p:cNvSpPr txBox="1"/>
          <p:nvPr/>
        </p:nvSpPr>
        <p:spPr>
          <a:xfrm>
            <a:off x="275100" y="733500"/>
            <a:ext cx="8373000" cy="70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Selección Final:</a:t>
            </a:r>
            <a:r>
              <a:rPr lang="es-419" sz="1100"/>
              <a:t> Se opta por una arquitectura híbrida.</a:t>
            </a:r>
            <a:endParaRPr sz="1100"/>
          </a:p>
          <a:p>
            <a:pPr indent="0" lvl="0" marL="0" rtl="0" algn="l">
              <a:lnSpc>
                <a:spcPct val="115000"/>
              </a:lnSpc>
              <a:spcBef>
                <a:spcPts val="1200"/>
              </a:spcBef>
              <a:spcAft>
                <a:spcPts val="1200"/>
              </a:spcAft>
              <a:buNone/>
            </a:pPr>
            <a:r>
              <a:rPr b="1" lang="es-419" sz="1100"/>
              <a:t>-&gt; Backend (Procesamiento/DWH):</a:t>
            </a:r>
            <a:r>
              <a:rPr lang="es-419" sz="1100"/>
              <a:t> Google Cloud Platform (GCP)               -&gt; </a:t>
            </a:r>
            <a:r>
              <a:rPr b="1" lang="es-419" sz="1100"/>
              <a:t>Frontend (Visualización):</a:t>
            </a:r>
            <a:r>
              <a:rPr lang="es-419" sz="1100"/>
              <a:t> Power BI</a:t>
            </a:r>
            <a:endParaRPr sz="1200">
              <a:highlight>
                <a:schemeClr val="lt1"/>
              </a:highlight>
              <a:latin typeface="Times New Roman"/>
              <a:ea typeface="Times New Roman"/>
              <a:cs typeface="Times New Roman"/>
              <a:sym typeface="Times New Roman"/>
            </a:endParaRPr>
          </a:p>
        </p:txBody>
      </p:sp>
      <p:sp>
        <p:nvSpPr>
          <p:cNvPr id="96" name="Google Shape;96;p18"/>
          <p:cNvSpPr txBox="1"/>
          <p:nvPr/>
        </p:nvSpPr>
        <p:spPr>
          <a:xfrm>
            <a:off x="417725" y="1642100"/>
            <a:ext cx="7577700" cy="70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¿Por Qué GCP para el Backend (Procesamiento D-1)?</a:t>
            </a:r>
            <a:endParaRPr b="1" sz="1100"/>
          </a:p>
          <a:p>
            <a:pPr indent="0" lvl="0" marL="0" rtl="0" algn="l">
              <a:lnSpc>
                <a:spcPct val="115000"/>
              </a:lnSpc>
              <a:spcBef>
                <a:spcPts val="1200"/>
              </a:spcBef>
              <a:spcAft>
                <a:spcPts val="1200"/>
              </a:spcAft>
              <a:buNone/>
            </a:pPr>
            <a:r>
              <a:rPr lang="es-419" sz="1100"/>
              <a:t>Se eligió GCP sobre Azure por ser más costo-eficiente para esta carga de trabajo:</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2.3. Selección de la Plataforma</a:t>
            </a:r>
            <a:r>
              <a:rPr lang="es-419">
                <a:solidFill>
                  <a:schemeClr val="dk1"/>
                </a:solidFill>
              </a:rPr>
              <a:t> y Alineación con Requerimientos</a:t>
            </a:r>
            <a:endParaRPr>
              <a:solidFill>
                <a:schemeClr val="dk1"/>
              </a:solidFill>
            </a:endParaRPr>
          </a:p>
        </p:txBody>
      </p:sp>
      <p:sp>
        <p:nvSpPr>
          <p:cNvPr id="102" name="Google Shape;102;p19"/>
          <p:cNvSpPr txBox="1"/>
          <p:nvPr/>
        </p:nvSpPr>
        <p:spPr>
          <a:xfrm>
            <a:off x="311700" y="1027400"/>
            <a:ext cx="4661100" cy="3665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¿Por Qué Power BI para el Frontend (Sobre Looker Studio)?</a:t>
            </a:r>
            <a:endParaRPr b="1" sz="1100"/>
          </a:p>
          <a:p>
            <a:pPr indent="0" lvl="0" marL="0" rtl="0" algn="l">
              <a:lnSpc>
                <a:spcPct val="115000"/>
              </a:lnSpc>
              <a:spcBef>
                <a:spcPts val="1200"/>
              </a:spcBef>
              <a:spcAft>
                <a:spcPts val="0"/>
              </a:spcAft>
              <a:buNone/>
            </a:pPr>
            <a:r>
              <a:rPr lang="es-419" sz="1100"/>
              <a:t>Aunque Looker es gratuito, se eligió Power BI por requerimientos funcionales avanzados:</a:t>
            </a:r>
            <a:endParaRPr sz="1100"/>
          </a:p>
          <a:p>
            <a:pPr indent="-298450" lvl="0" marL="457200" rtl="0" algn="l">
              <a:lnSpc>
                <a:spcPct val="115000"/>
              </a:lnSpc>
              <a:spcBef>
                <a:spcPts val="1200"/>
              </a:spcBef>
              <a:spcAft>
                <a:spcPts val="0"/>
              </a:spcAft>
              <a:buSzPts val="1100"/>
              <a:buAutoNum type="arabicPeriod"/>
            </a:pPr>
            <a:r>
              <a:rPr b="1" lang="es-419" sz="1100"/>
              <a:t>Capacidad de Modelado (DAX):</a:t>
            </a:r>
            <a:endParaRPr b="1" sz="1100"/>
          </a:p>
          <a:p>
            <a:pPr indent="-298450" lvl="1" marL="914400" rtl="0" algn="l">
              <a:lnSpc>
                <a:spcPct val="115000"/>
              </a:lnSpc>
              <a:spcBef>
                <a:spcPts val="1000"/>
              </a:spcBef>
              <a:spcAft>
                <a:spcPts val="0"/>
              </a:spcAft>
              <a:buSzPts val="1100"/>
              <a:buChar char="○"/>
            </a:pPr>
            <a:r>
              <a:rPr lang="es-419" sz="1100"/>
              <a:t>El negocio requiere métricas complejas (ej. acumulados YTD, comparativas de tiempo).</a:t>
            </a:r>
            <a:endParaRPr sz="1100"/>
          </a:p>
          <a:p>
            <a:pPr indent="-298450" lvl="1" marL="914400" rtl="0" algn="l">
              <a:lnSpc>
                <a:spcPct val="115000"/>
              </a:lnSpc>
              <a:spcBef>
                <a:spcPts val="1000"/>
              </a:spcBef>
              <a:spcAft>
                <a:spcPts val="0"/>
              </a:spcAft>
              <a:buSzPts val="1100"/>
              <a:buChar char="○"/>
            </a:pPr>
            <a:r>
              <a:rPr lang="es-419" sz="1100"/>
              <a:t>Estas son nativas en </a:t>
            </a:r>
            <a:r>
              <a:rPr b="1" lang="es-419" sz="1100"/>
              <a:t>DAX</a:t>
            </a:r>
            <a:r>
              <a:rPr lang="es-419" sz="1100"/>
              <a:t>, pero muy difíciles de mantener en Looker Studio.</a:t>
            </a:r>
            <a:endParaRPr sz="1100"/>
          </a:p>
          <a:p>
            <a:pPr indent="-298450" lvl="0" marL="457200" rtl="0" algn="l">
              <a:lnSpc>
                <a:spcPct val="115000"/>
              </a:lnSpc>
              <a:spcBef>
                <a:spcPts val="1000"/>
              </a:spcBef>
              <a:spcAft>
                <a:spcPts val="0"/>
              </a:spcAft>
              <a:buSzPts val="1100"/>
              <a:buAutoNum type="arabicPeriod"/>
            </a:pPr>
            <a:r>
              <a:rPr b="1" lang="es-419" sz="1100"/>
              <a:t>Conectividad Optimizada (DirectQuery):</a:t>
            </a:r>
            <a:endParaRPr b="1" sz="1100"/>
          </a:p>
          <a:p>
            <a:pPr indent="-298450" lvl="1" marL="914400" rtl="0" algn="l">
              <a:lnSpc>
                <a:spcPct val="115000"/>
              </a:lnSpc>
              <a:spcBef>
                <a:spcPts val="1000"/>
              </a:spcBef>
              <a:spcAft>
                <a:spcPts val="0"/>
              </a:spcAft>
              <a:buSzPts val="1100"/>
              <a:buChar char="○"/>
            </a:pPr>
            <a:r>
              <a:rPr lang="es-419" sz="1100"/>
              <a:t>Power BI tiene un conector certificado para BigQuery.</a:t>
            </a:r>
            <a:endParaRPr sz="1100"/>
          </a:p>
          <a:p>
            <a:pPr indent="-298450" lvl="1" marL="914400" rtl="0" algn="l">
              <a:lnSpc>
                <a:spcPct val="115000"/>
              </a:lnSpc>
              <a:spcBef>
                <a:spcPts val="1200"/>
              </a:spcBef>
              <a:spcAft>
                <a:spcPts val="1000"/>
              </a:spcAft>
              <a:buSzPts val="1100"/>
              <a:buChar char="○"/>
            </a:pPr>
            <a:r>
              <a:rPr lang="es-419" sz="1100"/>
              <a:t>El modo </a:t>
            </a:r>
            <a:r>
              <a:rPr b="1" lang="es-419" sz="1100"/>
              <a:t>DirectQuery</a:t>
            </a:r>
            <a:r>
              <a:rPr lang="es-419" sz="1100"/>
              <a:t> no duplica los datos; consulta directamente a BigQuery, garantizando que el usuario siempre vea el dato "D-1" real</a:t>
            </a:r>
            <a:endParaRPr b="1" sz="1100"/>
          </a:p>
        </p:txBody>
      </p:sp>
      <p:sp>
        <p:nvSpPr>
          <p:cNvPr id="103" name="Google Shape;103;p19"/>
          <p:cNvSpPr txBox="1"/>
          <p:nvPr/>
        </p:nvSpPr>
        <p:spPr>
          <a:xfrm>
            <a:off x="5074525" y="3604800"/>
            <a:ext cx="3848700" cy="9381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s-419" sz="1100">
                <a:solidFill>
                  <a:schemeClr val="lt1"/>
                </a:solidFill>
              </a:rPr>
              <a:t>Conclusión:</a:t>
            </a:r>
            <a:r>
              <a:rPr lang="es-419" sz="1100">
                <a:solidFill>
                  <a:schemeClr val="lt1"/>
                </a:solidFill>
              </a:rPr>
              <a:t> Esta combinación optimiza el costo operativo (OPEX) con la infraestructura de GCP, y a la vez entrega la herramienta de análisis más potente (Power BI) para maximizar la calidad de los </a:t>
            </a:r>
            <a:r>
              <a:rPr i="1" lang="es-419" sz="1100">
                <a:solidFill>
                  <a:schemeClr val="lt1"/>
                </a:solidFill>
              </a:rPr>
              <a:t>insights</a:t>
            </a:r>
            <a:r>
              <a:rPr lang="es-419" sz="1100">
                <a:solidFill>
                  <a:schemeClr val="lt1"/>
                </a:solidFill>
              </a:rPr>
              <a:t>.</a:t>
            </a:r>
            <a:endParaRPr b="1" sz="1100">
              <a:solidFill>
                <a:schemeClr val="lt1"/>
              </a:solidFill>
            </a:endParaRPr>
          </a:p>
        </p:txBody>
      </p:sp>
      <p:pic>
        <p:nvPicPr>
          <p:cNvPr id="104" name="Google Shape;104;p19"/>
          <p:cNvPicPr preferRelativeResize="0"/>
          <p:nvPr/>
        </p:nvPicPr>
        <p:blipFill>
          <a:blip r:embed="rId3">
            <a:alphaModFix/>
          </a:blip>
          <a:stretch>
            <a:fillRect/>
          </a:stretch>
        </p:blipFill>
        <p:spPr>
          <a:xfrm>
            <a:off x="5941871" y="1193138"/>
            <a:ext cx="1602424" cy="2411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Selección de Servicios Cloud y Arquitectura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266475" y="10672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 </a:t>
            </a:r>
            <a:r>
              <a:rPr lang="es-419"/>
              <a:t>Arquitectura del </a:t>
            </a:r>
            <a:r>
              <a:rPr lang="es-419">
                <a:solidFill>
                  <a:schemeClr val="dk1"/>
                </a:solidFill>
              </a:rPr>
              <a:t>Pipeline</a:t>
            </a:r>
            <a:endParaRPr>
              <a:solidFill>
                <a:schemeClr val="dk1"/>
              </a:solidFill>
            </a:endParaRPr>
          </a:p>
        </p:txBody>
      </p:sp>
      <p:sp>
        <p:nvSpPr>
          <p:cNvPr id="115" name="Google Shape;115;p21"/>
          <p:cNvSpPr txBox="1"/>
          <p:nvPr/>
        </p:nvSpPr>
        <p:spPr>
          <a:xfrm>
            <a:off x="379525" y="931688"/>
            <a:ext cx="7854900" cy="12459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s-419" sz="1100"/>
              <a:t>El objetivo es realizar el procesamiento D-1 (Batch) con una arquitectura moderna y desacoplada.</a:t>
            </a:r>
            <a:endParaRPr sz="1100"/>
          </a:p>
          <a:p>
            <a:pPr indent="0" lvl="0" marL="0" rtl="0" algn="just">
              <a:lnSpc>
                <a:spcPct val="115000"/>
              </a:lnSpc>
              <a:spcBef>
                <a:spcPts val="1200"/>
              </a:spcBef>
              <a:spcAft>
                <a:spcPts val="0"/>
              </a:spcAft>
              <a:buNone/>
            </a:pPr>
            <a:r>
              <a:rPr b="1" lang="es-419" sz="1100"/>
              <a:t>Estrategia (Especialización):</a:t>
            </a:r>
            <a:r>
              <a:rPr lang="es-419" sz="1100"/>
              <a:t> Se opta por un modelo híbrido.</a:t>
            </a:r>
            <a:endParaRPr sz="1100"/>
          </a:p>
          <a:p>
            <a:pPr indent="-298450" lvl="0" marL="457200" rtl="0" algn="l">
              <a:lnSpc>
                <a:spcPct val="115000"/>
              </a:lnSpc>
              <a:spcBef>
                <a:spcPts val="1200"/>
              </a:spcBef>
              <a:spcAft>
                <a:spcPts val="0"/>
              </a:spcAft>
              <a:buSzPts val="1100"/>
              <a:buChar char="●"/>
            </a:pPr>
            <a:r>
              <a:rPr b="1" lang="es-419" sz="1100"/>
              <a:t>Backend (GCP):</a:t>
            </a:r>
            <a:r>
              <a:rPr lang="es-419" sz="1100"/>
              <a:t> Se usa Google Cloud para el procesamiento pesado y almacenamiento de datos.</a:t>
            </a:r>
            <a:endParaRPr sz="1100"/>
          </a:p>
          <a:p>
            <a:pPr indent="-298450" lvl="0" marL="457200" rtl="0" algn="l">
              <a:lnSpc>
                <a:spcPct val="115000"/>
              </a:lnSpc>
              <a:spcBef>
                <a:spcPts val="0"/>
              </a:spcBef>
              <a:spcAft>
                <a:spcPts val="0"/>
              </a:spcAft>
              <a:buSzPts val="1100"/>
              <a:buChar char="●"/>
            </a:pPr>
            <a:r>
              <a:rPr b="1" lang="es-419" sz="1100"/>
              <a:t>Frontend (Microsoft):</a:t>
            </a:r>
            <a:r>
              <a:rPr lang="es-419" sz="1100"/>
              <a:t> Se usa Power BI para la capa de inteligencia y visualización</a:t>
            </a:r>
            <a:endParaRPr sz="1100"/>
          </a:p>
        </p:txBody>
      </p:sp>
      <p:pic>
        <p:nvPicPr>
          <p:cNvPr id="116" name="Google Shape;116;p21" title="Diagrama en blanco - Página 1 (3).png"/>
          <p:cNvPicPr preferRelativeResize="0"/>
          <p:nvPr/>
        </p:nvPicPr>
        <p:blipFill>
          <a:blip r:embed="rId3">
            <a:alphaModFix/>
          </a:blip>
          <a:stretch>
            <a:fillRect/>
          </a:stretch>
        </p:blipFill>
        <p:spPr>
          <a:xfrm>
            <a:off x="152400" y="2329988"/>
            <a:ext cx="8839204" cy="26025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3.1. </a:t>
            </a:r>
            <a:r>
              <a:rPr lang="es-419"/>
              <a:t>Fase 1: </a:t>
            </a:r>
            <a:r>
              <a:rPr lang="es-419">
                <a:solidFill>
                  <a:schemeClr val="dk1"/>
                </a:solidFill>
              </a:rPr>
              <a:t>Ingesta y Data Lake</a:t>
            </a:r>
            <a:endParaRPr>
              <a:solidFill>
                <a:schemeClr val="dk1"/>
              </a:solidFill>
            </a:endParaRPr>
          </a:p>
        </p:txBody>
      </p:sp>
      <p:sp>
        <p:nvSpPr>
          <p:cNvPr id="122" name="Google Shape;122;p22"/>
          <p:cNvSpPr txBox="1"/>
          <p:nvPr/>
        </p:nvSpPr>
        <p:spPr>
          <a:xfrm>
            <a:off x="469975" y="1417275"/>
            <a:ext cx="3989400" cy="32295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100"/>
              <a:t>Servicio:</a:t>
            </a:r>
            <a:r>
              <a:rPr lang="es-419" sz="1100"/>
              <a:t> </a:t>
            </a:r>
            <a:r>
              <a:rPr b="1" lang="es-419" sz="1100"/>
              <a:t>Google Cloud Storage (GCS)</a:t>
            </a:r>
            <a:endParaRPr b="1" sz="1100"/>
          </a:p>
          <a:p>
            <a:pPr indent="0" lvl="0" marL="0" rtl="0" algn="just">
              <a:lnSpc>
                <a:spcPct val="115000"/>
              </a:lnSpc>
              <a:spcBef>
                <a:spcPts val="1000"/>
              </a:spcBef>
              <a:spcAft>
                <a:spcPts val="0"/>
              </a:spcAft>
              <a:buNone/>
            </a:pPr>
            <a:r>
              <a:rPr b="1" lang="es-419" sz="1100"/>
              <a:t>Función:</a:t>
            </a:r>
            <a:r>
              <a:rPr lang="es-419" sz="1100"/>
              <a:t> Actúa como el Data Lake: un repositorio económico y escalable para almacenar archivos planos antes de procesarlos.</a:t>
            </a:r>
            <a:endParaRPr sz="1100"/>
          </a:p>
          <a:p>
            <a:pPr indent="0" lvl="0" marL="0" rtl="0" algn="l">
              <a:lnSpc>
                <a:spcPct val="115000"/>
              </a:lnSpc>
              <a:spcBef>
                <a:spcPts val="1200"/>
              </a:spcBef>
              <a:spcAft>
                <a:spcPts val="0"/>
              </a:spcAft>
              <a:buNone/>
            </a:pPr>
            <a:r>
              <a:rPr b="1" lang="es-419" sz="1100"/>
              <a:t>Doble Rol en la Arquitectura:</a:t>
            </a:r>
            <a:endParaRPr b="1" sz="1100"/>
          </a:p>
          <a:p>
            <a:pPr indent="-298450" lvl="0" marL="457200" rtl="0" algn="l">
              <a:lnSpc>
                <a:spcPct val="115000"/>
              </a:lnSpc>
              <a:spcBef>
                <a:spcPts val="1200"/>
              </a:spcBef>
              <a:spcAft>
                <a:spcPts val="0"/>
              </a:spcAft>
              <a:buSzPts val="1100"/>
              <a:buChar char="●"/>
            </a:pPr>
            <a:r>
              <a:rPr b="1" lang="es-419" sz="1100"/>
              <a:t>Zona de Aterrizaje (Landing Zone):</a:t>
            </a:r>
            <a:r>
              <a:rPr lang="es-419" sz="1100"/>
              <a:t> Almacena el archivo crudo original (</a:t>
            </a:r>
            <a:r>
              <a:rPr lang="es-419" sz="1100">
                <a:solidFill>
                  <a:srgbClr val="188038"/>
                </a:solidFill>
                <a:latin typeface="Roboto Mono"/>
                <a:ea typeface="Roboto Mono"/>
                <a:cs typeface="Roboto Mono"/>
                <a:sym typeface="Roboto Mono"/>
              </a:rPr>
              <a:t>sot_historico.csv</a:t>
            </a:r>
            <a:r>
              <a:rPr lang="es-419" sz="1100"/>
              <a:t>) sin modificaciones.</a:t>
            </a:r>
            <a:endParaRPr sz="1100"/>
          </a:p>
          <a:p>
            <a:pPr indent="-298450" lvl="0" marL="457200" rtl="0" algn="l">
              <a:lnSpc>
                <a:spcPct val="115000"/>
              </a:lnSpc>
              <a:spcBef>
                <a:spcPts val="1200"/>
              </a:spcBef>
              <a:spcAft>
                <a:spcPts val="0"/>
              </a:spcAft>
              <a:buSzPts val="1100"/>
              <a:buChar char="●"/>
            </a:pPr>
            <a:r>
              <a:rPr b="1" lang="es-419" sz="1100"/>
              <a:t>Zona de Staging (Temporal):</a:t>
            </a:r>
            <a:r>
              <a:rPr lang="es-419" sz="1100"/>
              <a:t> Sirve como área de intercambio de archivos temporales entre Dataproc (ETL) y BigQuery (DWH).</a:t>
            </a:r>
            <a:endParaRPr sz="1100"/>
          </a:p>
          <a:p>
            <a:pPr indent="0" lvl="0" marL="0" rtl="0" algn="just">
              <a:lnSpc>
                <a:spcPct val="115000"/>
              </a:lnSpc>
              <a:spcBef>
                <a:spcPts val="1000"/>
              </a:spcBef>
              <a:spcAft>
                <a:spcPts val="0"/>
              </a:spcAft>
              <a:buNone/>
            </a:pPr>
            <a:r>
              <a:t/>
            </a:r>
            <a:endParaRPr b="1" sz="1200">
              <a:highlight>
                <a:schemeClr val="lt1"/>
              </a:highlight>
              <a:latin typeface="Times New Roman"/>
              <a:ea typeface="Times New Roman"/>
              <a:cs typeface="Times New Roman"/>
              <a:sym typeface="Times New Roman"/>
            </a:endParaRPr>
          </a:p>
        </p:txBody>
      </p:sp>
      <p:pic>
        <p:nvPicPr>
          <p:cNvPr id="123" name="Google Shape;123;p22"/>
          <p:cNvPicPr preferRelativeResize="0"/>
          <p:nvPr/>
        </p:nvPicPr>
        <p:blipFill>
          <a:blip r:embed="rId3">
            <a:alphaModFix/>
          </a:blip>
          <a:stretch>
            <a:fillRect/>
          </a:stretch>
        </p:blipFill>
        <p:spPr>
          <a:xfrm>
            <a:off x="4916975" y="1233950"/>
            <a:ext cx="3594100" cy="2675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3.2. Fase 2: </a:t>
            </a:r>
            <a:r>
              <a:rPr lang="es-419">
                <a:solidFill>
                  <a:schemeClr val="dk1"/>
                </a:solidFill>
              </a:rPr>
              <a:t>Procesamiento (ETL)</a:t>
            </a:r>
            <a:endParaRPr>
              <a:solidFill>
                <a:schemeClr val="dk1"/>
              </a:solidFill>
            </a:endParaRPr>
          </a:p>
        </p:txBody>
      </p:sp>
      <p:sp>
        <p:nvSpPr>
          <p:cNvPr id="129" name="Google Shape;129;p23"/>
          <p:cNvSpPr txBox="1"/>
          <p:nvPr/>
        </p:nvSpPr>
        <p:spPr>
          <a:xfrm>
            <a:off x="436050" y="1192425"/>
            <a:ext cx="4446900" cy="3819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Servicio:</a:t>
            </a:r>
            <a:r>
              <a:rPr lang="es-419" sz="1100"/>
              <a:t> </a:t>
            </a:r>
            <a:r>
              <a:rPr b="1" lang="es-419" sz="1100"/>
              <a:t>Google Cloud Dataproc</a:t>
            </a:r>
            <a:r>
              <a:rPr lang="es-419" sz="1100"/>
              <a:t> (con Apache Spark gestionado)</a:t>
            </a:r>
            <a:endParaRPr sz="1100"/>
          </a:p>
          <a:p>
            <a:pPr indent="0" lvl="0" marL="0" rtl="0" algn="l">
              <a:lnSpc>
                <a:spcPct val="115000"/>
              </a:lnSpc>
              <a:spcBef>
                <a:spcPts val="1200"/>
              </a:spcBef>
              <a:spcAft>
                <a:spcPts val="0"/>
              </a:spcAft>
              <a:buNone/>
            </a:pPr>
            <a:r>
              <a:rPr b="1" lang="es-419" sz="1100"/>
              <a:t>Función:</a:t>
            </a:r>
            <a:r>
              <a:rPr lang="es-419" sz="1100"/>
              <a:t> Es el "cerebro" operativo. Ejecuta el proceso ETL distribuido (PySpark) para manejar grandes volúmenes de datos.</a:t>
            </a:r>
            <a:endParaRPr sz="1100"/>
          </a:p>
          <a:p>
            <a:pPr indent="0" lvl="0" marL="0" rtl="0" algn="l">
              <a:lnSpc>
                <a:spcPct val="115000"/>
              </a:lnSpc>
              <a:spcBef>
                <a:spcPts val="1200"/>
              </a:spcBef>
              <a:spcAft>
                <a:spcPts val="0"/>
              </a:spcAft>
              <a:buNone/>
            </a:pPr>
            <a:r>
              <a:rPr b="1" lang="es-419" sz="1100"/>
              <a:t>Transformaciones Críticas:</a:t>
            </a:r>
            <a:endParaRPr b="1" sz="1100"/>
          </a:p>
          <a:p>
            <a:pPr indent="-298450" lvl="0" marL="457200" rtl="0" algn="l">
              <a:lnSpc>
                <a:spcPct val="115000"/>
              </a:lnSpc>
              <a:spcBef>
                <a:spcPts val="1200"/>
              </a:spcBef>
              <a:spcAft>
                <a:spcPts val="0"/>
              </a:spcAft>
              <a:buSzPts val="1100"/>
              <a:buChar char="●"/>
            </a:pPr>
            <a:r>
              <a:rPr b="1" lang="es-419" sz="1100"/>
              <a:t>Limpieza:</a:t>
            </a:r>
            <a:r>
              <a:rPr lang="es-419" sz="1100"/>
              <a:t> Filtrado de filas corruptas.</a:t>
            </a:r>
            <a:endParaRPr sz="1100"/>
          </a:p>
          <a:p>
            <a:pPr indent="-298450" lvl="0" marL="457200" rtl="0" algn="l">
              <a:lnSpc>
                <a:spcPct val="115000"/>
              </a:lnSpc>
              <a:spcBef>
                <a:spcPts val="1000"/>
              </a:spcBef>
              <a:spcAft>
                <a:spcPts val="0"/>
              </a:spcAft>
              <a:buSzPts val="1100"/>
              <a:buChar char="●"/>
            </a:pPr>
            <a:r>
              <a:rPr b="1" lang="es-419" sz="1100"/>
              <a:t>Normalización:</a:t>
            </a:r>
            <a:r>
              <a:rPr lang="es-419" sz="1100"/>
              <a:t> Estandarización de textos (ej. </a:t>
            </a:r>
            <a:r>
              <a:rPr lang="es-419" sz="1100">
                <a:solidFill>
                  <a:srgbClr val="188038"/>
                </a:solidFill>
                <a:latin typeface="Roboto Mono"/>
                <a:ea typeface="Roboto Mono"/>
                <a:cs typeface="Roboto Mono"/>
                <a:sym typeface="Roboto Mono"/>
              </a:rPr>
              <a:t>trim()</a:t>
            </a:r>
            <a:r>
              <a:rPr lang="es-419" sz="1100"/>
              <a:t>, </a:t>
            </a:r>
            <a:r>
              <a:rPr lang="es-419" sz="1100">
                <a:solidFill>
                  <a:srgbClr val="188038"/>
                </a:solidFill>
                <a:latin typeface="Roboto Mono"/>
                <a:ea typeface="Roboto Mono"/>
                <a:cs typeface="Roboto Mono"/>
                <a:sym typeface="Roboto Mono"/>
              </a:rPr>
              <a:t>initcap()</a:t>
            </a:r>
            <a:r>
              <a:rPr lang="es-419" sz="1100"/>
              <a:t>).</a:t>
            </a:r>
            <a:endParaRPr sz="1100"/>
          </a:p>
          <a:p>
            <a:pPr indent="-298450" lvl="0" marL="457200" rtl="0" algn="l">
              <a:lnSpc>
                <a:spcPct val="115000"/>
              </a:lnSpc>
              <a:spcBef>
                <a:spcPts val="1000"/>
              </a:spcBef>
              <a:spcAft>
                <a:spcPts val="0"/>
              </a:spcAft>
              <a:buSzPts val="1100"/>
              <a:buChar char="●"/>
            </a:pPr>
            <a:r>
              <a:rPr b="1" lang="es-419" sz="1100"/>
              <a:t>Tipado de Datos:</a:t>
            </a:r>
            <a:r>
              <a:rPr lang="es-419" sz="1100"/>
              <a:t> Conversión de texto a formatos de fecha (ej. </a:t>
            </a:r>
            <a:r>
              <a:rPr lang="es-419" sz="1100">
                <a:solidFill>
                  <a:srgbClr val="188038"/>
                </a:solidFill>
                <a:latin typeface="Roboto Mono"/>
                <a:ea typeface="Roboto Mono"/>
                <a:cs typeface="Roboto Mono"/>
                <a:sym typeface="Roboto Mono"/>
              </a:rPr>
              <a:t>to_date</a:t>
            </a:r>
            <a:r>
              <a:rPr lang="es-419" sz="1100"/>
              <a:t>).</a:t>
            </a:r>
            <a:endParaRPr sz="1100"/>
          </a:p>
          <a:p>
            <a:pPr indent="0" lvl="0" marL="0" rtl="0" algn="l">
              <a:lnSpc>
                <a:spcPct val="115000"/>
              </a:lnSpc>
              <a:spcBef>
                <a:spcPts val="1000"/>
              </a:spcBef>
              <a:spcAft>
                <a:spcPts val="0"/>
              </a:spcAft>
              <a:buNone/>
            </a:pPr>
            <a:r>
              <a:rPr b="1" lang="es-419" sz="1100"/>
              <a:t>Optimización de Costos (Clúster Efímero):</a:t>
            </a:r>
            <a:endParaRPr b="1" sz="1100"/>
          </a:p>
          <a:p>
            <a:pPr indent="-298450" lvl="0" marL="457200" rtl="0" algn="l">
              <a:lnSpc>
                <a:spcPct val="115000"/>
              </a:lnSpc>
              <a:spcBef>
                <a:spcPts val="1000"/>
              </a:spcBef>
              <a:spcAft>
                <a:spcPts val="0"/>
              </a:spcAft>
              <a:buSzPts val="1100"/>
              <a:buChar char="●"/>
            </a:pPr>
            <a:r>
              <a:rPr lang="es-419" sz="1100"/>
              <a:t>Se usa la política </a:t>
            </a:r>
            <a:r>
              <a:rPr lang="es-419" sz="1100">
                <a:solidFill>
                  <a:srgbClr val="188038"/>
                </a:solidFill>
                <a:latin typeface="Roboto Mono"/>
                <a:ea typeface="Roboto Mono"/>
                <a:cs typeface="Roboto Mono"/>
                <a:sym typeface="Roboto Mono"/>
              </a:rPr>
              <a:t>--max-idle 1800s</a:t>
            </a:r>
            <a:r>
              <a:rPr lang="es-419" sz="1100"/>
              <a:t>.</a:t>
            </a:r>
            <a:endParaRPr sz="1100"/>
          </a:p>
          <a:p>
            <a:pPr indent="-298450" lvl="0" marL="457200" rtl="0" algn="l">
              <a:lnSpc>
                <a:spcPct val="115000"/>
              </a:lnSpc>
              <a:spcBef>
                <a:spcPts val="1200"/>
              </a:spcBef>
              <a:spcAft>
                <a:spcPts val="1000"/>
              </a:spcAft>
              <a:buSzPts val="1100"/>
              <a:buChar char="●"/>
            </a:pPr>
            <a:r>
              <a:rPr lang="es-419" sz="1100"/>
              <a:t>El clúster se </a:t>
            </a:r>
            <a:r>
              <a:rPr b="1" lang="es-419" sz="1100"/>
              <a:t>autodestruye</a:t>
            </a:r>
            <a:r>
              <a:rPr lang="es-419" sz="1100"/>
              <a:t> tras 30 minutos de inactividad, eliminando costos de servidores ociosos.</a:t>
            </a:r>
            <a:endParaRPr b="1" sz="1200">
              <a:highlight>
                <a:schemeClr val="lt1"/>
              </a:highlight>
              <a:latin typeface="Times New Roman"/>
              <a:ea typeface="Times New Roman"/>
              <a:cs typeface="Times New Roman"/>
              <a:sym typeface="Times New Roman"/>
            </a:endParaRPr>
          </a:p>
        </p:txBody>
      </p:sp>
      <p:pic>
        <p:nvPicPr>
          <p:cNvPr id="130" name="Google Shape;130;p23"/>
          <p:cNvPicPr preferRelativeResize="0"/>
          <p:nvPr/>
        </p:nvPicPr>
        <p:blipFill rotWithShape="1">
          <a:blip r:embed="rId3">
            <a:alphaModFix/>
          </a:blip>
          <a:srcRect b="0" l="19647" r="20027" t="17607"/>
          <a:stretch/>
        </p:blipFill>
        <p:spPr>
          <a:xfrm>
            <a:off x="5481500" y="1192425"/>
            <a:ext cx="2837425" cy="2325175"/>
          </a:xfrm>
          <a:prstGeom prst="rect">
            <a:avLst/>
          </a:prstGeom>
          <a:noFill/>
          <a:ln>
            <a:noFill/>
          </a:ln>
        </p:spPr>
      </p:pic>
      <p:pic>
        <p:nvPicPr>
          <p:cNvPr id="131" name="Google Shape;131;p23"/>
          <p:cNvPicPr preferRelativeResize="0"/>
          <p:nvPr/>
        </p:nvPicPr>
        <p:blipFill rotWithShape="1">
          <a:blip r:embed="rId4">
            <a:alphaModFix/>
          </a:blip>
          <a:srcRect b="19762" l="0" r="0" t="4691"/>
          <a:stretch/>
        </p:blipFill>
        <p:spPr>
          <a:xfrm>
            <a:off x="5583300" y="3395000"/>
            <a:ext cx="2633824" cy="1121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3.3. Fase 3: </a:t>
            </a:r>
            <a:r>
              <a:rPr lang="es-419">
                <a:solidFill>
                  <a:schemeClr val="dk1"/>
                </a:solidFill>
              </a:rPr>
              <a:t>Almacenamiento (Data Warehouse)</a:t>
            </a:r>
            <a:endParaRPr>
              <a:solidFill>
                <a:schemeClr val="dk1"/>
              </a:solidFill>
            </a:endParaRPr>
          </a:p>
        </p:txBody>
      </p:sp>
      <p:sp>
        <p:nvSpPr>
          <p:cNvPr id="137" name="Google Shape;137;p24"/>
          <p:cNvSpPr txBox="1"/>
          <p:nvPr/>
        </p:nvSpPr>
        <p:spPr>
          <a:xfrm>
            <a:off x="469975" y="1417275"/>
            <a:ext cx="3989400" cy="33471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Servicio:</a:t>
            </a:r>
            <a:r>
              <a:rPr lang="es-419" sz="1100"/>
              <a:t> </a:t>
            </a:r>
            <a:r>
              <a:rPr b="1" lang="es-419" sz="1100"/>
              <a:t>Google BigQuery</a:t>
            </a:r>
            <a:endParaRPr b="1" sz="1100"/>
          </a:p>
          <a:p>
            <a:pPr indent="0" lvl="0" marL="0" rtl="0" algn="l">
              <a:lnSpc>
                <a:spcPct val="115000"/>
              </a:lnSpc>
              <a:spcBef>
                <a:spcPts val="1200"/>
              </a:spcBef>
              <a:spcAft>
                <a:spcPts val="0"/>
              </a:spcAft>
              <a:buNone/>
            </a:pPr>
            <a:r>
              <a:rPr b="1" lang="es-419" sz="1100"/>
              <a:t>Función:</a:t>
            </a:r>
            <a:r>
              <a:rPr lang="es-419" sz="1100"/>
              <a:t> Es el Data Warehouse Corporativo y la "fuente única de la verdad". Su arquitectura </a:t>
            </a:r>
            <a:r>
              <a:rPr i="1" lang="es-419" sz="1100"/>
              <a:t>Serverless</a:t>
            </a:r>
            <a:r>
              <a:rPr lang="es-419" sz="1100"/>
              <a:t> elimina la gestión de infraestructura.</a:t>
            </a:r>
            <a:endParaRPr sz="1100"/>
          </a:p>
          <a:p>
            <a:pPr indent="0" lvl="0" marL="0" rtl="0" algn="l">
              <a:lnSpc>
                <a:spcPct val="115000"/>
              </a:lnSpc>
              <a:spcBef>
                <a:spcPts val="1200"/>
              </a:spcBef>
              <a:spcAft>
                <a:spcPts val="0"/>
              </a:spcAft>
              <a:buNone/>
            </a:pPr>
            <a:r>
              <a:rPr b="1" lang="es-419" sz="1100"/>
              <a:t>Estrategia de 2 Capas:</a:t>
            </a:r>
            <a:endParaRPr b="1" sz="1100"/>
          </a:p>
          <a:p>
            <a:pPr indent="-298450" lvl="0" marL="457200" rtl="0" algn="l">
              <a:lnSpc>
                <a:spcPct val="115000"/>
              </a:lnSpc>
              <a:spcBef>
                <a:spcPts val="1200"/>
              </a:spcBef>
              <a:spcAft>
                <a:spcPts val="0"/>
              </a:spcAft>
              <a:buSzPts val="1100"/>
              <a:buChar char="●"/>
            </a:pPr>
            <a:r>
              <a:rPr b="1" lang="es-419" sz="1100"/>
              <a:t>1. Capa Física (Tabla Maestra):</a:t>
            </a:r>
            <a:endParaRPr b="1" sz="1100"/>
          </a:p>
          <a:p>
            <a:pPr indent="-298450" lvl="1" marL="914400" rtl="0" algn="l">
              <a:lnSpc>
                <a:spcPct val="115000"/>
              </a:lnSpc>
              <a:spcBef>
                <a:spcPts val="0"/>
              </a:spcBef>
              <a:spcAft>
                <a:spcPts val="0"/>
              </a:spcAft>
              <a:buSzPts val="1100"/>
              <a:buChar char="○"/>
            </a:pPr>
            <a:r>
              <a:rPr lang="es-419" sz="1100">
                <a:solidFill>
                  <a:srgbClr val="188038"/>
                </a:solidFill>
                <a:latin typeface="Roboto Mono"/>
                <a:ea typeface="Roboto Mono"/>
                <a:cs typeface="Roboto Mono"/>
                <a:sym typeface="Roboto Mono"/>
              </a:rPr>
              <a:t>reporte_ventas_d1</a:t>
            </a:r>
            <a:endParaRPr sz="1100">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SzPts val="1100"/>
              <a:buChar char="○"/>
            </a:pPr>
            <a:r>
              <a:rPr lang="es-419" sz="1100"/>
              <a:t>Recibe los datos limpios y granulares desde Dataproc.</a:t>
            </a:r>
            <a:endParaRPr sz="1100"/>
          </a:p>
          <a:p>
            <a:pPr indent="-298450" lvl="0" marL="457200" rtl="0" algn="l">
              <a:lnSpc>
                <a:spcPct val="115000"/>
              </a:lnSpc>
              <a:spcBef>
                <a:spcPts val="0"/>
              </a:spcBef>
              <a:spcAft>
                <a:spcPts val="0"/>
              </a:spcAft>
              <a:buSzPts val="1100"/>
              <a:buChar char="●"/>
            </a:pPr>
            <a:r>
              <a:rPr b="1" lang="es-419" sz="1100"/>
              <a:t>2. Capa Semántica (Vista SQL):</a:t>
            </a:r>
            <a:endParaRPr b="1" sz="1100"/>
          </a:p>
          <a:p>
            <a:pPr indent="-298450" lvl="1" marL="914400" rtl="0" algn="l">
              <a:lnSpc>
                <a:spcPct val="115000"/>
              </a:lnSpc>
              <a:spcBef>
                <a:spcPts val="0"/>
              </a:spcBef>
              <a:spcAft>
                <a:spcPts val="0"/>
              </a:spcAft>
              <a:buSzPts val="1100"/>
              <a:buChar char="○"/>
            </a:pPr>
            <a:r>
              <a:rPr lang="es-419" sz="1100">
                <a:solidFill>
                  <a:srgbClr val="188038"/>
                </a:solidFill>
                <a:latin typeface="Roboto Mono"/>
                <a:ea typeface="Roboto Mono"/>
                <a:cs typeface="Roboto Mono"/>
                <a:sym typeface="Roboto Mono"/>
              </a:rPr>
              <a:t>v_resumen_sot</a:t>
            </a:r>
            <a:endParaRPr sz="1100">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SzPts val="1100"/>
              <a:buChar char="○"/>
            </a:pPr>
            <a:r>
              <a:rPr lang="es-419" sz="1100"/>
              <a:t>Contiene la lógica de negocio (métricas como </a:t>
            </a:r>
            <a:r>
              <a:rPr lang="es-419" sz="1100">
                <a:solidFill>
                  <a:srgbClr val="188038"/>
                </a:solidFill>
                <a:latin typeface="Roboto Mono"/>
                <a:ea typeface="Roboto Mono"/>
                <a:cs typeface="Roboto Mono"/>
                <a:sym typeface="Roboto Mono"/>
              </a:rPr>
              <a:t>DATE_DIFF</a:t>
            </a:r>
            <a:r>
              <a:rPr lang="es-419" sz="1100"/>
              <a:t> y agregaciones </a:t>
            </a:r>
            <a:r>
              <a:rPr lang="es-419" sz="1100">
                <a:solidFill>
                  <a:srgbClr val="188038"/>
                </a:solidFill>
                <a:latin typeface="Roboto Mono"/>
                <a:ea typeface="Roboto Mono"/>
                <a:cs typeface="Roboto Mono"/>
                <a:sym typeface="Roboto Mono"/>
              </a:rPr>
              <a:t>GROUP BY</a:t>
            </a:r>
            <a:r>
              <a:rPr lang="es-419" sz="1100"/>
              <a:t>) lista para el consumo.</a:t>
            </a:r>
            <a:endParaRPr b="1" sz="1200">
              <a:highlight>
                <a:schemeClr val="lt1"/>
              </a:highlight>
              <a:latin typeface="Times New Roman"/>
              <a:ea typeface="Times New Roman"/>
              <a:cs typeface="Times New Roman"/>
              <a:sym typeface="Times New Roman"/>
            </a:endParaRPr>
          </a:p>
        </p:txBody>
      </p:sp>
      <p:pic>
        <p:nvPicPr>
          <p:cNvPr id="138" name="Google Shape;138;p24"/>
          <p:cNvPicPr preferRelativeResize="0"/>
          <p:nvPr/>
        </p:nvPicPr>
        <p:blipFill>
          <a:blip r:embed="rId3">
            <a:alphaModFix/>
          </a:blip>
          <a:stretch>
            <a:fillRect/>
          </a:stretch>
        </p:blipFill>
        <p:spPr>
          <a:xfrm>
            <a:off x="4843725" y="1767725"/>
            <a:ext cx="3735174" cy="2101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3.4. Fase 4: </a:t>
            </a:r>
            <a:r>
              <a:rPr lang="es-419">
                <a:solidFill>
                  <a:schemeClr val="dk1"/>
                </a:solidFill>
              </a:rPr>
              <a:t>Visualización (BI)</a:t>
            </a:r>
            <a:endParaRPr>
              <a:solidFill>
                <a:schemeClr val="dk1"/>
              </a:solidFill>
            </a:endParaRPr>
          </a:p>
        </p:txBody>
      </p:sp>
      <p:sp>
        <p:nvSpPr>
          <p:cNvPr id="144" name="Google Shape;144;p25"/>
          <p:cNvSpPr txBox="1"/>
          <p:nvPr/>
        </p:nvSpPr>
        <p:spPr>
          <a:xfrm>
            <a:off x="469975" y="1417275"/>
            <a:ext cx="4672500" cy="3547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Servicio:</a:t>
            </a:r>
            <a:r>
              <a:rPr lang="es-419" sz="1100"/>
              <a:t> </a:t>
            </a:r>
            <a:r>
              <a:rPr b="1" lang="es-419" sz="1100"/>
              <a:t>Microsoft Power BI</a:t>
            </a:r>
            <a:endParaRPr b="1" sz="1100"/>
          </a:p>
          <a:p>
            <a:pPr indent="0" lvl="0" marL="0" rtl="0" algn="l">
              <a:lnSpc>
                <a:spcPct val="115000"/>
              </a:lnSpc>
              <a:spcBef>
                <a:spcPts val="1200"/>
              </a:spcBef>
              <a:spcAft>
                <a:spcPts val="0"/>
              </a:spcAft>
              <a:buNone/>
            </a:pPr>
            <a:r>
              <a:rPr b="1" lang="es-419" sz="1100"/>
              <a:t>Función:</a:t>
            </a:r>
            <a:r>
              <a:rPr lang="es-419" sz="1100"/>
              <a:t> Herramienta de BI para exploración interactiva de KPIs.</a:t>
            </a:r>
            <a:endParaRPr sz="1100"/>
          </a:p>
          <a:p>
            <a:pPr indent="0" lvl="0" marL="0" rtl="0" algn="l">
              <a:lnSpc>
                <a:spcPct val="115000"/>
              </a:lnSpc>
              <a:spcBef>
                <a:spcPts val="1200"/>
              </a:spcBef>
              <a:spcAft>
                <a:spcPts val="0"/>
              </a:spcAft>
              <a:buNone/>
            </a:pPr>
            <a:r>
              <a:rPr b="1" lang="es-419" sz="1100"/>
              <a:t>Integración (Conector Nativo de BigQuery):</a:t>
            </a:r>
            <a:endParaRPr b="1" sz="1100"/>
          </a:p>
          <a:p>
            <a:pPr indent="-298450" lvl="0" marL="457200" rtl="0" algn="l">
              <a:lnSpc>
                <a:spcPct val="115000"/>
              </a:lnSpc>
              <a:spcBef>
                <a:spcPts val="1200"/>
              </a:spcBef>
              <a:spcAft>
                <a:spcPts val="0"/>
              </a:spcAft>
              <a:buSzPts val="1100"/>
              <a:buChar char="●"/>
            </a:pPr>
            <a:r>
              <a:rPr lang="es-419" sz="1100"/>
              <a:t>Se utiliza el modo </a:t>
            </a:r>
            <a:r>
              <a:rPr b="1" lang="es-419" sz="1100"/>
              <a:t>DirectQuery</a:t>
            </a:r>
            <a:r>
              <a:rPr lang="es-419" sz="1100"/>
              <a:t>.</a:t>
            </a:r>
            <a:endParaRPr sz="1100"/>
          </a:p>
          <a:p>
            <a:pPr indent="0" lvl="0" marL="0" rtl="0" algn="l">
              <a:lnSpc>
                <a:spcPct val="115000"/>
              </a:lnSpc>
              <a:spcBef>
                <a:spcPts val="1200"/>
              </a:spcBef>
              <a:spcAft>
                <a:spcPts val="0"/>
              </a:spcAft>
              <a:buNone/>
            </a:pPr>
            <a:r>
              <a:rPr b="1" lang="es-419" sz="1100"/>
              <a:t>Justificación Técnica (DirectQuery):</a:t>
            </a:r>
            <a:endParaRPr b="1" sz="1100"/>
          </a:p>
          <a:p>
            <a:pPr indent="-298450" lvl="0" marL="457200" rtl="0" algn="l">
              <a:lnSpc>
                <a:spcPct val="115000"/>
              </a:lnSpc>
              <a:spcBef>
                <a:spcPts val="1200"/>
              </a:spcBef>
              <a:spcAft>
                <a:spcPts val="0"/>
              </a:spcAft>
              <a:buSzPts val="1100"/>
              <a:buChar char="●"/>
            </a:pPr>
            <a:r>
              <a:rPr lang="es-419" sz="1100"/>
              <a:t>Los datos </a:t>
            </a:r>
            <a:r>
              <a:rPr b="1" lang="es-419" sz="1100"/>
              <a:t>permanecen en BigQuery</a:t>
            </a:r>
            <a:r>
              <a:rPr lang="es-419" sz="1100"/>
              <a:t> ("Fuente Única de Verdad").</a:t>
            </a:r>
            <a:endParaRPr sz="1100"/>
          </a:p>
          <a:p>
            <a:pPr indent="-298450" lvl="0" marL="457200" rtl="0" algn="l">
              <a:lnSpc>
                <a:spcPct val="115000"/>
              </a:lnSpc>
              <a:spcBef>
                <a:spcPts val="1000"/>
              </a:spcBef>
              <a:spcAft>
                <a:spcPts val="0"/>
              </a:spcAft>
              <a:buSzPts val="1100"/>
              <a:buChar char="●"/>
            </a:pPr>
            <a:r>
              <a:rPr lang="es-419" sz="1100"/>
              <a:t>Cuando un usuario filtra en Power BI, este envía una consulta SQL a BigQuery en tiempo real.</a:t>
            </a:r>
            <a:endParaRPr sz="1100"/>
          </a:p>
          <a:p>
            <a:pPr indent="-298450" lvl="0" marL="457200" rtl="0" algn="l">
              <a:lnSpc>
                <a:spcPct val="115000"/>
              </a:lnSpc>
              <a:spcBef>
                <a:spcPts val="1200"/>
              </a:spcBef>
              <a:spcAft>
                <a:spcPts val="1000"/>
              </a:spcAft>
              <a:buSzPts val="1100"/>
              <a:buChar char="●"/>
            </a:pPr>
            <a:r>
              <a:rPr b="1" lang="es-419" sz="1100"/>
              <a:t>Beneficio:</a:t>
            </a:r>
            <a:r>
              <a:rPr lang="es-419" sz="1100"/>
              <a:t> No se duplican datos. El dashboard siempre muestra la data D-1 más reciente, aprovechando la potencia de Google para las consultas.</a:t>
            </a:r>
            <a:endParaRPr b="1" sz="1100"/>
          </a:p>
        </p:txBody>
      </p:sp>
      <p:pic>
        <p:nvPicPr>
          <p:cNvPr id="145" name="Google Shape;145;p25"/>
          <p:cNvPicPr preferRelativeResize="0"/>
          <p:nvPr/>
        </p:nvPicPr>
        <p:blipFill rotWithShape="1">
          <a:blip r:embed="rId3">
            <a:alphaModFix/>
          </a:blip>
          <a:srcRect b="0" l="21150" r="22584" t="0"/>
          <a:stretch/>
        </p:blipFill>
        <p:spPr>
          <a:xfrm>
            <a:off x="5492800" y="1727425"/>
            <a:ext cx="2464348" cy="2463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6"/>
          <p:cNvPicPr preferRelativeResize="0"/>
          <p:nvPr/>
        </p:nvPicPr>
        <p:blipFill>
          <a:blip r:embed="rId3">
            <a:alphaModFix/>
          </a:blip>
          <a:stretch>
            <a:fillRect/>
          </a:stretch>
        </p:blipFill>
        <p:spPr>
          <a:xfrm>
            <a:off x="476250" y="152400"/>
            <a:ext cx="8191500"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27"/>
          <p:cNvPicPr preferRelativeResize="0"/>
          <p:nvPr/>
        </p:nvPicPr>
        <p:blipFill>
          <a:blip r:embed="rId3">
            <a:alphaModFix/>
          </a:blip>
          <a:stretch>
            <a:fillRect/>
          </a:stretch>
        </p:blipFill>
        <p:spPr>
          <a:xfrm>
            <a:off x="992261" y="127214"/>
            <a:ext cx="7159475" cy="4889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Matriz de Costos y Proyección de Uso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4.1. </a:t>
            </a:r>
            <a:r>
              <a:rPr lang="es-419"/>
              <a:t>Premisas </a:t>
            </a:r>
            <a:r>
              <a:rPr lang="es-419">
                <a:solidFill>
                  <a:schemeClr val="dk1"/>
                </a:solidFill>
              </a:rPr>
              <a:t>del Escenario</a:t>
            </a:r>
            <a:endParaRPr>
              <a:solidFill>
                <a:schemeClr val="dk1"/>
              </a:solidFill>
            </a:endParaRPr>
          </a:p>
        </p:txBody>
      </p:sp>
      <p:sp>
        <p:nvSpPr>
          <p:cNvPr id="166" name="Google Shape;166;p29"/>
          <p:cNvSpPr txBox="1"/>
          <p:nvPr/>
        </p:nvSpPr>
        <p:spPr>
          <a:xfrm>
            <a:off x="424750" y="1100250"/>
            <a:ext cx="4525500" cy="3768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419" sz="1100"/>
              <a:t>Estimación financiera basada en un escenario operativo estándar para el pipeline D-1:</a:t>
            </a:r>
            <a:endParaRPr sz="1100"/>
          </a:p>
          <a:p>
            <a:pPr indent="-298450" lvl="0" marL="457200" rtl="0" algn="l">
              <a:lnSpc>
                <a:spcPct val="115000"/>
              </a:lnSpc>
              <a:spcBef>
                <a:spcPts val="1200"/>
              </a:spcBef>
              <a:spcAft>
                <a:spcPts val="0"/>
              </a:spcAft>
              <a:buSzPts val="1100"/>
              <a:buChar char="●"/>
            </a:pPr>
            <a:r>
              <a:rPr b="1" lang="es-419" sz="1100"/>
              <a:t>Volumen de Datos:</a:t>
            </a:r>
            <a:endParaRPr b="1" sz="1100"/>
          </a:p>
          <a:p>
            <a:pPr indent="-298450" lvl="1" marL="914400" rtl="0" algn="l">
              <a:lnSpc>
                <a:spcPct val="115000"/>
              </a:lnSpc>
              <a:spcBef>
                <a:spcPts val="1000"/>
              </a:spcBef>
              <a:spcAft>
                <a:spcPts val="0"/>
              </a:spcAft>
              <a:buSzPts val="1100"/>
              <a:buChar char="○"/>
            </a:pPr>
            <a:r>
              <a:rPr lang="es-419" sz="1100"/>
              <a:t>Ingesta diaria: 10 GB de datos crudos.</a:t>
            </a:r>
            <a:endParaRPr sz="1100"/>
          </a:p>
          <a:p>
            <a:pPr indent="-298450" lvl="1" marL="914400" rtl="0" algn="l">
              <a:lnSpc>
                <a:spcPct val="115000"/>
              </a:lnSpc>
              <a:spcBef>
                <a:spcPts val="1000"/>
              </a:spcBef>
              <a:spcAft>
                <a:spcPts val="0"/>
              </a:spcAft>
              <a:buSzPts val="1100"/>
              <a:buChar char="○"/>
            </a:pPr>
            <a:r>
              <a:rPr lang="es-419" sz="1100"/>
              <a:t>Histórico proyectado: 300 GB.</a:t>
            </a:r>
            <a:endParaRPr sz="1100"/>
          </a:p>
          <a:p>
            <a:pPr indent="-298450" lvl="0" marL="457200" rtl="0" algn="l">
              <a:lnSpc>
                <a:spcPct val="115000"/>
              </a:lnSpc>
              <a:spcBef>
                <a:spcPts val="1000"/>
              </a:spcBef>
              <a:spcAft>
                <a:spcPts val="0"/>
              </a:spcAft>
              <a:buSzPts val="1100"/>
              <a:buChar char="●"/>
            </a:pPr>
            <a:r>
              <a:rPr b="1" lang="es-419" sz="1100"/>
              <a:t>Frecuencia ETL:</a:t>
            </a:r>
            <a:endParaRPr b="1" sz="1100"/>
          </a:p>
          <a:p>
            <a:pPr indent="-298450" lvl="1" marL="914400" rtl="0" algn="l">
              <a:lnSpc>
                <a:spcPct val="115000"/>
              </a:lnSpc>
              <a:spcBef>
                <a:spcPts val="1000"/>
              </a:spcBef>
              <a:spcAft>
                <a:spcPts val="0"/>
              </a:spcAft>
              <a:buSzPts val="1100"/>
              <a:buChar char="○"/>
            </a:pPr>
            <a:r>
              <a:rPr lang="es-419" sz="1100"/>
              <a:t>1 ejecución batch diaria.</a:t>
            </a:r>
            <a:endParaRPr sz="1100"/>
          </a:p>
          <a:p>
            <a:pPr indent="-298450" lvl="1" marL="914400" rtl="0" algn="l">
              <a:lnSpc>
                <a:spcPct val="115000"/>
              </a:lnSpc>
              <a:spcBef>
                <a:spcPts val="1000"/>
              </a:spcBef>
              <a:spcAft>
                <a:spcPts val="0"/>
              </a:spcAft>
              <a:buSzPts val="1100"/>
              <a:buChar char="○"/>
            </a:pPr>
            <a:r>
              <a:rPr lang="es-419" sz="1100"/>
              <a:t>Duración promedio: 1 hora de procesamiento (Dataproc).</a:t>
            </a:r>
            <a:endParaRPr sz="1100"/>
          </a:p>
          <a:p>
            <a:pPr indent="-298450" lvl="0" marL="457200" rtl="0" algn="l">
              <a:lnSpc>
                <a:spcPct val="115000"/>
              </a:lnSpc>
              <a:spcBef>
                <a:spcPts val="1000"/>
              </a:spcBef>
              <a:spcAft>
                <a:spcPts val="0"/>
              </a:spcAft>
              <a:buSzPts val="1100"/>
              <a:buChar char="●"/>
            </a:pPr>
            <a:r>
              <a:rPr b="1" lang="es-419" sz="1100"/>
              <a:t>Usuarios:</a:t>
            </a:r>
            <a:r>
              <a:rPr lang="es-419" sz="1100"/>
              <a:t> 10 usuarios activos consultando Power BI diariamente.</a:t>
            </a:r>
            <a:endParaRPr sz="1100"/>
          </a:p>
          <a:p>
            <a:pPr indent="-298450" lvl="0" marL="457200" rtl="0" algn="l">
              <a:lnSpc>
                <a:spcPct val="115000"/>
              </a:lnSpc>
              <a:spcBef>
                <a:spcPts val="1200"/>
              </a:spcBef>
              <a:spcAft>
                <a:spcPts val="1000"/>
              </a:spcAft>
              <a:buSzPts val="1100"/>
              <a:buChar char="●"/>
            </a:pPr>
            <a:r>
              <a:rPr b="1" lang="es-419" sz="1100"/>
              <a:t>Región GCP:</a:t>
            </a:r>
            <a:r>
              <a:rPr lang="es-419" sz="1100"/>
              <a:t> </a:t>
            </a:r>
            <a:r>
              <a:rPr lang="es-419" sz="1100">
                <a:solidFill>
                  <a:srgbClr val="188038"/>
                </a:solidFill>
                <a:latin typeface="Roboto Mono"/>
                <a:ea typeface="Roboto Mono"/>
                <a:cs typeface="Roboto Mono"/>
                <a:sym typeface="Roboto Mono"/>
              </a:rPr>
              <a:t>southamerica-west1</a:t>
            </a:r>
            <a:r>
              <a:rPr lang="es-419" sz="1100"/>
              <a:t> para minimizar latencia y optimizar costos de transferencia (costo cero entre servicios)</a:t>
            </a:r>
            <a:endParaRPr b="1" sz="1100"/>
          </a:p>
        </p:txBody>
      </p:sp>
      <p:pic>
        <p:nvPicPr>
          <p:cNvPr id="167" name="Google Shape;167;p29"/>
          <p:cNvPicPr preferRelativeResize="0"/>
          <p:nvPr/>
        </p:nvPicPr>
        <p:blipFill>
          <a:blip r:embed="rId3">
            <a:alphaModFix/>
          </a:blip>
          <a:stretch>
            <a:fillRect/>
          </a:stretch>
        </p:blipFill>
        <p:spPr>
          <a:xfrm>
            <a:off x="4950250" y="792950"/>
            <a:ext cx="3738450" cy="3738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0" y="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4.2. </a:t>
            </a:r>
            <a:r>
              <a:rPr lang="es-419"/>
              <a:t>Matriz de Estimación </a:t>
            </a:r>
            <a:r>
              <a:rPr lang="es-419">
                <a:solidFill>
                  <a:schemeClr val="dk1"/>
                </a:solidFill>
              </a:rPr>
              <a:t>de Costos Mensuales</a:t>
            </a:r>
            <a:endParaRPr>
              <a:solidFill>
                <a:schemeClr val="dk1"/>
              </a:solidFill>
            </a:endParaRPr>
          </a:p>
        </p:txBody>
      </p:sp>
      <p:graphicFrame>
        <p:nvGraphicFramePr>
          <p:cNvPr id="173" name="Google Shape;173;p30"/>
          <p:cNvGraphicFramePr/>
          <p:nvPr/>
        </p:nvGraphicFramePr>
        <p:xfrm>
          <a:off x="184050" y="894900"/>
          <a:ext cx="3000000" cy="3000000"/>
        </p:xfrm>
        <a:graphic>
          <a:graphicData uri="http://schemas.openxmlformats.org/drawingml/2006/table">
            <a:tbl>
              <a:tblPr>
                <a:noFill/>
                <a:tableStyleId>{516DB500-6BC9-4857-A303-CF937C3EB9CA}</a:tableStyleId>
              </a:tblPr>
              <a:tblGrid>
                <a:gridCol w="1568025"/>
                <a:gridCol w="1159175"/>
                <a:gridCol w="4786800"/>
                <a:gridCol w="1261875"/>
              </a:tblGrid>
              <a:tr h="410150">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Servicio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E3FF8D"/>
                    </a:solidFill>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Función</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E3FF8D"/>
                    </a:solidFill>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Modelo de Costo (Driver)</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E3FF8D"/>
                    </a:solidFill>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Estimación Mensual (USD)</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E3FF8D"/>
                    </a:solidFill>
                  </a:tcPr>
                </a:tc>
              </a:tr>
              <a:tr h="497175">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Google Cloud Storage (GCS)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Data Lake &amp; Staging</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Almacenamiento (GB/mes): Costo por mantener archivos crudos y de staging (Clase Standard). Incluye proyección de crecimiento de datos.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$5 - $10</a:t>
                      </a:r>
                      <a:endParaRPr baseline="30000" sz="1000">
                        <a:solidFill>
                          <a:srgbClr val="444746"/>
                        </a:solidFill>
                        <a:highlight>
                          <a:srgbClr val="FFFFFF"/>
                        </a:highlight>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497175">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Google Cloud Dataproc</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Procesamiento ETL</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Cómputo (vCPU/hora): Clúster efímero activado solo 1 hora diaria. Se factura por la capacidad de cómputo utilizada durante la ventana de carga.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$5 - $15</a:t>
                      </a:r>
                      <a:endParaRPr baseline="30000" sz="1000">
                        <a:solidFill>
                          <a:srgbClr val="444746"/>
                        </a:solidFill>
                        <a:highlight>
                          <a:srgbClr val="FFFFFF"/>
                        </a:highlight>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621500">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Google BigQuery</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Data Warehouse</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Almacenamiento Activo + Cómputo: Costo por almacenar la data limpia (~$6) y por los TB procesados en las consultas SQL enviadas desde Power BI (~$5-$20).</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$11 - $26</a:t>
                      </a:r>
                      <a:endParaRPr baseline="30000" sz="1000">
                        <a:solidFill>
                          <a:srgbClr val="444746"/>
                        </a:solidFill>
                        <a:highlight>
                          <a:srgbClr val="FFFFFF"/>
                        </a:highlight>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745775">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Microsoft Power BI</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Visualización</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Licenciamiento SaaS: Se requiere licencia Power BI Pro para publicar y compartir el dashboard de forma segura.</a:t>
                      </a:r>
                      <a:endParaRPr sz="1000">
                        <a:solidFill>
                          <a:srgbClr val="1B1C1D"/>
                        </a:solidFill>
                        <a:latin typeface="Times New Roman"/>
                        <a:ea typeface="Times New Roman"/>
                        <a:cs typeface="Times New Roman"/>
                        <a:sym typeface="Times New Roman"/>
                      </a:endParaRPr>
                    </a:p>
                    <a:p>
                      <a:pPr indent="0" lvl="0" marL="0" rtl="0" algn="just">
                        <a:spcBef>
                          <a:spcPts val="0"/>
                        </a:spcBef>
                        <a:spcAft>
                          <a:spcPts val="0"/>
                        </a:spcAft>
                        <a:buNone/>
                      </a:pPr>
                      <a:r>
                        <a:t/>
                      </a:r>
                      <a:endParaRPr sz="1000">
                        <a:solidFill>
                          <a:srgbClr val="1B1C1D"/>
                        </a:solidFill>
                        <a:latin typeface="Times New Roman"/>
                        <a:ea typeface="Times New Roman"/>
                        <a:cs typeface="Times New Roman"/>
                        <a:sym typeface="Times New Roman"/>
                      </a:endParaRPr>
                    </a:p>
                    <a:p>
                      <a:pPr indent="0" lvl="0" marL="0" rtl="0" algn="just">
                        <a:spcBef>
                          <a:spcPts val="0"/>
                        </a:spcBef>
                        <a:spcAft>
                          <a:spcPts val="0"/>
                        </a:spcAft>
                        <a:buNone/>
                      </a:pPr>
                      <a:r>
                        <a:rPr i="1" lang="es-419" sz="1000">
                          <a:solidFill>
                            <a:srgbClr val="1B1C1D"/>
                          </a:solidFill>
                          <a:latin typeface="Times New Roman"/>
                          <a:ea typeface="Times New Roman"/>
                          <a:cs typeface="Times New Roman"/>
                          <a:sym typeface="Times New Roman"/>
                        </a:rPr>
                        <a:t>Cálculo: 10 usuarios x $10 USD/mes.</a:t>
                      </a:r>
                      <a:endParaRPr i="1"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$100</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621500">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Transferencia de Red</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Movimiento de datos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Egress (Salida de datos): Al usar </a:t>
                      </a:r>
                      <a:r>
                        <a:rPr i="1" lang="es-419" sz="1000">
                          <a:solidFill>
                            <a:srgbClr val="1B1C1D"/>
                          </a:solidFill>
                          <a:latin typeface="Times New Roman"/>
                          <a:ea typeface="Times New Roman"/>
                          <a:cs typeface="Times New Roman"/>
                          <a:sym typeface="Times New Roman"/>
                        </a:rPr>
                        <a:t>DirectQuery</a:t>
                      </a:r>
                      <a:r>
                        <a:rPr lang="es-419" sz="1000">
                          <a:solidFill>
                            <a:srgbClr val="1B1C1D"/>
                          </a:solidFill>
                          <a:latin typeface="Times New Roman"/>
                          <a:ea typeface="Times New Roman"/>
                          <a:cs typeface="Times New Roman"/>
                          <a:sym typeface="Times New Roman"/>
                        </a:rPr>
                        <a:t>, Power BI extrae resultados agregados de GCP. Aunque bajo, se considera un margen por tráfico de salida hacia la nube de Microsoft.</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$1 - $5</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427275">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TOTAL ESTIMADO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OPEX Mensual</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~$122 - $156 USD</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4.3. </a:t>
            </a:r>
            <a:r>
              <a:rPr lang="es-419"/>
              <a:t>Proyección de </a:t>
            </a:r>
            <a:r>
              <a:rPr lang="es-419">
                <a:solidFill>
                  <a:schemeClr val="dk1"/>
                </a:solidFill>
              </a:rPr>
              <a:t>Uso Semestral y Anual</a:t>
            </a:r>
            <a:endParaRPr>
              <a:solidFill>
                <a:schemeClr val="dk1"/>
              </a:solidFill>
            </a:endParaRPr>
          </a:p>
        </p:txBody>
      </p:sp>
      <p:sp>
        <p:nvSpPr>
          <p:cNvPr id="179" name="Google Shape;179;p31"/>
          <p:cNvSpPr txBox="1"/>
          <p:nvPr/>
        </p:nvSpPr>
        <p:spPr>
          <a:xfrm>
            <a:off x="469975" y="1417275"/>
            <a:ext cx="3989400" cy="3030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Costo Promedio Mensual:</a:t>
            </a:r>
            <a:r>
              <a:rPr lang="es-419" sz="1100"/>
              <a:t> $140 USD (licencias fijas + consumo variable).</a:t>
            </a:r>
            <a:endParaRPr sz="1100"/>
          </a:p>
          <a:p>
            <a:pPr indent="0" lvl="0" marL="0" rtl="0" algn="l">
              <a:lnSpc>
                <a:spcPct val="115000"/>
              </a:lnSpc>
              <a:spcBef>
                <a:spcPts val="1200"/>
              </a:spcBef>
              <a:spcAft>
                <a:spcPts val="0"/>
              </a:spcAft>
              <a:buNone/>
            </a:pPr>
            <a:r>
              <a:rPr b="1" lang="es-419" sz="1100"/>
              <a:t>Proyección a 6 Meses (Semestral):</a:t>
            </a:r>
            <a:endParaRPr b="1" sz="1100"/>
          </a:p>
          <a:p>
            <a:pPr indent="-298450" lvl="0" marL="457200" rtl="0" algn="l">
              <a:lnSpc>
                <a:spcPct val="115000"/>
              </a:lnSpc>
              <a:spcBef>
                <a:spcPts val="1200"/>
              </a:spcBef>
              <a:spcAft>
                <a:spcPts val="0"/>
              </a:spcAft>
              <a:buSzPts val="1100"/>
              <a:buChar char="●"/>
            </a:pPr>
            <a:r>
              <a:rPr b="1" lang="es-419" sz="1100"/>
              <a:t>Total Estimado: $840 USD</a:t>
            </a:r>
            <a:endParaRPr b="1" sz="1100"/>
          </a:p>
          <a:p>
            <a:pPr indent="0" lvl="0" marL="0" rtl="0" algn="l">
              <a:lnSpc>
                <a:spcPct val="115000"/>
              </a:lnSpc>
              <a:spcBef>
                <a:spcPts val="1200"/>
              </a:spcBef>
              <a:spcAft>
                <a:spcPts val="0"/>
              </a:spcAft>
              <a:buNone/>
            </a:pPr>
            <a:r>
              <a:rPr b="1" lang="es-419" sz="1100"/>
              <a:t>Proyección Anual (12 Meses):</a:t>
            </a:r>
            <a:endParaRPr b="1" sz="1100"/>
          </a:p>
          <a:p>
            <a:pPr indent="-298450" lvl="0" marL="457200" rtl="0" algn="l">
              <a:lnSpc>
                <a:spcPct val="115000"/>
              </a:lnSpc>
              <a:spcBef>
                <a:spcPts val="1200"/>
              </a:spcBef>
              <a:spcAft>
                <a:spcPts val="0"/>
              </a:spcAft>
              <a:buSzPts val="1100"/>
              <a:buChar char="●"/>
            </a:pPr>
            <a:r>
              <a:rPr b="1" lang="es-419" sz="1100"/>
              <a:t>Total Estimado: $1,680 USD</a:t>
            </a:r>
            <a:endParaRPr b="1" sz="1100"/>
          </a:p>
          <a:p>
            <a:pPr indent="0" lvl="0" marL="0" rtl="0" algn="l">
              <a:lnSpc>
                <a:spcPct val="115000"/>
              </a:lnSpc>
              <a:spcBef>
                <a:spcPts val="1200"/>
              </a:spcBef>
              <a:spcAft>
                <a:spcPts val="0"/>
              </a:spcAft>
              <a:buNone/>
            </a:pPr>
            <a:r>
              <a:rPr b="1" lang="es-419" sz="1100"/>
              <a:t>Análisis de Viabilidad:</a:t>
            </a:r>
            <a:endParaRPr b="1" sz="1100"/>
          </a:p>
          <a:p>
            <a:pPr indent="-298450" lvl="0" marL="457200" rtl="0" algn="l">
              <a:lnSpc>
                <a:spcPct val="115000"/>
              </a:lnSpc>
              <a:spcBef>
                <a:spcPts val="1200"/>
              </a:spcBef>
              <a:spcAft>
                <a:spcPts val="0"/>
              </a:spcAft>
              <a:buSzPts val="1100"/>
              <a:buChar char="●"/>
            </a:pPr>
            <a:r>
              <a:rPr lang="es-419" sz="1100"/>
              <a:t>El costo anual ($1.6k) sigue siendo drásticamente inferior al costo de una solución </a:t>
            </a:r>
            <a:r>
              <a:rPr i="1" lang="es-419" sz="1100"/>
              <a:t>on-premise</a:t>
            </a:r>
            <a:r>
              <a:rPr lang="es-419" sz="1100"/>
              <a:t> (Hardware + Licencia SQL Server Enterprise).</a:t>
            </a:r>
            <a:endParaRPr b="1" sz="1100"/>
          </a:p>
        </p:txBody>
      </p:sp>
      <p:pic>
        <p:nvPicPr>
          <p:cNvPr id="180" name="Google Shape;180;p31"/>
          <p:cNvPicPr preferRelativeResize="0"/>
          <p:nvPr/>
        </p:nvPicPr>
        <p:blipFill>
          <a:blip r:embed="rId3">
            <a:alphaModFix/>
          </a:blip>
          <a:stretch>
            <a:fillRect/>
          </a:stretch>
        </p:blipFill>
        <p:spPr>
          <a:xfrm>
            <a:off x="5222200" y="1417275"/>
            <a:ext cx="2825375" cy="2825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4.4. </a:t>
            </a:r>
            <a:r>
              <a:rPr lang="es-419"/>
              <a:t>Análisis </a:t>
            </a:r>
            <a:r>
              <a:rPr lang="es-419">
                <a:solidFill>
                  <a:schemeClr val="dk1"/>
                </a:solidFill>
              </a:rPr>
              <a:t>de Escalabilidad</a:t>
            </a:r>
            <a:endParaRPr>
              <a:solidFill>
                <a:schemeClr val="dk1"/>
              </a:solidFill>
            </a:endParaRPr>
          </a:p>
        </p:txBody>
      </p:sp>
      <p:sp>
        <p:nvSpPr>
          <p:cNvPr id="186" name="Google Shape;186;p32"/>
          <p:cNvSpPr txBox="1"/>
          <p:nvPr/>
        </p:nvSpPr>
        <p:spPr>
          <a:xfrm>
            <a:off x="469975" y="1417275"/>
            <a:ext cx="3989400" cy="3316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419" sz="1100"/>
              <a:t>La arquitectura soporta crecimiento masivo sin necesidad de rediseño:</a:t>
            </a:r>
            <a:endParaRPr sz="1100"/>
          </a:p>
          <a:p>
            <a:pPr indent="-298450" lvl="0" marL="457200" rtl="0" algn="l">
              <a:lnSpc>
                <a:spcPct val="115000"/>
              </a:lnSpc>
              <a:spcBef>
                <a:spcPts val="1200"/>
              </a:spcBef>
              <a:spcAft>
                <a:spcPts val="0"/>
              </a:spcAft>
              <a:buSzPts val="1100"/>
              <a:buChar char="●"/>
            </a:pPr>
            <a:r>
              <a:rPr b="1" lang="es-419" sz="1100"/>
              <a:t>1. Almacenamiento (GCP):</a:t>
            </a:r>
            <a:endParaRPr b="1" sz="1100"/>
          </a:p>
          <a:p>
            <a:pPr indent="-298450" lvl="1" marL="914400" rtl="0" algn="l">
              <a:lnSpc>
                <a:spcPct val="115000"/>
              </a:lnSpc>
              <a:spcBef>
                <a:spcPts val="1000"/>
              </a:spcBef>
              <a:spcAft>
                <a:spcPts val="0"/>
              </a:spcAft>
              <a:buSzPts val="1100"/>
              <a:buChar char="○"/>
            </a:pPr>
            <a:r>
              <a:rPr lang="es-419" sz="1100"/>
              <a:t>Servicios elásticos (GCS y BigQuery).</a:t>
            </a:r>
            <a:endParaRPr sz="1100"/>
          </a:p>
          <a:p>
            <a:pPr indent="-298450" lvl="1" marL="914400" rtl="0" algn="l">
              <a:lnSpc>
                <a:spcPct val="115000"/>
              </a:lnSpc>
              <a:spcBef>
                <a:spcPts val="1000"/>
              </a:spcBef>
              <a:spcAft>
                <a:spcPts val="0"/>
              </a:spcAft>
              <a:buSzPts val="1100"/>
              <a:buChar char="○"/>
            </a:pPr>
            <a:r>
              <a:rPr lang="es-419" sz="1100"/>
              <a:t>Si los datos crecen </a:t>
            </a:r>
            <a:r>
              <a:rPr b="1" lang="es-419" sz="1100"/>
              <a:t>100x</a:t>
            </a:r>
            <a:r>
              <a:rPr lang="es-419" sz="1100"/>
              <a:t>, el sistema lo soporta automáticamente. Solo aumenta el costo variable por GB.</a:t>
            </a:r>
            <a:endParaRPr sz="1100"/>
          </a:p>
          <a:p>
            <a:pPr indent="-298450" lvl="0" marL="457200" rtl="0" algn="l">
              <a:lnSpc>
                <a:spcPct val="115000"/>
              </a:lnSpc>
              <a:spcBef>
                <a:spcPts val="1000"/>
              </a:spcBef>
              <a:spcAft>
                <a:spcPts val="0"/>
              </a:spcAft>
              <a:buSzPts val="1100"/>
              <a:buChar char="●"/>
            </a:pPr>
            <a:r>
              <a:rPr b="1" lang="es-419" sz="1100"/>
              <a:t>2. Visualización (Power BI):</a:t>
            </a:r>
            <a:endParaRPr b="1" sz="1100"/>
          </a:p>
          <a:p>
            <a:pPr indent="-298450" lvl="1" marL="914400" rtl="0" algn="l">
              <a:lnSpc>
                <a:spcPct val="115000"/>
              </a:lnSpc>
              <a:spcBef>
                <a:spcPts val="1000"/>
              </a:spcBef>
              <a:spcAft>
                <a:spcPts val="0"/>
              </a:spcAft>
              <a:buSzPts val="1100"/>
              <a:buChar char="○"/>
            </a:pPr>
            <a:r>
              <a:rPr lang="es-419" sz="1100"/>
              <a:t>El licenciamiento escala </a:t>
            </a:r>
            <a:r>
              <a:rPr b="1" lang="es-419" sz="1100"/>
              <a:t>por usuario</a:t>
            </a:r>
            <a:r>
              <a:rPr lang="es-419" sz="1100"/>
              <a:t>, no por volumen de datos.</a:t>
            </a:r>
            <a:endParaRPr sz="1100"/>
          </a:p>
          <a:p>
            <a:pPr indent="-298450" lvl="1" marL="914400" rtl="0" algn="l">
              <a:lnSpc>
                <a:spcPct val="115000"/>
              </a:lnSpc>
              <a:spcBef>
                <a:spcPts val="1200"/>
              </a:spcBef>
              <a:spcAft>
                <a:spcPts val="1000"/>
              </a:spcAft>
              <a:buSzPts val="1100"/>
              <a:buChar char="○"/>
            </a:pPr>
            <a:r>
              <a:rPr lang="es-419" sz="1100"/>
              <a:t>Si la empresa crece a 50 usuarios, simplemente se adquieren más licencias Pro.</a:t>
            </a:r>
            <a:endParaRPr b="1" sz="1100"/>
          </a:p>
        </p:txBody>
      </p:sp>
      <p:pic>
        <p:nvPicPr>
          <p:cNvPr id="187" name="Google Shape;187;p32"/>
          <p:cNvPicPr preferRelativeResize="0"/>
          <p:nvPr/>
        </p:nvPicPr>
        <p:blipFill>
          <a:blip r:embed="rId3">
            <a:alphaModFix/>
          </a:blip>
          <a:stretch>
            <a:fillRect/>
          </a:stretch>
        </p:blipFill>
        <p:spPr>
          <a:xfrm>
            <a:off x="4690925" y="1003950"/>
            <a:ext cx="3738450" cy="3738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3"/>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4.4. </a:t>
            </a:r>
            <a:r>
              <a:rPr lang="es-419"/>
              <a:t>Propuestas de </a:t>
            </a:r>
            <a:r>
              <a:rPr lang="es-419">
                <a:solidFill>
                  <a:schemeClr val="dk1"/>
                </a:solidFill>
              </a:rPr>
              <a:t>Optimización de Costos</a:t>
            </a:r>
            <a:endParaRPr>
              <a:solidFill>
                <a:schemeClr val="dk1"/>
              </a:solidFill>
            </a:endParaRPr>
          </a:p>
        </p:txBody>
      </p:sp>
      <p:sp>
        <p:nvSpPr>
          <p:cNvPr id="193" name="Google Shape;193;p33"/>
          <p:cNvSpPr txBox="1"/>
          <p:nvPr/>
        </p:nvSpPr>
        <p:spPr>
          <a:xfrm>
            <a:off x="436075" y="1372075"/>
            <a:ext cx="5644500" cy="354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419" sz="1100"/>
              <a:t>Para asegurar la eficiencia a largo plazo, se implementarán 3 estrategias:</a:t>
            </a:r>
            <a:endParaRPr b="1" sz="1100"/>
          </a:p>
        </p:txBody>
      </p:sp>
      <p:sp>
        <p:nvSpPr>
          <p:cNvPr id="194" name="Google Shape;194;p33"/>
          <p:cNvSpPr txBox="1"/>
          <p:nvPr/>
        </p:nvSpPr>
        <p:spPr>
          <a:xfrm>
            <a:off x="605650" y="1886250"/>
            <a:ext cx="3728700" cy="22452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100">
                <a:solidFill>
                  <a:srgbClr val="1B1C1D"/>
                </a:solidFill>
              </a:rPr>
              <a:t>1. Gestión de Ciclo de Vida (Cold Storage) en GCS</a:t>
            </a:r>
            <a:endParaRPr b="1" sz="1100">
              <a:solidFill>
                <a:srgbClr val="1B1C1D"/>
              </a:solidFill>
            </a:endParaRPr>
          </a:p>
          <a:p>
            <a:pPr indent="-298450" lvl="0" marL="457200" rtl="0" algn="just">
              <a:lnSpc>
                <a:spcPct val="115000"/>
              </a:lnSpc>
              <a:spcBef>
                <a:spcPts val="600"/>
              </a:spcBef>
              <a:spcAft>
                <a:spcPts val="0"/>
              </a:spcAft>
              <a:buClr>
                <a:srgbClr val="1B1C1D"/>
              </a:buClr>
              <a:buSzPts val="1100"/>
              <a:buChar char="●"/>
            </a:pPr>
            <a:r>
              <a:rPr b="1" lang="es-419" sz="1100">
                <a:solidFill>
                  <a:srgbClr val="A61C00"/>
                </a:solidFill>
              </a:rPr>
              <a:t>Estrategia: </a:t>
            </a:r>
            <a:r>
              <a:rPr lang="es-419" sz="1100">
                <a:solidFill>
                  <a:srgbClr val="1B1C1D"/>
                </a:solidFill>
              </a:rPr>
              <a:t>Configurar </a:t>
            </a:r>
            <a:r>
              <a:rPr i="1" lang="es-419" sz="1100">
                <a:solidFill>
                  <a:srgbClr val="1B1C1D"/>
                </a:solidFill>
              </a:rPr>
              <a:t>Lifecycle Rules</a:t>
            </a:r>
            <a:r>
              <a:rPr lang="es-419" sz="1100">
                <a:solidFill>
                  <a:srgbClr val="1B1C1D"/>
                </a:solidFill>
              </a:rPr>
              <a:t> en el bucket del Data Lake.</a:t>
            </a:r>
            <a:endParaRPr sz="1100">
              <a:solidFill>
                <a:srgbClr val="1B1C1D"/>
              </a:solidFill>
            </a:endParaRPr>
          </a:p>
          <a:p>
            <a:pPr indent="-298450" lvl="0" marL="457200" rtl="0" algn="just">
              <a:lnSpc>
                <a:spcPct val="115000"/>
              </a:lnSpc>
              <a:spcBef>
                <a:spcPts val="1000"/>
              </a:spcBef>
              <a:spcAft>
                <a:spcPts val="0"/>
              </a:spcAft>
              <a:buClr>
                <a:srgbClr val="1B1C1D"/>
              </a:buClr>
              <a:buSzPts val="1100"/>
              <a:buChar char="●"/>
            </a:pPr>
            <a:r>
              <a:rPr b="1" lang="es-419" sz="1100">
                <a:solidFill>
                  <a:srgbClr val="188038"/>
                </a:solidFill>
              </a:rPr>
              <a:t>Acción:</a:t>
            </a:r>
            <a:r>
              <a:rPr lang="es-419" sz="1100">
                <a:solidFill>
                  <a:srgbClr val="1B1C1D"/>
                </a:solidFill>
              </a:rPr>
              <a:t> Mover automáticamente los archivos CSV crudos con antigüedad mayor a 90 días de la clase </a:t>
            </a:r>
            <a:r>
              <a:rPr i="1" lang="es-419" sz="1100">
                <a:solidFill>
                  <a:srgbClr val="1B1C1D"/>
                </a:solidFill>
              </a:rPr>
              <a:t>Standard</a:t>
            </a:r>
            <a:r>
              <a:rPr lang="es-419" sz="1100">
                <a:solidFill>
                  <a:srgbClr val="1B1C1D"/>
                </a:solidFill>
              </a:rPr>
              <a:t> a </a:t>
            </a:r>
            <a:r>
              <a:rPr i="1" lang="es-419" sz="1100">
                <a:solidFill>
                  <a:srgbClr val="1B1C1D"/>
                </a:solidFill>
              </a:rPr>
              <a:t>Coldline</a:t>
            </a:r>
            <a:r>
              <a:rPr lang="es-419" sz="1100">
                <a:solidFill>
                  <a:srgbClr val="1B1C1D"/>
                </a:solidFill>
              </a:rPr>
              <a:t> o </a:t>
            </a:r>
            <a:r>
              <a:rPr i="1" lang="es-419" sz="1100">
                <a:solidFill>
                  <a:srgbClr val="1B1C1D"/>
                </a:solidFill>
              </a:rPr>
              <a:t>Archive</a:t>
            </a:r>
            <a:r>
              <a:rPr lang="es-419" sz="1100">
                <a:solidFill>
                  <a:srgbClr val="1B1C1D"/>
                </a:solidFill>
              </a:rPr>
              <a:t>.</a:t>
            </a:r>
            <a:endParaRPr sz="1100">
              <a:solidFill>
                <a:srgbClr val="1B1C1D"/>
              </a:solidFill>
            </a:endParaRPr>
          </a:p>
          <a:p>
            <a:pPr indent="-298450" lvl="0" marL="457200" rtl="0" algn="just">
              <a:lnSpc>
                <a:spcPct val="115000"/>
              </a:lnSpc>
              <a:spcBef>
                <a:spcPts val="1000"/>
              </a:spcBef>
              <a:spcAft>
                <a:spcPts val="1000"/>
              </a:spcAft>
              <a:buClr>
                <a:srgbClr val="1B1C1D"/>
              </a:buClr>
              <a:buSzPts val="1100"/>
              <a:buChar char="●"/>
            </a:pPr>
            <a:r>
              <a:rPr b="1" lang="es-419" sz="1100">
                <a:solidFill>
                  <a:srgbClr val="3C78D8"/>
                </a:solidFill>
              </a:rPr>
              <a:t>Impacto:</a:t>
            </a:r>
            <a:r>
              <a:rPr lang="es-419" sz="1100">
                <a:solidFill>
                  <a:srgbClr val="1B1C1D"/>
                </a:solidFill>
              </a:rPr>
              <a:t> Reduce el costo de retención histórica en aproximadamente un 80%, permitiendo guardar años de historia por centavos</a:t>
            </a:r>
            <a:r>
              <a:rPr baseline="30000" lang="es-419" sz="1100">
                <a:solidFill>
                  <a:srgbClr val="444746"/>
                </a:solidFill>
              </a:rPr>
              <a:t>.</a:t>
            </a:r>
            <a:endParaRPr b="1" sz="1100"/>
          </a:p>
        </p:txBody>
      </p:sp>
      <p:pic>
        <p:nvPicPr>
          <p:cNvPr id="195" name="Google Shape;195;p33"/>
          <p:cNvPicPr preferRelativeResize="0"/>
          <p:nvPr/>
        </p:nvPicPr>
        <p:blipFill>
          <a:blip r:embed="rId3">
            <a:alphaModFix/>
          </a:blip>
          <a:stretch>
            <a:fillRect/>
          </a:stretch>
        </p:blipFill>
        <p:spPr>
          <a:xfrm>
            <a:off x="5391075" y="1516750"/>
            <a:ext cx="3112625" cy="3112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4.4. Propuestas de </a:t>
            </a:r>
            <a:r>
              <a:rPr lang="es-419">
                <a:solidFill>
                  <a:schemeClr val="dk1"/>
                </a:solidFill>
              </a:rPr>
              <a:t>Optimización de Costos</a:t>
            </a:r>
            <a:endParaRPr>
              <a:solidFill>
                <a:schemeClr val="dk1"/>
              </a:solidFill>
            </a:endParaRPr>
          </a:p>
        </p:txBody>
      </p:sp>
      <p:sp>
        <p:nvSpPr>
          <p:cNvPr id="201" name="Google Shape;201;p34"/>
          <p:cNvSpPr txBox="1"/>
          <p:nvPr/>
        </p:nvSpPr>
        <p:spPr>
          <a:xfrm>
            <a:off x="989950" y="1400150"/>
            <a:ext cx="3168900" cy="28293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100">
                <a:solidFill>
                  <a:srgbClr val="1B1C1D"/>
                </a:solidFill>
              </a:rPr>
              <a:t>2. Uso de Instancias Spot (Preemptibles) en Dataproc</a:t>
            </a:r>
            <a:endParaRPr b="1" sz="1100">
              <a:solidFill>
                <a:srgbClr val="1B1C1D"/>
              </a:solidFill>
            </a:endParaRPr>
          </a:p>
          <a:p>
            <a:pPr indent="-298450" lvl="0" marL="457200" rtl="0" algn="just">
              <a:lnSpc>
                <a:spcPct val="115000"/>
              </a:lnSpc>
              <a:spcBef>
                <a:spcPts val="600"/>
              </a:spcBef>
              <a:spcAft>
                <a:spcPts val="0"/>
              </a:spcAft>
              <a:buClr>
                <a:srgbClr val="1B1C1D"/>
              </a:buClr>
              <a:buSzPts val="1100"/>
              <a:buChar char="●"/>
            </a:pPr>
            <a:r>
              <a:rPr b="1" lang="es-419" sz="1100">
                <a:solidFill>
                  <a:srgbClr val="A61C00"/>
                </a:solidFill>
              </a:rPr>
              <a:t>Estrategia:</a:t>
            </a:r>
            <a:r>
              <a:rPr lang="es-419" sz="1100">
                <a:solidFill>
                  <a:srgbClr val="1B1C1D"/>
                </a:solidFill>
              </a:rPr>
              <a:t> Aprovechar la capacidad excedente de Google para el procesamiento Batch.</a:t>
            </a:r>
            <a:endParaRPr sz="1100">
              <a:solidFill>
                <a:srgbClr val="1B1C1D"/>
              </a:solidFill>
            </a:endParaRPr>
          </a:p>
          <a:p>
            <a:pPr indent="-298450" lvl="0" marL="457200" rtl="0" algn="just">
              <a:lnSpc>
                <a:spcPct val="115000"/>
              </a:lnSpc>
              <a:spcBef>
                <a:spcPts val="1000"/>
              </a:spcBef>
              <a:spcAft>
                <a:spcPts val="0"/>
              </a:spcAft>
              <a:buClr>
                <a:srgbClr val="1B1C1D"/>
              </a:buClr>
              <a:buSzPts val="1100"/>
              <a:buChar char="●"/>
            </a:pPr>
            <a:r>
              <a:rPr b="1" lang="es-419" sz="1100">
                <a:solidFill>
                  <a:srgbClr val="188038"/>
                </a:solidFill>
              </a:rPr>
              <a:t>Acción:</a:t>
            </a:r>
            <a:r>
              <a:rPr lang="es-419" sz="1100">
                <a:solidFill>
                  <a:srgbClr val="1B1C1D"/>
                </a:solidFill>
              </a:rPr>
              <a:t> Configurar los nodos "workers" del clúster Spark como instancias Preemptibles. Dado que el job D-1 es tolerante a fallos, si un nodo se reclama, el job simplemente reintenta.</a:t>
            </a:r>
            <a:endParaRPr sz="1100">
              <a:solidFill>
                <a:srgbClr val="1B1C1D"/>
              </a:solidFill>
            </a:endParaRPr>
          </a:p>
          <a:p>
            <a:pPr indent="-298450" lvl="0" marL="457200" rtl="0" algn="just">
              <a:lnSpc>
                <a:spcPct val="115000"/>
              </a:lnSpc>
              <a:spcBef>
                <a:spcPts val="1000"/>
              </a:spcBef>
              <a:spcAft>
                <a:spcPts val="1000"/>
              </a:spcAft>
              <a:buClr>
                <a:srgbClr val="1B1C1D"/>
              </a:buClr>
              <a:buSzPts val="1100"/>
              <a:buChar char="●"/>
            </a:pPr>
            <a:r>
              <a:rPr b="1" lang="es-419" sz="1100">
                <a:solidFill>
                  <a:srgbClr val="3C78D8"/>
                </a:solidFill>
              </a:rPr>
              <a:t>Impacto:</a:t>
            </a:r>
            <a:r>
              <a:rPr lang="es-419" sz="1100">
                <a:solidFill>
                  <a:srgbClr val="1B1C1D"/>
                </a:solidFill>
              </a:rPr>
              <a:t> Descuento de hasta un 80% en el costo de cómputo del ETL diario.</a:t>
            </a:r>
            <a:endParaRPr b="1" sz="1000"/>
          </a:p>
        </p:txBody>
      </p:sp>
      <p:sp>
        <p:nvSpPr>
          <p:cNvPr id="202" name="Google Shape;202;p34"/>
          <p:cNvSpPr txBox="1"/>
          <p:nvPr/>
        </p:nvSpPr>
        <p:spPr>
          <a:xfrm>
            <a:off x="4556300" y="1400150"/>
            <a:ext cx="3276600" cy="28293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100">
                <a:solidFill>
                  <a:srgbClr val="1B1C1D"/>
                </a:solidFill>
              </a:rPr>
              <a:t>3. Particionamiento de Tablas en BigQuery</a:t>
            </a:r>
            <a:endParaRPr b="1" sz="1100">
              <a:solidFill>
                <a:srgbClr val="1B1C1D"/>
              </a:solidFill>
            </a:endParaRPr>
          </a:p>
          <a:p>
            <a:pPr indent="-298450" lvl="0" marL="457200" rtl="0" algn="just">
              <a:lnSpc>
                <a:spcPct val="115000"/>
              </a:lnSpc>
              <a:spcBef>
                <a:spcPts val="600"/>
              </a:spcBef>
              <a:spcAft>
                <a:spcPts val="0"/>
              </a:spcAft>
              <a:buClr>
                <a:srgbClr val="1B1C1D"/>
              </a:buClr>
              <a:buSzPts val="1100"/>
              <a:buChar char="●"/>
            </a:pPr>
            <a:r>
              <a:rPr b="1" lang="es-419" sz="1100">
                <a:solidFill>
                  <a:srgbClr val="A61C00"/>
                </a:solidFill>
              </a:rPr>
              <a:t>Estrategia:</a:t>
            </a:r>
            <a:r>
              <a:rPr lang="es-419" sz="1100">
                <a:solidFill>
                  <a:srgbClr val="1B1C1D"/>
                </a:solidFill>
              </a:rPr>
              <a:t> Optimizar el consumo de recursos de las consultas de Power BI.</a:t>
            </a:r>
            <a:endParaRPr sz="1100">
              <a:solidFill>
                <a:srgbClr val="1B1C1D"/>
              </a:solidFill>
            </a:endParaRPr>
          </a:p>
          <a:p>
            <a:pPr indent="-298450" lvl="0" marL="457200" rtl="0" algn="just">
              <a:lnSpc>
                <a:spcPct val="115000"/>
              </a:lnSpc>
              <a:spcBef>
                <a:spcPts val="1000"/>
              </a:spcBef>
              <a:spcAft>
                <a:spcPts val="0"/>
              </a:spcAft>
              <a:buClr>
                <a:srgbClr val="1B1C1D"/>
              </a:buClr>
              <a:buSzPts val="1100"/>
              <a:buChar char="●"/>
            </a:pPr>
            <a:r>
              <a:rPr b="1" lang="es-419" sz="1100">
                <a:solidFill>
                  <a:srgbClr val="188038"/>
                </a:solidFill>
              </a:rPr>
              <a:t>Acción:</a:t>
            </a:r>
            <a:r>
              <a:rPr lang="es-419" sz="1100">
                <a:solidFill>
                  <a:srgbClr val="1B1C1D"/>
                </a:solidFill>
              </a:rPr>
              <a:t> Particionar la tabla </a:t>
            </a:r>
            <a:r>
              <a:rPr lang="es-419" sz="1100">
                <a:solidFill>
                  <a:srgbClr val="444746"/>
                </a:solidFill>
              </a:rPr>
              <a:t>reporte_ventas_d1</a:t>
            </a:r>
            <a:r>
              <a:rPr lang="es-419" sz="1100">
                <a:solidFill>
                  <a:srgbClr val="1B1C1D"/>
                </a:solidFill>
              </a:rPr>
              <a:t> por el campo </a:t>
            </a:r>
            <a:r>
              <a:rPr lang="es-419" sz="1100">
                <a:solidFill>
                  <a:srgbClr val="444746"/>
                </a:solidFill>
              </a:rPr>
              <a:t>Fecha_Creacion_DATE</a:t>
            </a:r>
            <a:r>
              <a:rPr lang="es-419" sz="1100">
                <a:solidFill>
                  <a:srgbClr val="1B1C1D"/>
                </a:solidFill>
              </a:rPr>
              <a:t>.</a:t>
            </a:r>
            <a:endParaRPr sz="1100">
              <a:solidFill>
                <a:srgbClr val="1B1C1D"/>
              </a:solidFill>
            </a:endParaRPr>
          </a:p>
          <a:p>
            <a:pPr indent="-298450" lvl="0" marL="457200" rtl="0" algn="just">
              <a:lnSpc>
                <a:spcPct val="115000"/>
              </a:lnSpc>
              <a:spcBef>
                <a:spcPts val="1000"/>
              </a:spcBef>
              <a:spcAft>
                <a:spcPts val="1000"/>
              </a:spcAft>
              <a:buClr>
                <a:srgbClr val="1B1C1D"/>
              </a:buClr>
              <a:buSzPts val="1100"/>
              <a:buChar char="●"/>
            </a:pPr>
            <a:r>
              <a:rPr b="1" lang="es-419" sz="1100">
                <a:solidFill>
                  <a:srgbClr val="3C78D8"/>
                </a:solidFill>
              </a:rPr>
              <a:t>Impacto:</a:t>
            </a:r>
            <a:r>
              <a:rPr lang="es-419" sz="1100">
                <a:solidFill>
                  <a:srgbClr val="1B1C1D"/>
                </a:solidFill>
              </a:rPr>
              <a:t> Cuando un usuario filtre el dashboard por "Último Mes", BigQuery solo procesará (y cobrará) por esa partición específica, ignorando el resto del historial. Esto reduce el costo de las consultas de Power BI en un 99%.</a:t>
            </a:r>
            <a:endParaRPr b="1"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GRACIAS POR SU ATENCIÓN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