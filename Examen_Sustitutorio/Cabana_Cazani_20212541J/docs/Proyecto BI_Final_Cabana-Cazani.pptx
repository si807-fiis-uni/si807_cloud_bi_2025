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Bold" charset="1" panose="00000800000000000000"/>
      <p:regular r:id="rId17"/>
    </p:embeddedFont>
    <p:embeddedFont>
      <p:font typeface="Montserrat"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00" Target="../media/image105.png" Type="http://schemas.openxmlformats.org/officeDocument/2006/relationships/image"/><Relationship Id="rId101" Target="../media/image106.svg" Type="http://schemas.openxmlformats.org/officeDocument/2006/relationships/image"/><Relationship Id="rId102" Target="../media/image107.png" Type="http://schemas.openxmlformats.org/officeDocument/2006/relationships/image"/><Relationship Id="rId103" Target="../media/image108.svg" Type="http://schemas.openxmlformats.org/officeDocument/2006/relationships/image"/><Relationship Id="rId104" Target="../media/image109.png" Type="http://schemas.openxmlformats.org/officeDocument/2006/relationships/image"/><Relationship Id="rId105" Target="../media/image110.svg" Type="http://schemas.openxmlformats.org/officeDocument/2006/relationships/image"/><Relationship Id="rId106" Target="../media/image111.png" Type="http://schemas.openxmlformats.org/officeDocument/2006/relationships/image"/><Relationship Id="rId107" Target="../media/image112.sv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16" Target="../media/image21.png" Type="http://schemas.openxmlformats.org/officeDocument/2006/relationships/image"/><Relationship Id="rId17" Target="../media/image22.svg" Type="http://schemas.openxmlformats.org/officeDocument/2006/relationships/image"/><Relationship Id="rId18" Target="../media/image23.png" Type="http://schemas.openxmlformats.org/officeDocument/2006/relationships/image"/><Relationship Id="rId19" Target="../media/image24.svg" Type="http://schemas.openxmlformats.org/officeDocument/2006/relationships/image"/><Relationship Id="rId2" Target="../media/image7.png" Type="http://schemas.openxmlformats.org/officeDocument/2006/relationships/image"/><Relationship Id="rId20" Target="../media/image25.png" Type="http://schemas.openxmlformats.org/officeDocument/2006/relationships/image"/><Relationship Id="rId21" Target="../media/image26.svg" Type="http://schemas.openxmlformats.org/officeDocument/2006/relationships/image"/><Relationship Id="rId22" Target="../media/image27.png" Type="http://schemas.openxmlformats.org/officeDocument/2006/relationships/image"/><Relationship Id="rId23" Target="../media/image28.svg" Type="http://schemas.openxmlformats.org/officeDocument/2006/relationships/image"/><Relationship Id="rId24" Target="../media/image29.png" Type="http://schemas.openxmlformats.org/officeDocument/2006/relationships/image"/><Relationship Id="rId25" Target="../media/image30.svg" Type="http://schemas.openxmlformats.org/officeDocument/2006/relationships/image"/><Relationship Id="rId26" Target="../media/image31.png" Type="http://schemas.openxmlformats.org/officeDocument/2006/relationships/image"/><Relationship Id="rId27" Target="../media/image32.svg" Type="http://schemas.openxmlformats.org/officeDocument/2006/relationships/image"/><Relationship Id="rId28" Target="../media/image33.png" Type="http://schemas.openxmlformats.org/officeDocument/2006/relationships/image"/><Relationship Id="rId29" Target="../media/image34.svg" Type="http://schemas.openxmlformats.org/officeDocument/2006/relationships/image"/><Relationship Id="rId3" Target="../media/image8.svg" Type="http://schemas.openxmlformats.org/officeDocument/2006/relationships/image"/><Relationship Id="rId30" Target="../media/image35.png" Type="http://schemas.openxmlformats.org/officeDocument/2006/relationships/image"/><Relationship Id="rId31" Target="../media/image36.svg" Type="http://schemas.openxmlformats.org/officeDocument/2006/relationships/image"/><Relationship Id="rId32" Target="../media/image37.png" Type="http://schemas.openxmlformats.org/officeDocument/2006/relationships/image"/><Relationship Id="rId33" Target="../media/image38.svg" Type="http://schemas.openxmlformats.org/officeDocument/2006/relationships/image"/><Relationship Id="rId34" Target="../media/image39.png" Type="http://schemas.openxmlformats.org/officeDocument/2006/relationships/image"/><Relationship Id="rId35" Target="../media/image40.svg" Type="http://schemas.openxmlformats.org/officeDocument/2006/relationships/image"/><Relationship Id="rId36" Target="../media/image41.png" Type="http://schemas.openxmlformats.org/officeDocument/2006/relationships/image"/><Relationship Id="rId37" Target="../media/image42.svg" Type="http://schemas.openxmlformats.org/officeDocument/2006/relationships/image"/><Relationship Id="rId38" Target="../media/image43.png" Type="http://schemas.openxmlformats.org/officeDocument/2006/relationships/image"/><Relationship Id="rId39" Target="../media/image44.svg" Type="http://schemas.openxmlformats.org/officeDocument/2006/relationships/image"/><Relationship Id="rId4" Target="../media/image9.png" Type="http://schemas.openxmlformats.org/officeDocument/2006/relationships/image"/><Relationship Id="rId40" Target="../media/image45.png" Type="http://schemas.openxmlformats.org/officeDocument/2006/relationships/image"/><Relationship Id="rId41" Target="../media/image46.svg" Type="http://schemas.openxmlformats.org/officeDocument/2006/relationships/image"/><Relationship Id="rId42" Target="../media/image47.png" Type="http://schemas.openxmlformats.org/officeDocument/2006/relationships/image"/><Relationship Id="rId43" Target="../media/image48.svg" Type="http://schemas.openxmlformats.org/officeDocument/2006/relationships/image"/><Relationship Id="rId44" Target="../media/image49.png" Type="http://schemas.openxmlformats.org/officeDocument/2006/relationships/image"/><Relationship Id="rId45" Target="../media/image50.svg" Type="http://schemas.openxmlformats.org/officeDocument/2006/relationships/image"/><Relationship Id="rId46" Target="../media/image51.png" Type="http://schemas.openxmlformats.org/officeDocument/2006/relationships/image"/><Relationship Id="rId47" Target="../media/image52.svg" Type="http://schemas.openxmlformats.org/officeDocument/2006/relationships/image"/><Relationship Id="rId48" Target="../media/image53.png" Type="http://schemas.openxmlformats.org/officeDocument/2006/relationships/image"/><Relationship Id="rId49" Target="../media/image54.svg" Type="http://schemas.openxmlformats.org/officeDocument/2006/relationships/image"/><Relationship Id="rId5" Target="../media/image10.svg" Type="http://schemas.openxmlformats.org/officeDocument/2006/relationships/image"/><Relationship Id="rId50" Target="../media/image55.png" Type="http://schemas.openxmlformats.org/officeDocument/2006/relationships/image"/><Relationship Id="rId51" Target="../media/image56.svg" Type="http://schemas.openxmlformats.org/officeDocument/2006/relationships/image"/><Relationship Id="rId52" Target="../media/image57.png" Type="http://schemas.openxmlformats.org/officeDocument/2006/relationships/image"/><Relationship Id="rId53" Target="../media/image58.svg" Type="http://schemas.openxmlformats.org/officeDocument/2006/relationships/image"/><Relationship Id="rId54" Target="../media/image59.png" Type="http://schemas.openxmlformats.org/officeDocument/2006/relationships/image"/><Relationship Id="rId55" Target="../media/image60.svg" Type="http://schemas.openxmlformats.org/officeDocument/2006/relationships/image"/><Relationship Id="rId56" Target="../media/image61.png" Type="http://schemas.openxmlformats.org/officeDocument/2006/relationships/image"/><Relationship Id="rId57" Target="../media/image62.svg" Type="http://schemas.openxmlformats.org/officeDocument/2006/relationships/image"/><Relationship Id="rId58" Target="../media/image63.png" Type="http://schemas.openxmlformats.org/officeDocument/2006/relationships/image"/><Relationship Id="rId59" Target="../media/image64.svg" Type="http://schemas.openxmlformats.org/officeDocument/2006/relationships/image"/><Relationship Id="rId6" Target="../media/image11.png" Type="http://schemas.openxmlformats.org/officeDocument/2006/relationships/image"/><Relationship Id="rId60" Target="../media/image65.png" Type="http://schemas.openxmlformats.org/officeDocument/2006/relationships/image"/><Relationship Id="rId61" Target="../media/image66.svg" Type="http://schemas.openxmlformats.org/officeDocument/2006/relationships/image"/><Relationship Id="rId62" Target="../media/image67.png" Type="http://schemas.openxmlformats.org/officeDocument/2006/relationships/image"/><Relationship Id="rId63" Target="../media/image68.svg" Type="http://schemas.openxmlformats.org/officeDocument/2006/relationships/image"/><Relationship Id="rId64" Target="../media/image69.png" Type="http://schemas.openxmlformats.org/officeDocument/2006/relationships/image"/><Relationship Id="rId65" Target="../media/image70.svg" Type="http://schemas.openxmlformats.org/officeDocument/2006/relationships/image"/><Relationship Id="rId66" Target="../media/image71.png" Type="http://schemas.openxmlformats.org/officeDocument/2006/relationships/image"/><Relationship Id="rId67" Target="../media/image72.svg" Type="http://schemas.openxmlformats.org/officeDocument/2006/relationships/image"/><Relationship Id="rId68" Target="../media/image73.png" Type="http://schemas.openxmlformats.org/officeDocument/2006/relationships/image"/><Relationship Id="rId69" Target="../media/image74.svg" Type="http://schemas.openxmlformats.org/officeDocument/2006/relationships/image"/><Relationship Id="rId7" Target="../media/image12.svg" Type="http://schemas.openxmlformats.org/officeDocument/2006/relationships/image"/><Relationship Id="rId70" Target="../media/image75.png" Type="http://schemas.openxmlformats.org/officeDocument/2006/relationships/image"/><Relationship Id="rId71" Target="../media/image76.svg" Type="http://schemas.openxmlformats.org/officeDocument/2006/relationships/image"/><Relationship Id="rId72" Target="../media/image77.png" Type="http://schemas.openxmlformats.org/officeDocument/2006/relationships/image"/><Relationship Id="rId73" Target="../media/image78.svg" Type="http://schemas.openxmlformats.org/officeDocument/2006/relationships/image"/><Relationship Id="rId74" Target="../media/image79.png" Type="http://schemas.openxmlformats.org/officeDocument/2006/relationships/image"/><Relationship Id="rId75" Target="../media/image80.svg" Type="http://schemas.openxmlformats.org/officeDocument/2006/relationships/image"/><Relationship Id="rId76" Target="../media/image81.png" Type="http://schemas.openxmlformats.org/officeDocument/2006/relationships/image"/><Relationship Id="rId77" Target="../media/image82.svg" Type="http://schemas.openxmlformats.org/officeDocument/2006/relationships/image"/><Relationship Id="rId78" Target="../media/image83.png" Type="http://schemas.openxmlformats.org/officeDocument/2006/relationships/image"/><Relationship Id="rId79" Target="../media/image84.svg" Type="http://schemas.openxmlformats.org/officeDocument/2006/relationships/image"/><Relationship Id="rId8" Target="../media/image13.png" Type="http://schemas.openxmlformats.org/officeDocument/2006/relationships/image"/><Relationship Id="rId80" Target="../media/image85.png" Type="http://schemas.openxmlformats.org/officeDocument/2006/relationships/image"/><Relationship Id="rId81" Target="../media/image86.svg" Type="http://schemas.openxmlformats.org/officeDocument/2006/relationships/image"/><Relationship Id="rId82" Target="../media/image87.png" Type="http://schemas.openxmlformats.org/officeDocument/2006/relationships/image"/><Relationship Id="rId83" Target="../media/image88.svg" Type="http://schemas.openxmlformats.org/officeDocument/2006/relationships/image"/><Relationship Id="rId84" Target="../media/image89.png" Type="http://schemas.openxmlformats.org/officeDocument/2006/relationships/image"/><Relationship Id="rId85" Target="../media/image90.svg" Type="http://schemas.openxmlformats.org/officeDocument/2006/relationships/image"/><Relationship Id="rId86" Target="../media/image91.png" Type="http://schemas.openxmlformats.org/officeDocument/2006/relationships/image"/><Relationship Id="rId87" Target="../media/image92.svg" Type="http://schemas.openxmlformats.org/officeDocument/2006/relationships/image"/><Relationship Id="rId88" Target="../media/image93.png" Type="http://schemas.openxmlformats.org/officeDocument/2006/relationships/image"/><Relationship Id="rId89" Target="../media/image94.svg" Type="http://schemas.openxmlformats.org/officeDocument/2006/relationships/image"/><Relationship Id="rId9" Target="../media/image14.svg" Type="http://schemas.openxmlformats.org/officeDocument/2006/relationships/image"/><Relationship Id="rId90" Target="../media/image95.png" Type="http://schemas.openxmlformats.org/officeDocument/2006/relationships/image"/><Relationship Id="rId91" Target="../media/image96.svg" Type="http://schemas.openxmlformats.org/officeDocument/2006/relationships/image"/><Relationship Id="rId92" Target="../media/image97.png" Type="http://schemas.openxmlformats.org/officeDocument/2006/relationships/image"/><Relationship Id="rId93" Target="../media/image98.svg" Type="http://schemas.openxmlformats.org/officeDocument/2006/relationships/image"/><Relationship Id="rId94" Target="../media/image99.png" Type="http://schemas.openxmlformats.org/officeDocument/2006/relationships/image"/><Relationship Id="rId95" Target="../media/image100.svg" Type="http://schemas.openxmlformats.org/officeDocument/2006/relationships/image"/><Relationship Id="rId96" Target="../media/image101.png" Type="http://schemas.openxmlformats.org/officeDocument/2006/relationships/image"/><Relationship Id="rId97" Target="../media/image102.svg" Type="http://schemas.openxmlformats.org/officeDocument/2006/relationships/image"/><Relationship Id="rId98" Target="../media/image103.png" Type="http://schemas.openxmlformats.org/officeDocument/2006/relationships/image"/><Relationship Id="rId99" Target="../media/image10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98322">
            <a:off x="14309125" y="-4398084"/>
            <a:ext cx="8774178" cy="8796169"/>
          </a:xfrm>
          <a:custGeom>
            <a:avLst/>
            <a:gdLst/>
            <a:ahLst/>
            <a:cxnLst/>
            <a:rect r="r" b="b" t="t" l="l"/>
            <a:pathLst>
              <a:path h="8796169" w="8774178">
                <a:moveTo>
                  <a:pt x="0" y="0"/>
                </a:moveTo>
                <a:lnTo>
                  <a:pt x="8774178" y="0"/>
                </a:lnTo>
                <a:lnTo>
                  <a:pt x="8774178" y="8796168"/>
                </a:lnTo>
                <a:lnTo>
                  <a:pt x="0" y="8796168"/>
                </a:lnTo>
                <a:lnTo>
                  <a:pt x="0" y="0"/>
                </a:lnTo>
                <a:close/>
              </a:path>
            </a:pathLst>
          </a:custGeom>
          <a:blipFill>
            <a:blip r:embed="rId2"/>
            <a:stretch>
              <a:fillRect l="0" t="0" r="0" b="0"/>
            </a:stretch>
          </a:blipFill>
        </p:spPr>
      </p:sp>
      <p:grpSp>
        <p:nvGrpSpPr>
          <p:cNvPr name="Group 3" id="3"/>
          <p:cNvGrpSpPr/>
          <p:nvPr/>
        </p:nvGrpSpPr>
        <p:grpSpPr>
          <a:xfrm rot="0">
            <a:off x="10463626" y="1621617"/>
            <a:ext cx="753561" cy="7535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l="0" r="100000" t="0" b="100000"/>
              </a:path>
              <a:tileRect r="0" l="-100000" b="0" t="-10000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028700" y="2222778"/>
            <a:ext cx="14219991" cy="2787649"/>
          </a:xfrm>
          <a:prstGeom prst="rect">
            <a:avLst/>
          </a:prstGeom>
        </p:spPr>
        <p:txBody>
          <a:bodyPr anchor="t" rtlCol="false" tIns="0" lIns="0" bIns="0" rIns="0">
            <a:spAutoFit/>
          </a:bodyPr>
          <a:lstStyle/>
          <a:p>
            <a:pPr algn="l">
              <a:lnSpc>
                <a:spcPts val="11200"/>
              </a:lnSpc>
              <a:spcBef>
                <a:spcPct val="0"/>
              </a:spcBef>
            </a:pPr>
            <a:r>
              <a:rPr lang="en-US" sz="8000" b="true">
                <a:solidFill>
                  <a:srgbClr val="000000"/>
                </a:solidFill>
                <a:latin typeface="Montserrat Bold"/>
                <a:ea typeface="Montserrat Bold"/>
                <a:cs typeface="Montserrat Bold"/>
                <a:sym typeface="Montserrat Bold"/>
              </a:rPr>
              <a:t>Proyecto BI: Análisis de Admisión CEPRE-UNI </a:t>
            </a:r>
          </a:p>
        </p:txBody>
      </p:sp>
      <p:grpSp>
        <p:nvGrpSpPr>
          <p:cNvPr name="Group 7" id="7"/>
          <p:cNvGrpSpPr/>
          <p:nvPr/>
        </p:nvGrpSpPr>
        <p:grpSpPr>
          <a:xfrm rot="0">
            <a:off x="14778711" y="7667323"/>
            <a:ext cx="1578921" cy="157892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l="0" r="100000" t="0" b="100000"/>
              </a:path>
              <a:tileRect r="0" l="-100000" b="0" t="-10000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028700" y="5739813"/>
            <a:ext cx="7173539" cy="1135154"/>
          </a:xfrm>
          <a:prstGeom prst="rect">
            <a:avLst/>
          </a:prstGeom>
        </p:spPr>
        <p:txBody>
          <a:bodyPr anchor="t" rtlCol="false" tIns="0" lIns="0" bIns="0" rIns="0">
            <a:spAutoFit/>
          </a:bodyPr>
          <a:lstStyle/>
          <a:p>
            <a:pPr algn="l">
              <a:lnSpc>
                <a:spcPts val="4632"/>
              </a:lnSpc>
            </a:pPr>
            <a:r>
              <a:rPr lang="en-US" sz="3308" b="true">
                <a:solidFill>
                  <a:srgbClr val="000000"/>
                </a:solidFill>
                <a:latin typeface="Montserrat Bold"/>
                <a:ea typeface="Montserrat Bold"/>
                <a:cs typeface="Montserrat Bold"/>
                <a:sym typeface="Montserrat Bold"/>
              </a:rPr>
              <a:t>Alumno:</a:t>
            </a:r>
            <a:r>
              <a:rPr lang="en-US" sz="3308">
                <a:solidFill>
                  <a:srgbClr val="000000"/>
                </a:solidFill>
                <a:latin typeface="Montserrat"/>
                <a:ea typeface="Montserrat"/>
                <a:cs typeface="Montserrat"/>
                <a:sym typeface="Montserrat"/>
              </a:rPr>
              <a:t> Cabana Cazani Gabriel</a:t>
            </a:r>
          </a:p>
          <a:p>
            <a:pPr algn="l">
              <a:lnSpc>
                <a:spcPts val="4632"/>
              </a:lnSpc>
              <a:spcBef>
                <a:spcPct val="0"/>
              </a:spcBef>
            </a:pPr>
            <a:r>
              <a:rPr lang="en-US" sz="3308" b="true">
                <a:solidFill>
                  <a:srgbClr val="000000"/>
                </a:solidFill>
                <a:latin typeface="Montserrat Bold"/>
                <a:ea typeface="Montserrat Bold"/>
                <a:cs typeface="Montserrat Bold"/>
                <a:sym typeface="Montserrat Bold"/>
              </a:rPr>
              <a:t>Código:</a:t>
            </a:r>
            <a:r>
              <a:rPr lang="en-US" sz="3308">
                <a:solidFill>
                  <a:srgbClr val="000000"/>
                </a:solidFill>
                <a:latin typeface="Montserrat"/>
                <a:ea typeface="Montserrat"/>
                <a:cs typeface="Montserrat"/>
                <a:sym typeface="Montserrat"/>
              </a:rPr>
              <a:t> 20212541J</a:t>
            </a:r>
          </a:p>
        </p:txBody>
      </p:sp>
      <p:sp>
        <p:nvSpPr>
          <p:cNvPr name="Freeform 11" id="11"/>
          <p:cNvSpPr/>
          <p:nvPr/>
        </p:nvSpPr>
        <p:spPr>
          <a:xfrm flipH="false" flipV="false" rot="0">
            <a:off x="674579" y="589046"/>
            <a:ext cx="708243" cy="879308"/>
          </a:xfrm>
          <a:custGeom>
            <a:avLst/>
            <a:gdLst/>
            <a:ahLst/>
            <a:cxnLst/>
            <a:rect r="r" b="b" t="t" l="l"/>
            <a:pathLst>
              <a:path h="879308" w="708243">
                <a:moveTo>
                  <a:pt x="0" y="0"/>
                </a:moveTo>
                <a:lnTo>
                  <a:pt x="708242" y="0"/>
                </a:lnTo>
                <a:lnTo>
                  <a:pt x="708242" y="879308"/>
                </a:lnTo>
                <a:lnTo>
                  <a:pt x="0" y="879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83117" y="2107947"/>
            <a:ext cx="8397219" cy="1246488"/>
          </a:xfrm>
          <a:prstGeom prst="rect">
            <a:avLst/>
          </a:prstGeom>
        </p:spPr>
        <p:txBody>
          <a:bodyPr anchor="t" rtlCol="false" tIns="0" lIns="0" bIns="0" rIns="0">
            <a:spAutoFit/>
          </a:bodyPr>
          <a:lstStyle/>
          <a:p>
            <a:pPr algn="l" marL="0" indent="0" lvl="0">
              <a:lnSpc>
                <a:spcPts val="10276"/>
              </a:lnSpc>
              <a:spcBef>
                <a:spcPct val="0"/>
              </a:spcBef>
            </a:pPr>
            <a:r>
              <a:rPr lang="en-US" b="true" sz="7340">
                <a:solidFill>
                  <a:srgbClr val="000000"/>
                </a:solidFill>
                <a:latin typeface="Montserrat Bold"/>
                <a:ea typeface="Montserrat Bold"/>
                <a:cs typeface="Montserrat Bold"/>
                <a:sym typeface="Montserrat Bold"/>
              </a:rPr>
              <a:t>Problema</a:t>
            </a:r>
          </a:p>
        </p:txBody>
      </p:sp>
      <p:sp>
        <p:nvSpPr>
          <p:cNvPr name="TextBox 3" id="3"/>
          <p:cNvSpPr txBox="true"/>
          <p:nvPr/>
        </p:nvSpPr>
        <p:spPr>
          <a:xfrm rot="0">
            <a:off x="449255" y="3592940"/>
            <a:ext cx="8694745" cy="4814103"/>
          </a:xfrm>
          <a:prstGeom prst="rect">
            <a:avLst/>
          </a:prstGeom>
        </p:spPr>
        <p:txBody>
          <a:bodyPr anchor="t" rtlCol="false" tIns="0" lIns="0" bIns="0" rIns="0">
            <a:spAutoFit/>
          </a:bodyPr>
          <a:lstStyle/>
          <a:p>
            <a:pPr algn="l" marL="0" indent="0" lvl="0">
              <a:lnSpc>
                <a:spcPts val="2930"/>
              </a:lnSpc>
              <a:spcBef>
                <a:spcPct val="0"/>
              </a:spcBef>
            </a:pP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Silos de Información</a:t>
            </a:r>
            <a:r>
              <a:rPr lang="en-US" sz="2093" strike="noStrike" u="none">
                <a:solidFill>
                  <a:srgbClr val="101010"/>
                </a:solidFill>
                <a:latin typeface="Montserrat"/>
                <a:ea typeface="Montserrat"/>
                <a:cs typeface="Montserrat"/>
                <a:sym typeface="Montserrat"/>
              </a:rPr>
              <a:t>: Los datos se encuentran en archivos planos (CSV) dispersos, lo que dificulta un análisis transversal y rápido.</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Falta de Calidad de Datos:</a:t>
            </a:r>
            <a:r>
              <a:rPr lang="en-US" sz="2093" strike="noStrike" u="none">
                <a:solidFill>
                  <a:srgbClr val="101010"/>
                </a:solidFill>
                <a:latin typeface="Montserrat"/>
                <a:ea typeface="Montserrat"/>
                <a:cs typeface="Montserrat"/>
                <a:sym typeface="Montserrat"/>
              </a:rPr>
              <a:t> La presencia de registros duplicados, inconsistencias en nombres de colegios y formatos de puntajes erróneos impiden obtener métricas confiables de manera directa.</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Inexistencia de una Capa Analítica</a:t>
            </a:r>
            <a:r>
              <a:rPr lang="en-US" sz="2093" strike="noStrike" u="none">
                <a:solidFill>
                  <a:srgbClr val="101010"/>
                </a:solidFill>
                <a:latin typeface="Montserrat"/>
                <a:ea typeface="Montserrat"/>
                <a:cs typeface="Montserrat"/>
                <a:sym typeface="Montserrat"/>
              </a:rPr>
              <a:t>: No se cuenta con un Modelo Dimensional que permita cruzar variables críticas, como la procedencia geográfica del alumno con su rendimiento por carrera, en tiempo real.</a:t>
            </a:r>
          </a:p>
          <a:p>
            <a:pPr algn="l" marL="0" indent="0" lvl="0">
              <a:lnSpc>
                <a:spcPts val="2930"/>
              </a:lnSpc>
              <a:spcBef>
                <a:spcPct val="0"/>
              </a:spcBef>
            </a:pPr>
          </a:p>
        </p:txBody>
      </p:sp>
      <p:sp>
        <p:nvSpPr>
          <p:cNvPr name="TextBox 4" id="4"/>
          <p:cNvSpPr txBox="true"/>
          <p:nvPr/>
        </p:nvSpPr>
        <p:spPr>
          <a:xfrm rot="0">
            <a:off x="9580335" y="3687811"/>
            <a:ext cx="8266371" cy="5185578"/>
          </a:xfrm>
          <a:prstGeom prst="rect">
            <a:avLst/>
          </a:prstGeom>
        </p:spPr>
        <p:txBody>
          <a:bodyPr anchor="t" rtlCol="false" tIns="0" lIns="0" bIns="0" rIns="0">
            <a:spAutoFit/>
          </a:bodyPr>
          <a:lstStyle/>
          <a:p>
            <a:pPr algn="l" marL="0" indent="0" lvl="0">
              <a:lnSpc>
                <a:spcPts val="2930"/>
              </a:lnSpc>
              <a:spcBef>
                <a:spcPct val="0"/>
              </a:spcBef>
            </a:pPr>
            <a:r>
              <a:rPr lang="en-US" sz="2093">
                <a:solidFill>
                  <a:srgbClr val="101010"/>
                </a:solidFill>
                <a:latin typeface="Montserrat"/>
                <a:ea typeface="Montserrat"/>
                <a:cs typeface="Montserrat"/>
                <a:sym typeface="Montserrat"/>
              </a:rPr>
              <a:t>El </a:t>
            </a:r>
            <a:r>
              <a:rPr lang="en-US" sz="2093" strike="noStrike" u="none">
                <a:solidFill>
                  <a:srgbClr val="101010"/>
                </a:solidFill>
                <a:latin typeface="Montserrat"/>
                <a:ea typeface="Montserrat"/>
                <a:cs typeface="Montserrat"/>
                <a:sym typeface="Montserrat"/>
              </a:rPr>
              <a:t>objetivo principal es implementar una arquitectura de  local para transformar los datos crudos en información estratégica mediante las siguientes acciones:</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Implementar un Proceso ETL Distribuido</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Estructurar un Almacén de Datos (Data Warehouse):</a:t>
            </a:r>
            <a:r>
              <a:rPr lang="en-US" sz="2093" strike="noStrike" u="none">
                <a:solidFill>
                  <a:srgbClr val="101010"/>
                </a:solidFill>
                <a:latin typeface="Montserrat"/>
                <a:ea typeface="Montserrat"/>
                <a:cs typeface="Montserrat"/>
                <a:sym typeface="Montserrat"/>
              </a:rPr>
              <a:t> Diseñar y cargar un Esquema Estrella en Apache Hive (Base de Datos: db_cepreuni1), permitiendo consultas SQL eficientes sobre tablas de hechos y dimensiones.</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Automatizar KPIs de Gestión</a:t>
            </a:r>
            <a:r>
              <a:rPr lang="en-US" sz="2093" strike="noStrike" u="none">
                <a:solidFill>
                  <a:srgbClr val="101010"/>
                </a:solidFill>
                <a:latin typeface="Montserrat"/>
                <a:ea typeface="Montserrat"/>
                <a:cs typeface="Montserrat"/>
                <a:sym typeface="Montserrat"/>
              </a:rPr>
              <a:t>: Generar tablas de reporte agregadas (curated) que calculen automáticamente indicadores como la tasa de ingreso, puntajes máximos y rankings de colegios.</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Desplegar Visualización Interactiva</a:t>
            </a:r>
          </a:p>
          <a:p>
            <a:pPr algn="l" marL="0" indent="0" lvl="0">
              <a:lnSpc>
                <a:spcPts val="2930"/>
              </a:lnSpc>
              <a:spcBef>
                <a:spcPct val="0"/>
              </a:spcBef>
            </a:pPr>
          </a:p>
        </p:txBody>
      </p:sp>
      <p:grpSp>
        <p:nvGrpSpPr>
          <p:cNvPr name="Group 5" id="5"/>
          <p:cNvGrpSpPr/>
          <p:nvPr/>
        </p:nvGrpSpPr>
        <p:grpSpPr>
          <a:xfrm rot="0">
            <a:off x="0" y="0"/>
            <a:ext cx="18288000" cy="1874361"/>
            <a:chOff x="0" y="0"/>
            <a:chExt cx="9414331" cy="964887"/>
          </a:xfrm>
        </p:grpSpPr>
        <p:sp>
          <p:nvSpPr>
            <p:cNvPr name="Freeform 6" id="6"/>
            <p:cNvSpPr/>
            <p:nvPr/>
          </p:nvSpPr>
          <p:spPr>
            <a:xfrm flipH="false" flipV="false" rot="0">
              <a:off x="0" y="0"/>
              <a:ext cx="9414331" cy="964887"/>
            </a:xfrm>
            <a:custGeom>
              <a:avLst/>
              <a:gdLst/>
              <a:ahLst/>
              <a:cxnLst/>
              <a:rect r="r" b="b" t="t" l="l"/>
              <a:pathLst>
                <a:path h="964887" w="9414331">
                  <a:moveTo>
                    <a:pt x="0" y="0"/>
                  </a:moveTo>
                  <a:lnTo>
                    <a:pt x="9414331" y="0"/>
                  </a:lnTo>
                  <a:lnTo>
                    <a:pt x="9414331" y="964887"/>
                  </a:lnTo>
                  <a:lnTo>
                    <a:pt x="0" y="964887"/>
                  </a:lnTo>
                  <a:close/>
                </a:path>
              </a:pathLst>
            </a:custGeom>
            <a:gradFill rotWithShape="true">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l="0" r="100000" t="0" b="100000"/>
              </a:path>
              <a:tileRect r="0" l="-100000" b="0" t="-100000"/>
            </a:gradFill>
          </p:spPr>
        </p:sp>
        <p:sp>
          <p:nvSpPr>
            <p:cNvPr name="TextBox 7" id="7"/>
            <p:cNvSpPr txBox="true"/>
            <p:nvPr/>
          </p:nvSpPr>
          <p:spPr>
            <a:xfrm>
              <a:off x="0" y="-38100"/>
              <a:ext cx="9414331" cy="1002987"/>
            </a:xfrm>
            <a:prstGeom prst="rect">
              <a:avLst/>
            </a:prstGeom>
          </p:spPr>
          <p:txBody>
            <a:bodyPr anchor="ctr" rtlCol="false" tIns="50800" lIns="50800" bIns="50800" rIns="50800"/>
            <a:lstStyle/>
            <a:p>
              <a:pPr algn="ctr">
                <a:lnSpc>
                  <a:spcPts val="2659"/>
                </a:lnSpc>
                <a:spcBef>
                  <a:spcPct val="0"/>
                </a:spcBef>
              </a:pPr>
            </a:p>
          </p:txBody>
        </p:sp>
      </p:grpSp>
      <p:sp>
        <p:nvSpPr>
          <p:cNvPr name="AutoShape 8" id="8"/>
          <p:cNvSpPr/>
          <p:nvPr/>
        </p:nvSpPr>
        <p:spPr>
          <a:xfrm>
            <a:off x="9163050" y="4563732"/>
            <a:ext cx="0" cy="3843312"/>
          </a:xfrm>
          <a:prstGeom prst="line">
            <a:avLst/>
          </a:prstGeom>
          <a:ln cap="flat" w="38100">
            <a:solidFill>
              <a:srgbClr val="000000"/>
            </a:solidFill>
            <a:prstDash val="solid"/>
            <a:headEnd type="none" len="sm" w="sm"/>
            <a:tailEnd type="none" len="sm" w="sm"/>
          </a:ln>
        </p:spPr>
      </p:sp>
      <p:sp>
        <p:nvSpPr>
          <p:cNvPr name="TextBox 9" id="9"/>
          <p:cNvSpPr txBox="true"/>
          <p:nvPr/>
        </p:nvSpPr>
        <p:spPr>
          <a:xfrm rot="0">
            <a:off x="10607304" y="2107947"/>
            <a:ext cx="8397219" cy="1246488"/>
          </a:xfrm>
          <a:prstGeom prst="rect">
            <a:avLst/>
          </a:prstGeom>
        </p:spPr>
        <p:txBody>
          <a:bodyPr anchor="t" rtlCol="false" tIns="0" lIns="0" bIns="0" rIns="0">
            <a:spAutoFit/>
          </a:bodyPr>
          <a:lstStyle/>
          <a:p>
            <a:pPr algn="l" marL="0" indent="0" lvl="0">
              <a:lnSpc>
                <a:spcPts val="10276"/>
              </a:lnSpc>
              <a:spcBef>
                <a:spcPct val="0"/>
              </a:spcBef>
            </a:pPr>
            <a:r>
              <a:rPr lang="en-US" b="true" sz="7340">
                <a:solidFill>
                  <a:srgbClr val="000000"/>
                </a:solidFill>
                <a:latin typeface="Montserrat Bold"/>
                <a:ea typeface="Montserrat Bold"/>
                <a:cs typeface="Montserrat Bold"/>
                <a:sym typeface="Montserrat Bold"/>
              </a:rPr>
              <a:t>Objetivo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9255" y="4082797"/>
            <a:ext cx="8694745" cy="2956728"/>
          </a:xfrm>
          <a:prstGeom prst="rect">
            <a:avLst/>
          </a:prstGeom>
        </p:spPr>
        <p:txBody>
          <a:bodyPr anchor="t" rtlCol="false" tIns="0" lIns="0" bIns="0" rIns="0">
            <a:spAutoFit/>
          </a:bodyPr>
          <a:lstStyle/>
          <a:p>
            <a:pPr algn="l" marL="451962" indent="-225981" lvl="1">
              <a:lnSpc>
                <a:spcPts val="2930"/>
              </a:lnSpc>
              <a:spcBef>
                <a:spcPct val="0"/>
              </a:spcBef>
              <a:buFont typeface="Arial"/>
              <a:buChar char="•"/>
            </a:pPr>
            <a:r>
              <a:rPr lang="en-US" b="true" sz="2093">
                <a:solidFill>
                  <a:srgbClr val="101010"/>
                </a:solidFill>
                <a:latin typeface="Montserrat Bold"/>
                <a:ea typeface="Montserrat Bold"/>
                <a:cs typeface="Montserrat Bold"/>
                <a:sym typeface="Montserrat Bold"/>
              </a:rPr>
              <a:t>Or</a:t>
            </a:r>
            <a:r>
              <a:rPr lang="en-US" b="true" sz="2093">
                <a:solidFill>
                  <a:srgbClr val="101010"/>
                </a:solidFill>
                <a:latin typeface="Montserrat Bold"/>
                <a:ea typeface="Montserrat Bold"/>
                <a:cs typeface="Montserrat Bold"/>
                <a:sym typeface="Montserrat Bold"/>
              </a:rPr>
              <a:t>i</a:t>
            </a:r>
            <a:r>
              <a:rPr lang="en-US" b="true" sz="2093" strike="noStrike" u="none">
                <a:solidFill>
                  <a:srgbClr val="101010"/>
                </a:solidFill>
                <a:latin typeface="Montserrat Bold"/>
                <a:ea typeface="Montserrat Bold"/>
                <a:cs typeface="Montserrat Bold"/>
                <a:sym typeface="Montserrat Bold"/>
              </a:rPr>
              <a:t>g</a:t>
            </a:r>
            <a:r>
              <a:rPr lang="en-US" b="true" sz="2093">
                <a:solidFill>
                  <a:srgbClr val="101010"/>
                </a:solidFill>
                <a:latin typeface="Montserrat Bold"/>
                <a:ea typeface="Montserrat Bold"/>
                <a:cs typeface="Montserrat Bold"/>
                <a:sym typeface="Montserrat Bold"/>
              </a:rPr>
              <a:t>en</a:t>
            </a:r>
            <a:r>
              <a:rPr lang="en-US" b="true" sz="2093" strike="noStrike" u="none">
                <a:solidFill>
                  <a:srgbClr val="101010"/>
                </a:solidFill>
                <a:latin typeface="Montserrat Bold"/>
                <a:ea typeface="Montserrat Bold"/>
                <a:cs typeface="Montserrat Bold"/>
                <a:sym typeface="Montserrat Bold"/>
              </a:rPr>
              <a:t>: </a:t>
            </a:r>
            <a:r>
              <a:rPr lang="en-US" sz="2093" strike="noStrike" u="none">
                <a:solidFill>
                  <a:srgbClr val="101010"/>
                </a:solidFill>
                <a:latin typeface="Montserrat"/>
                <a:ea typeface="Montserrat"/>
                <a:cs typeface="Montserrat"/>
                <a:sym typeface="Montserrat"/>
              </a:rPr>
              <a:t>Plata</a:t>
            </a:r>
            <a:r>
              <a:rPr lang="en-US" sz="2093">
                <a:solidFill>
                  <a:srgbClr val="101010"/>
                </a:solidFill>
                <a:latin typeface="Montserrat"/>
                <a:ea typeface="Montserrat"/>
                <a:cs typeface="Montserrat"/>
                <a:sym typeface="Montserrat"/>
              </a:rPr>
              <a:t>forma</a:t>
            </a:r>
            <a:r>
              <a:rPr lang="en-US" sz="2093" strike="noStrike" u="none">
                <a:solidFill>
                  <a:srgbClr val="101010"/>
                </a:solidFill>
                <a:latin typeface="Montserrat"/>
                <a:ea typeface="Montserrat"/>
                <a:cs typeface="Montserrat"/>
                <a:sym typeface="Montserrat"/>
              </a:rPr>
              <a:t> Na</a:t>
            </a:r>
            <a:r>
              <a:rPr lang="en-US" sz="2093">
                <a:solidFill>
                  <a:srgbClr val="101010"/>
                </a:solidFill>
                <a:latin typeface="Montserrat"/>
                <a:ea typeface="Montserrat"/>
                <a:cs typeface="Montserrat"/>
                <a:sym typeface="Montserrat"/>
              </a:rPr>
              <a:t>ciona</a:t>
            </a:r>
            <a:r>
              <a:rPr lang="en-US" sz="2093" strike="noStrike" u="none">
                <a:solidFill>
                  <a:srgbClr val="101010"/>
                </a:solidFill>
                <a:latin typeface="Montserrat"/>
                <a:ea typeface="Montserrat"/>
                <a:cs typeface="Montserrat"/>
                <a:sym typeface="Montserrat"/>
              </a:rPr>
              <a:t>l</a:t>
            </a:r>
            <a:r>
              <a:rPr lang="en-US" sz="2093">
                <a:solidFill>
                  <a:srgbClr val="101010"/>
                </a:solidFill>
                <a:latin typeface="Montserrat"/>
                <a:ea typeface="Montserrat"/>
                <a:cs typeface="Montserrat"/>
                <a:sym typeface="Montserrat"/>
              </a:rPr>
              <a:t> </a:t>
            </a:r>
            <a:r>
              <a:rPr lang="en-US" sz="2093" strike="noStrike" u="none">
                <a:solidFill>
                  <a:srgbClr val="101010"/>
                </a:solidFill>
                <a:latin typeface="Montserrat"/>
                <a:ea typeface="Montserrat"/>
                <a:cs typeface="Montserrat"/>
                <a:sym typeface="Montserrat"/>
              </a:rPr>
              <a:t>d</a:t>
            </a:r>
            <a:r>
              <a:rPr lang="en-US" sz="2093">
                <a:solidFill>
                  <a:srgbClr val="101010"/>
                </a:solidFill>
                <a:latin typeface="Montserrat"/>
                <a:ea typeface="Montserrat"/>
                <a:cs typeface="Montserrat"/>
                <a:sym typeface="Montserrat"/>
              </a:rPr>
              <a:t>e </a:t>
            </a:r>
            <a:r>
              <a:rPr lang="en-US" sz="2093" strike="noStrike" u="none">
                <a:solidFill>
                  <a:srgbClr val="101010"/>
                </a:solidFill>
                <a:latin typeface="Montserrat"/>
                <a:ea typeface="Montserrat"/>
                <a:cs typeface="Montserrat"/>
                <a:sym typeface="Montserrat"/>
              </a:rPr>
              <a:t>D</a:t>
            </a:r>
            <a:r>
              <a:rPr lang="en-US" sz="2093">
                <a:solidFill>
                  <a:srgbClr val="101010"/>
                </a:solidFill>
                <a:latin typeface="Montserrat"/>
                <a:ea typeface="Montserrat"/>
                <a:cs typeface="Montserrat"/>
                <a:sym typeface="Montserrat"/>
              </a:rPr>
              <a:t>a</a:t>
            </a:r>
            <a:r>
              <a:rPr lang="en-US" sz="2093" strike="noStrike" u="none">
                <a:solidFill>
                  <a:srgbClr val="101010"/>
                </a:solidFill>
                <a:latin typeface="Montserrat"/>
                <a:ea typeface="Montserrat"/>
                <a:cs typeface="Montserrat"/>
                <a:sym typeface="Montserrat"/>
              </a:rPr>
              <a:t>t</a:t>
            </a:r>
            <a:r>
              <a:rPr lang="en-US" sz="2093">
                <a:solidFill>
                  <a:srgbClr val="101010"/>
                </a:solidFill>
                <a:latin typeface="Montserrat"/>
                <a:ea typeface="Montserrat"/>
                <a:cs typeface="Montserrat"/>
                <a:sym typeface="Montserrat"/>
              </a:rPr>
              <a:t>os </a:t>
            </a:r>
            <a:r>
              <a:rPr lang="en-US" sz="2093" strike="noStrike" u="none">
                <a:solidFill>
                  <a:srgbClr val="101010"/>
                </a:solidFill>
                <a:latin typeface="Montserrat"/>
                <a:ea typeface="Montserrat"/>
                <a:cs typeface="Montserrat"/>
                <a:sym typeface="Montserrat"/>
              </a:rPr>
              <a:t>Ab</a:t>
            </a:r>
            <a:r>
              <a:rPr lang="en-US" sz="2093">
                <a:solidFill>
                  <a:srgbClr val="101010"/>
                </a:solidFill>
                <a:latin typeface="Montserrat"/>
                <a:ea typeface="Montserrat"/>
                <a:cs typeface="Montserrat"/>
                <a:sym typeface="Montserrat"/>
              </a:rPr>
              <a:t>ier</a:t>
            </a:r>
            <a:r>
              <a:rPr lang="en-US" sz="2093" strike="noStrike" u="none">
                <a:solidFill>
                  <a:srgbClr val="101010"/>
                </a:solidFill>
                <a:latin typeface="Montserrat"/>
                <a:ea typeface="Montserrat"/>
                <a:cs typeface="Montserrat"/>
                <a:sym typeface="Montserrat"/>
              </a:rPr>
              <a:t>t</a:t>
            </a:r>
            <a:r>
              <a:rPr lang="en-US" sz="2093">
                <a:solidFill>
                  <a:srgbClr val="101010"/>
                </a:solidFill>
                <a:latin typeface="Montserrat"/>
                <a:ea typeface="Montserrat"/>
                <a:cs typeface="Montserrat"/>
                <a:sym typeface="Montserrat"/>
              </a:rPr>
              <a:t>os </a:t>
            </a:r>
            <a:r>
              <a:rPr lang="en-US" sz="2093" strike="noStrike" u="none">
                <a:solidFill>
                  <a:srgbClr val="101010"/>
                </a:solidFill>
                <a:latin typeface="Montserrat"/>
                <a:ea typeface="Montserrat"/>
                <a:cs typeface="Montserrat"/>
                <a:sym typeface="Montserrat"/>
              </a:rPr>
              <a:t>de</a:t>
            </a:r>
            <a:r>
              <a:rPr lang="en-US" sz="2093">
                <a:solidFill>
                  <a:srgbClr val="101010"/>
                </a:solidFill>
                <a:latin typeface="Montserrat"/>
                <a:ea typeface="Montserrat"/>
                <a:cs typeface="Montserrat"/>
                <a:sym typeface="Montserrat"/>
              </a:rPr>
              <a:t>l </a:t>
            </a:r>
            <a:r>
              <a:rPr lang="en-US" sz="2093" strike="noStrike" u="none">
                <a:solidFill>
                  <a:srgbClr val="101010"/>
                </a:solidFill>
                <a:latin typeface="Montserrat"/>
                <a:ea typeface="Montserrat"/>
                <a:cs typeface="Montserrat"/>
                <a:sym typeface="Montserrat"/>
              </a:rPr>
              <a:t>P</a:t>
            </a:r>
            <a:r>
              <a:rPr lang="en-US" sz="2093">
                <a:solidFill>
                  <a:srgbClr val="101010"/>
                </a:solidFill>
                <a:latin typeface="Montserrat"/>
                <a:ea typeface="Montserrat"/>
                <a:cs typeface="Montserrat"/>
                <a:sym typeface="Montserrat"/>
              </a:rPr>
              <a:t>e</a:t>
            </a:r>
            <a:r>
              <a:rPr lang="en-US" sz="2093" strike="noStrike" u="none">
                <a:solidFill>
                  <a:srgbClr val="101010"/>
                </a:solidFill>
                <a:latin typeface="Montserrat"/>
                <a:ea typeface="Montserrat"/>
                <a:cs typeface="Montserrat"/>
                <a:sym typeface="Montserrat"/>
              </a:rPr>
              <a:t>rú.</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En</a:t>
            </a:r>
            <a:r>
              <a:rPr lang="en-US" b="true" sz="2093">
                <a:solidFill>
                  <a:srgbClr val="101010"/>
                </a:solidFill>
                <a:latin typeface="Montserrat Bold"/>
                <a:ea typeface="Montserrat Bold"/>
                <a:cs typeface="Montserrat Bold"/>
                <a:sym typeface="Montserrat Bold"/>
              </a:rPr>
              <a:t>t</a:t>
            </a:r>
            <a:r>
              <a:rPr lang="en-US" b="true" sz="2093" strike="noStrike" u="none">
                <a:solidFill>
                  <a:srgbClr val="101010"/>
                </a:solidFill>
                <a:latin typeface="Montserrat Bold"/>
                <a:ea typeface="Montserrat Bold"/>
                <a:cs typeface="Montserrat Bold"/>
                <a:sym typeface="Montserrat Bold"/>
              </a:rPr>
              <a:t>id</a:t>
            </a:r>
            <a:r>
              <a:rPr lang="en-US" b="true" sz="2093">
                <a:solidFill>
                  <a:srgbClr val="101010"/>
                </a:solidFill>
                <a:latin typeface="Montserrat Bold"/>
                <a:ea typeface="Montserrat Bold"/>
                <a:cs typeface="Montserrat Bold"/>
                <a:sym typeface="Montserrat Bold"/>
              </a:rPr>
              <a:t>a</a:t>
            </a:r>
            <a:r>
              <a:rPr lang="en-US" b="true" sz="2093" strike="noStrike" u="none">
                <a:solidFill>
                  <a:srgbClr val="101010"/>
                </a:solidFill>
                <a:latin typeface="Montserrat Bold"/>
                <a:ea typeface="Montserrat Bold"/>
                <a:cs typeface="Montserrat Bold"/>
                <a:sym typeface="Montserrat Bold"/>
              </a:rPr>
              <a:t>d</a:t>
            </a:r>
            <a:r>
              <a:rPr lang="en-US" b="true" sz="2093">
                <a:solidFill>
                  <a:srgbClr val="101010"/>
                </a:solidFill>
                <a:latin typeface="Montserrat Bold"/>
                <a:ea typeface="Montserrat Bold"/>
                <a:cs typeface="Montserrat Bold"/>
                <a:sym typeface="Montserrat Bold"/>
              </a:rPr>
              <a:t> </a:t>
            </a:r>
            <a:r>
              <a:rPr lang="en-US" b="true" sz="2093" strike="noStrike" u="none">
                <a:solidFill>
                  <a:srgbClr val="101010"/>
                </a:solidFill>
                <a:latin typeface="Montserrat Bold"/>
                <a:ea typeface="Montserrat Bold"/>
                <a:cs typeface="Montserrat Bold"/>
                <a:sym typeface="Montserrat Bold"/>
              </a:rPr>
              <a:t>Em</a:t>
            </a:r>
            <a:r>
              <a:rPr lang="en-US" b="true" sz="2093">
                <a:solidFill>
                  <a:srgbClr val="101010"/>
                </a:solidFill>
                <a:latin typeface="Montserrat Bold"/>
                <a:ea typeface="Montserrat Bold"/>
                <a:cs typeface="Montserrat Bold"/>
                <a:sym typeface="Montserrat Bold"/>
              </a:rPr>
              <a:t>is</a:t>
            </a:r>
            <a:r>
              <a:rPr lang="en-US" b="true" sz="2093" strike="noStrike" u="none">
                <a:solidFill>
                  <a:srgbClr val="101010"/>
                </a:solidFill>
                <a:latin typeface="Montserrat Bold"/>
                <a:ea typeface="Montserrat Bold"/>
                <a:cs typeface="Montserrat Bold"/>
                <a:sym typeface="Montserrat Bold"/>
              </a:rPr>
              <a:t>o</a:t>
            </a:r>
            <a:r>
              <a:rPr lang="en-US" b="true" sz="2093">
                <a:solidFill>
                  <a:srgbClr val="101010"/>
                </a:solidFill>
                <a:latin typeface="Montserrat Bold"/>
                <a:ea typeface="Montserrat Bold"/>
                <a:cs typeface="Montserrat Bold"/>
                <a:sym typeface="Montserrat Bold"/>
              </a:rPr>
              <a:t>ra</a:t>
            </a:r>
            <a:r>
              <a:rPr lang="en-US" b="true" sz="2093" strike="noStrike" u="none">
                <a:solidFill>
                  <a:srgbClr val="101010"/>
                </a:solidFill>
                <a:latin typeface="Montserrat Bold"/>
                <a:ea typeface="Montserrat Bold"/>
                <a:cs typeface="Montserrat Bold"/>
                <a:sym typeface="Montserrat Bold"/>
              </a:rPr>
              <a:t>: </a:t>
            </a:r>
            <a:r>
              <a:rPr lang="en-US" sz="2093" strike="noStrike" u="none">
                <a:solidFill>
                  <a:srgbClr val="101010"/>
                </a:solidFill>
                <a:latin typeface="Montserrat"/>
                <a:ea typeface="Montserrat"/>
                <a:cs typeface="Montserrat"/>
                <a:sym typeface="Montserrat"/>
              </a:rPr>
              <a:t>U</a:t>
            </a:r>
            <a:r>
              <a:rPr lang="en-US" sz="2093">
                <a:solidFill>
                  <a:srgbClr val="101010"/>
                </a:solidFill>
                <a:latin typeface="Montserrat"/>
                <a:ea typeface="Montserrat"/>
                <a:cs typeface="Montserrat"/>
                <a:sym typeface="Montserrat"/>
              </a:rPr>
              <a:t>n</a:t>
            </a:r>
            <a:r>
              <a:rPr lang="en-US" sz="2093" strike="noStrike" u="none">
                <a:solidFill>
                  <a:srgbClr val="101010"/>
                </a:solidFill>
                <a:latin typeface="Montserrat"/>
                <a:ea typeface="Montserrat"/>
                <a:cs typeface="Montserrat"/>
                <a:sym typeface="Montserrat"/>
              </a:rPr>
              <a:t>i</a:t>
            </a:r>
            <a:r>
              <a:rPr lang="en-US" sz="2093">
                <a:solidFill>
                  <a:srgbClr val="101010"/>
                </a:solidFill>
                <a:latin typeface="Montserrat"/>
                <a:ea typeface="Montserrat"/>
                <a:cs typeface="Montserrat"/>
                <a:sym typeface="Montserrat"/>
              </a:rPr>
              <a:t>vers</a:t>
            </a:r>
            <a:r>
              <a:rPr lang="en-US" sz="2093" strike="noStrike" u="none">
                <a:solidFill>
                  <a:srgbClr val="101010"/>
                </a:solidFill>
                <a:latin typeface="Montserrat"/>
                <a:ea typeface="Montserrat"/>
                <a:cs typeface="Montserrat"/>
                <a:sym typeface="Montserrat"/>
              </a:rPr>
              <a:t>id</a:t>
            </a:r>
            <a:r>
              <a:rPr lang="en-US" sz="2093">
                <a:solidFill>
                  <a:srgbClr val="101010"/>
                </a:solidFill>
                <a:latin typeface="Montserrat"/>
                <a:ea typeface="Montserrat"/>
                <a:cs typeface="Montserrat"/>
                <a:sym typeface="Montserrat"/>
              </a:rPr>
              <a:t>a</a:t>
            </a:r>
            <a:r>
              <a:rPr lang="en-US" sz="2093" strike="noStrike" u="none">
                <a:solidFill>
                  <a:srgbClr val="101010"/>
                </a:solidFill>
                <a:latin typeface="Montserrat"/>
                <a:ea typeface="Montserrat"/>
                <a:cs typeface="Montserrat"/>
                <a:sym typeface="Montserrat"/>
              </a:rPr>
              <a:t>d</a:t>
            </a:r>
            <a:r>
              <a:rPr lang="en-US" sz="2093">
                <a:solidFill>
                  <a:srgbClr val="101010"/>
                </a:solidFill>
                <a:latin typeface="Montserrat"/>
                <a:ea typeface="Montserrat"/>
                <a:cs typeface="Montserrat"/>
                <a:sym typeface="Montserrat"/>
              </a:rPr>
              <a:t> </a:t>
            </a:r>
            <a:r>
              <a:rPr lang="en-US" sz="2093" strike="noStrike" u="none">
                <a:solidFill>
                  <a:srgbClr val="101010"/>
                </a:solidFill>
                <a:latin typeface="Montserrat"/>
                <a:ea typeface="Montserrat"/>
                <a:cs typeface="Montserrat"/>
                <a:sym typeface="Montserrat"/>
              </a:rPr>
              <a:t>Nac</a:t>
            </a:r>
            <a:r>
              <a:rPr lang="en-US" sz="2093">
                <a:solidFill>
                  <a:srgbClr val="101010"/>
                </a:solidFill>
                <a:latin typeface="Montserrat"/>
                <a:ea typeface="Montserrat"/>
                <a:cs typeface="Montserrat"/>
                <a:sym typeface="Montserrat"/>
              </a:rPr>
              <a:t>io</a:t>
            </a:r>
            <a:r>
              <a:rPr lang="en-US" sz="2093" strike="noStrike" u="none">
                <a:solidFill>
                  <a:srgbClr val="101010"/>
                </a:solidFill>
                <a:latin typeface="Montserrat"/>
                <a:ea typeface="Montserrat"/>
                <a:cs typeface="Montserrat"/>
                <a:sym typeface="Montserrat"/>
              </a:rPr>
              <a:t>n</a:t>
            </a:r>
            <a:r>
              <a:rPr lang="en-US" sz="2093">
                <a:solidFill>
                  <a:srgbClr val="101010"/>
                </a:solidFill>
                <a:latin typeface="Montserrat"/>
                <a:ea typeface="Montserrat"/>
                <a:cs typeface="Montserrat"/>
                <a:sym typeface="Montserrat"/>
              </a:rPr>
              <a:t>al de </a:t>
            </a:r>
            <a:r>
              <a:rPr lang="en-US" sz="2093" strike="noStrike" u="none">
                <a:solidFill>
                  <a:srgbClr val="101010"/>
                </a:solidFill>
                <a:latin typeface="Montserrat"/>
                <a:ea typeface="Montserrat"/>
                <a:cs typeface="Montserrat"/>
                <a:sym typeface="Montserrat"/>
              </a:rPr>
              <a:t>Ingen</a:t>
            </a:r>
            <a:r>
              <a:rPr lang="en-US" sz="2093">
                <a:solidFill>
                  <a:srgbClr val="101010"/>
                </a:solidFill>
                <a:latin typeface="Montserrat"/>
                <a:ea typeface="Montserrat"/>
                <a:cs typeface="Montserrat"/>
                <a:sym typeface="Montserrat"/>
              </a:rPr>
              <a:t>i</a:t>
            </a:r>
            <a:r>
              <a:rPr lang="en-US" sz="2093" strike="noStrike" u="none">
                <a:solidFill>
                  <a:srgbClr val="101010"/>
                </a:solidFill>
                <a:latin typeface="Montserrat"/>
                <a:ea typeface="Montserrat"/>
                <a:cs typeface="Montserrat"/>
                <a:sym typeface="Montserrat"/>
              </a:rPr>
              <a:t>erí</a:t>
            </a:r>
            <a:r>
              <a:rPr lang="en-US" sz="2093">
                <a:solidFill>
                  <a:srgbClr val="101010"/>
                </a:solidFill>
                <a:latin typeface="Montserrat"/>
                <a:ea typeface="Montserrat"/>
                <a:cs typeface="Montserrat"/>
                <a:sym typeface="Montserrat"/>
              </a:rPr>
              <a:t>a </a:t>
            </a:r>
            <a:r>
              <a:rPr lang="en-US" sz="2093" strike="noStrike" u="none">
                <a:solidFill>
                  <a:srgbClr val="101010"/>
                </a:solidFill>
                <a:latin typeface="Montserrat"/>
                <a:ea typeface="Montserrat"/>
                <a:cs typeface="Montserrat"/>
                <a:sym typeface="Montserrat"/>
              </a:rPr>
              <a:t>(UNI)</a:t>
            </a:r>
            <a:r>
              <a:rPr lang="en-US" sz="2093">
                <a:solidFill>
                  <a:srgbClr val="101010"/>
                </a:solidFill>
                <a:latin typeface="Montserrat"/>
                <a:ea typeface="Montserrat"/>
                <a:cs typeface="Montserrat"/>
                <a:sym typeface="Montserrat"/>
              </a:rPr>
              <a:t> </a:t>
            </a:r>
            <a:r>
              <a:rPr lang="en-US" sz="2093" strike="noStrike" u="none">
                <a:solidFill>
                  <a:srgbClr val="101010"/>
                </a:solidFill>
                <a:latin typeface="Montserrat"/>
                <a:ea typeface="Montserrat"/>
                <a:cs typeface="Montserrat"/>
                <a:sym typeface="Montserrat"/>
              </a:rPr>
              <a:t>- CEPRE-UNI.</a:t>
            </a:r>
          </a:p>
          <a:p>
            <a:pPr algn="l" marL="451962" indent="-225981" lvl="1">
              <a:lnSpc>
                <a:spcPts val="2930"/>
              </a:lnSpc>
              <a:spcBef>
                <a:spcPct val="0"/>
              </a:spcBef>
              <a:buFont typeface="Arial"/>
              <a:buChar char="•"/>
            </a:pPr>
            <a:r>
              <a:rPr lang="en-US" b="true" sz="2093">
                <a:solidFill>
                  <a:srgbClr val="101010"/>
                </a:solidFill>
                <a:latin typeface="Montserrat Bold"/>
                <a:ea typeface="Montserrat Bold"/>
                <a:cs typeface="Montserrat Bold"/>
                <a:sym typeface="Montserrat Bold"/>
              </a:rPr>
              <a:t>Datase</a:t>
            </a:r>
            <a:r>
              <a:rPr lang="en-US" b="true" sz="2093" strike="noStrike" u="none">
                <a:solidFill>
                  <a:srgbClr val="101010"/>
                </a:solidFill>
                <a:latin typeface="Montserrat Bold"/>
                <a:ea typeface="Montserrat Bold"/>
                <a:cs typeface="Montserrat Bold"/>
                <a:sym typeface="Montserrat Bold"/>
              </a:rPr>
              <a:t>t:</a:t>
            </a:r>
            <a:r>
              <a:rPr lang="en-US" sz="2093">
                <a:solidFill>
                  <a:srgbClr val="101010"/>
                </a:solidFill>
                <a:latin typeface="Montserrat"/>
                <a:ea typeface="Montserrat"/>
                <a:cs typeface="Montserrat"/>
                <a:sym typeface="Montserrat"/>
              </a:rPr>
              <a:t> </a:t>
            </a:r>
            <a:r>
              <a:rPr lang="en-US" sz="2093" strike="noStrike" u="none">
                <a:solidFill>
                  <a:srgbClr val="101010"/>
                </a:solidFill>
                <a:latin typeface="Montserrat"/>
                <a:ea typeface="Montserrat"/>
                <a:cs typeface="Montserrat"/>
                <a:sym typeface="Montserrat"/>
              </a:rPr>
              <a:t>R</a:t>
            </a:r>
            <a:r>
              <a:rPr lang="en-US" sz="2093">
                <a:solidFill>
                  <a:srgbClr val="101010"/>
                </a:solidFill>
                <a:latin typeface="Montserrat"/>
                <a:ea typeface="Montserrat"/>
                <a:cs typeface="Montserrat"/>
                <a:sym typeface="Montserrat"/>
              </a:rPr>
              <a:t>egistro d</a:t>
            </a:r>
            <a:r>
              <a:rPr lang="en-US" sz="2093" strike="noStrike" u="none">
                <a:solidFill>
                  <a:srgbClr val="101010"/>
                </a:solidFill>
                <a:latin typeface="Montserrat"/>
                <a:ea typeface="Montserrat"/>
                <a:cs typeface="Montserrat"/>
                <a:sym typeface="Montserrat"/>
              </a:rPr>
              <a:t>e </a:t>
            </a:r>
            <a:r>
              <a:rPr lang="en-US" sz="2093">
                <a:solidFill>
                  <a:srgbClr val="101010"/>
                </a:solidFill>
                <a:latin typeface="Montserrat"/>
                <a:ea typeface="Montserrat"/>
                <a:cs typeface="Montserrat"/>
                <a:sym typeface="Montserrat"/>
              </a:rPr>
              <a:t>p</a:t>
            </a:r>
            <a:r>
              <a:rPr lang="en-US" sz="2093" strike="noStrike" u="none">
                <a:solidFill>
                  <a:srgbClr val="101010"/>
                </a:solidFill>
                <a:latin typeface="Montserrat"/>
                <a:ea typeface="Montserrat"/>
                <a:cs typeface="Montserrat"/>
                <a:sym typeface="Montserrat"/>
              </a:rPr>
              <a:t>ostu</a:t>
            </a:r>
            <a:r>
              <a:rPr lang="en-US" sz="2093">
                <a:solidFill>
                  <a:srgbClr val="101010"/>
                </a:solidFill>
                <a:latin typeface="Montserrat"/>
                <a:ea typeface="Montserrat"/>
                <a:cs typeface="Montserrat"/>
                <a:sym typeface="Montserrat"/>
              </a:rPr>
              <a:t>lantes e </a:t>
            </a:r>
            <a:r>
              <a:rPr lang="en-US" sz="2093" strike="noStrike" u="none">
                <a:solidFill>
                  <a:srgbClr val="101010"/>
                </a:solidFill>
                <a:latin typeface="Montserrat"/>
                <a:ea typeface="Montserrat"/>
                <a:cs typeface="Montserrat"/>
                <a:sym typeface="Montserrat"/>
              </a:rPr>
              <a:t>i</a:t>
            </a:r>
            <a:r>
              <a:rPr lang="en-US" sz="2093">
                <a:solidFill>
                  <a:srgbClr val="101010"/>
                </a:solidFill>
                <a:latin typeface="Montserrat"/>
                <a:ea typeface="Montserrat"/>
                <a:cs typeface="Montserrat"/>
                <a:sym typeface="Montserrat"/>
              </a:rPr>
              <a:t>n</a:t>
            </a:r>
            <a:r>
              <a:rPr lang="en-US" sz="2093" strike="noStrike" u="none">
                <a:solidFill>
                  <a:srgbClr val="101010"/>
                </a:solidFill>
                <a:latin typeface="Montserrat"/>
                <a:ea typeface="Montserrat"/>
                <a:cs typeface="Montserrat"/>
                <a:sym typeface="Montserrat"/>
              </a:rPr>
              <a:t>g</a:t>
            </a:r>
            <a:r>
              <a:rPr lang="en-US" sz="2093">
                <a:solidFill>
                  <a:srgbClr val="101010"/>
                </a:solidFill>
                <a:latin typeface="Montserrat"/>
                <a:ea typeface="Montserrat"/>
                <a:cs typeface="Montserrat"/>
                <a:sym typeface="Montserrat"/>
              </a:rPr>
              <a:t>resantes por m</a:t>
            </a:r>
            <a:r>
              <a:rPr lang="en-US" sz="2093" strike="noStrike" u="none">
                <a:solidFill>
                  <a:srgbClr val="101010"/>
                </a:solidFill>
                <a:latin typeface="Montserrat"/>
                <a:ea typeface="Montserrat"/>
                <a:cs typeface="Montserrat"/>
                <a:sym typeface="Montserrat"/>
              </a:rPr>
              <a:t>od</a:t>
            </a:r>
            <a:r>
              <a:rPr lang="en-US" sz="2093">
                <a:solidFill>
                  <a:srgbClr val="101010"/>
                </a:solidFill>
                <a:latin typeface="Montserrat"/>
                <a:ea typeface="Montserrat"/>
                <a:cs typeface="Montserrat"/>
                <a:sym typeface="Montserrat"/>
              </a:rPr>
              <a:t>a</a:t>
            </a:r>
            <a:r>
              <a:rPr lang="en-US" sz="2093" strike="noStrike" u="none">
                <a:solidFill>
                  <a:srgbClr val="101010"/>
                </a:solidFill>
                <a:latin typeface="Montserrat"/>
                <a:ea typeface="Montserrat"/>
                <a:cs typeface="Montserrat"/>
                <a:sym typeface="Montserrat"/>
              </a:rPr>
              <a:t>l</a:t>
            </a:r>
            <a:r>
              <a:rPr lang="en-US" sz="2093">
                <a:solidFill>
                  <a:srgbClr val="101010"/>
                </a:solidFill>
                <a:latin typeface="Montserrat"/>
                <a:ea typeface="Montserrat"/>
                <a:cs typeface="Montserrat"/>
                <a:sym typeface="Montserrat"/>
              </a:rPr>
              <a:t>i</a:t>
            </a:r>
            <a:r>
              <a:rPr lang="en-US" sz="2093" strike="noStrike" u="none">
                <a:solidFill>
                  <a:srgbClr val="101010"/>
                </a:solidFill>
                <a:latin typeface="Montserrat"/>
                <a:ea typeface="Montserrat"/>
                <a:cs typeface="Montserrat"/>
                <a:sym typeface="Montserrat"/>
              </a:rPr>
              <a:t>d</a:t>
            </a:r>
            <a:r>
              <a:rPr lang="en-US" sz="2093">
                <a:solidFill>
                  <a:srgbClr val="101010"/>
                </a:solidFill>
                <a:latin typeface="Montserrat"/>
                <a:ea typeface="Montserrat"/>
                <a:cs typeface="Montserrat"/>
                <a:sym typeface="Montserrat"/>
              </a:rPr>
              <a:t>a</a:t>
            </a:r>
            <a:r>
              <a:rPr lang="en-US" sz="2093" strike="noStrike" u="none">
                <a:solidFill>
                  <a:srgbClr val="101010"/>
                </a:solidFill>
                <a:latin typeface="Montserrat"/>
                <a:ea typeface="Montserrat"/>
                <a:cs typeface="Montserrat"/>
                <a:sym typeface="Montserrat"/>
              </a:rPr>
              <a:t>d</a:t>
            </a:r>
            <a:r>
              <a:rPr lang="en-US" sz="2093">
                <a:solidFill>
                  <a:srgbClr val="101010"/>
                </a:solidFill>
                <a:latin typeface="Montserrat"/>
                <a:ea typeface="Montserrat"/>
                <a:cs typeface="Montserrat"/>
                <a:sym typeface="Montserrat"/>
              </a:rPr>
              <a:t>es de ad</a:t>
            </a:r>
            <a:r>
              <a:rPr lang="en-US" sz="2093" strike="noStrike" u="none">
                <a:solidFill>
                  <a:srgbClr val="101010"/>
                </a:solidFill>
                <a:latin typeface="Montserrat"/>
                <a:ea typeface="Montserrat"/>
                <a:cs typeface="Montserrat"/>
                <a:sym typeface="Montserrat"/>
              </a:rPr>
              <a:t>m</a:t>
            </a:r>
            <a:r>
              <a:rPr lang="en-US" sz="2093">
                <a:solidFill>
                  <a:srgbClr val="101010"/>
                </a:solidFill>
                <a:latin typeface="Montserrat"/>
                <a:ea typeface="Montserrat"/>
                <a:cs typeface="Montserrat"/>
                <a:sym typeface="Montserrat"/>
              </a:rPr>
              <a:t>isi</a:t>
            </a:r>
            <a:r>
              <a:rPr lang="en-US" sz="2093" strike="noStrike" u="none">
                <a:solidFill>
                  <a:srgbClr val="101010"/>
                </a:solidFill>
                <a:latin typeface="Montserrat"/>
                <a:ea typeface="Montserrat"/>
                <a:cs typeface="Montserrat"/>
                <a:sym typeface="Montserrat"/>
              </a:rPr>
              <a:t>ó</a:t>
            </a:r>
            <a:r>
              <a:rPr lang="en-US" sz="2093">
                <a:solidFill>
                  <a:srgbClr val="101010"/>
                </a:solidFill>
                <a:latin typeface="Montserrat"/>
                <a:ea typeface="Montserrat"/>
                <a:cs typeface="Montserrat"/>
                <a:sym typeface="Montserrat"/>
              </a:rPr>
              <a:t>n</a:t>
            </a:r>
            <a:r>
              <a:rPr lang="en-US" sz="2093" strike="noStrike" u="none">
                <a:solidFill>
                  <a:srgbClr val="101010"/>
                </a:solidFill>
                <a:latin typeface="Montserrat"/>
                <a:ea typeface="Montserrat"/>
                <a:cs typeface="Montserrat"/>
                <a:sym typeface="Montserrat"/>
              </a:rPr>
              <a:t>.</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Form</a:t>
            </a:r>
            <a:r>
              <a:rPr lang="en-US" b="true" sz="2093">
                <a:solidFill>
                  <a:srgbClr val="101010"/>
                </a:solidFill>
                <a:latin typeface="Montserrat Bold"/>
                <a:ea typeface="Montserrat Bold"/>
                <a:cs typeface="Montserrat Bold"/>
                <a:sym typeface="Montserrat Bold"/>
              </a:rPr>
              <a:t>ato </a:t>
            </a:r>
            <a:r>
              <a:rPr lang="en-US" b="true" sz="2093" strike="noStrike" u="none">
                <a:solidFill>
                  <a:srgbClr val="101010"/>
                </a:solidFill>
                <a:latin typeface="Montserrat Bold"/>
                <a:ea typeface="Montserrat Bold"/>
                <a:cs typeface="Montserrat Bold"/>
                <a:sym typeface="Montserrat Bold"/>
              </a:rPr>
              <a:t>d</a:t>
            </a:r>
            <a:r>
              <a:rPr lang="en-US" b="true" sz="2093">
                <a:solidFill>
                  <a:srgbClr val="101010"/>
                </a:solidFill>
                <a:latin typeface="Montserrat Bold"/>
                <a:ea typeface="Montserrat Bold"/>
                <a:cs typeface="Montserrat Bold"/>
                <a:sym typeface="Montserrat Bold"/>
              </a:rPr>
              <a:t>e </a:t>
            </a:r>
            <a:r>
              <a:rPr lang="en-US" b="true" sz="2093" strike="noStrike" u="none">
                <a:solidFill>
                  <a:srgbClr val="101010"/>
                </a:solidFill>
                <a:latin typeface="Montserrat Bold"/>
                <a:ea typeface="Montserrat Bold"/>
                <a:cs typeface="Montserrat Bold"/>
                <a:sym typeface="Montserrat Bold"/>
              </a:rPr>
              <a:t>Orig</a:t>
            </a:r>
            <a:r>
              <a:rPr lang="en-US" b="true" sz="2093">
                <a:solidFill>
                  <a:srgbClr val="101010"/>
                </a:solidFill>
                <a:latin typeface="Montserrat Bold"/>
                <a:ea typeface="Montserrat Bold"/>
                <a:cs typeface="Montserrat Bold"/>
                <a:sym typeface="Montserrat Bold"/>
              </a:rPr>
              <a:t>en</a:t>
            </a:r>
            <a:r>
              <a:rPr lang="en-US" b="true" sz="2093" strike="noStrike" u="none">
                <a:solidFill>
                  <a:srgbClr val="101010"/>
                </a:solidFill>
                <a:latin typeface="Montserrat Bold"/>
                <a:ea typeface="Montserrat Bold"/>
                <a:cs typeface="Montserrat Bold"/>
                <a:sym typeface="Montserrat Bold"/>
              </a:rPr>
              <a:t>:</a:t>
            </a:r>
            <a:r>
              <a:rPr lang="en-US" b="true" sz="2093">
                <a:solidFill>
                  <a:srgbClr val="101010"/>
                </a:solidFill>
                <a:latin typeface="Montserrat Bold"/>
                <a:ea typeface="Montserrat Bold"/>
                <a:cs typeface="Montserrat Bold"/>
                <a:sym typeface="Montserrat Bold"/>
              </a:rPr>
              <a:t> </a:t>
            </a:r>
            <a:r>
              <a:rPr lang="en-US" sz="2093" strike="noStrike" u="none">
                <a:solidFill>
                  <a:srgbClr val="101010"/>
                </a:solidFill>
                <a:latin typeface="Montserrat"/>
                <a:ea typeface="Montserrat"/>
                <a:cs typeface="Montserrat"/>
                <a:sym typeface="Montserrat"/>
              </a:rPr>
              <a:t>Ar</a:t>
            </a:r>
            <a:r>
              <a:rPr lang="en-US" sz="2093">
                <a:solidFill>
                  <a:srgbClr val="101010"/>
                </a:solidFill>
                <a:latin typeface="Montserrat"/>
                <a:ea typeface="Montserrat"/>
                <a:cs typeface="Montserrat"/>
                <a:sym typeface="Montserrat"/>
              </a:rPr>
              <a:t>c</a:t>
            </a:r>
            <a:r>
              <a:rPr lang="en-US" sz="2093" strike="noStrike" u="none">
                <a:solidFill>
                  <a:srgbClr val="101010"/>
                </a:solidFill>
                <a:latin typeface="Montserrat"/>
                <a:ea typeface="Montserrat"/>
                <a:cs typeface="Montserrat"/>
                <a:sym typeface="Montserrat"/>
              </a:rPr>
              <a:t>hiv</a:t>
            </a:r>
            <a:r>
              <a:rPr lang="en-US" sz="2093">
                <a:solidFill>
                  <a:srgbClr val="101010"/>
                </a:solidFill>
                <a:latin typeface="Montserrat"/>
                <a:ea typeface="Montserrat"/>
                <a:cs typeface="Montserrat"/>
                <a:sym typeface="Montserrat"/>
              </a:rPr>
              <a:t>o de </a:t>
            </a:r>
            <a:r>
              <a:rPr lang="en-US" sz="2093" strike="noStrike" u="none">
                <a:solidFill>
                  <a:srgbClr val="101010"/>
                </a:solidFill>
                <a:latin typeface="Montserrat"/>
                <a:ea typeface="Montserrat"/>
                <a:cs typeface="Montserrat"/>
                <a:sym typeface="Montserrat"/>
              </a:rPr>
              <a:t>v</a:t>
            </a:r>
            <a:r>
              <a:rPr lang="en-US" sz="2093">
                <a:solidFill>
                  <a:srgbClr val="101010"/>
                </a:solidFill>
                <a:latin typeface="Montserrat"/>
                <a:ea typeface="Montserrat"/>
                <a:cs typeface="Montserrat"/>
                <a:sym typeface="Montserrat"/>
              </a:rPr>
              <a:t>al</a:t>
            </a:r>
            <a:r>
              <a:rPr lang="en-US" sz="2093" strike="noStrike" u="none">
                <a:solidFill>
                  <a:srgbClr val="101010"/>
                </a:solidFill>
                <a:latin typeface="Montserrat"/>
                <a:ea typeface="Montserrat"/>
                <a:cs typeface="Montserrat"/>
                <a:sym typeface="Montserrat"/>
              </a:rPr>
              <a:t>o</a:t>
            </a:r>
            <a:r>
              <a:rPr lang="en-US" sz="2093">
                <a:solidFill>
                  <a:srgbClr val="101010"/>
                </a:solidFill>
                <a:latin typeface="Montserrat"/>
                <a:ea typeface="Montserrat"/>
                <a:cs typeface="Montserrat"/>
                <a:sym typeface="Montserrat"/>
              </a:rPr>
              <a:t>res s</a:t>
            </a:r>
            <a:r>
              <a:rPr lang="en-US" sz="2093" strike="noStrike" u="none">
                <a:solidFill>
                  <a:srgbClr val="101010"/>
                </a:solidFill>
                <a:latin typeface="Montserrat"/>
                <a:ea typeface="Montserrat"/>
                <a:cs typeface="Montserrat"/>
                <a:sym typeface="Montserrat"/>
              </a:rPr>
              <a:t>e</a:t>
            </a:r>
            <a:r>
              <a:rPr lang="en-US" sz="2093">
                <a:solidFill>
                  <a:srgbClr val="101010"/>
                </a:solidFill>
                <a:latin typeface="Montserrat"/>
                <a:ea typeface="Montserrat"/>
                <a:cs typeface="Montserrat"/>
                <a:sym typeface="Montserrat"/>
              </a:rPr>
              <a:t>parados por c</a:t>
            </a:r>
            <a:r>
              <a:rPr lang="en-US" sz="2093" strike="noStrike" u="none">
                <a:solidFill>
                  <a:srgbClr val="101010"/>
                </a:solidFill>
                <a:latin typeface="Montserrat"/>
                <a:ea typeface="Montserrat"/>
                <a:cs typeface="Montserrat"/>
                <a:sym typeface="Montserrat"/>
              </a:rPr>
              <a:t>om</a:t>
            </a:r>
            <a:r>
              <a:rPr lang="en-US" sz="2093">
                <a:solidFill>
                  <a:srgbClr val="101010"/>
                </a:solidFill>
                <a:latin typeface="Montserrat"/>
                <a:ea typeface="Montserrat"/>
                <a:cs typeface="Montserrat"/>
                <a:sym typeface="Montserrat"/>
              </a:rPr>
              <a:t>a</a:t>
            </a:r>
            <a:r>
              <a:rPr lang="en-US" sz="2093" strike="noStrike" u="none">
                <a:solidFill>
                  <a:srgbClr val="101010"/>
                </a:solidFill>
                <a:latin typeface="Montserrat"/>
                <a:ea typeface="Montserrat"/>
                <a:cs typeface="Montserrat"/>
                <a:sym typeface="Montserrat"/>
              </a:rPr>
              <a:t>s</a:t>
            </a:r>
            <a:r>
              <a:rPr lang="en-US" sz="2093">
                <a:solidFill>
                  <a:srgbClr val="101010"/>
                </a:solidFill>
                <a:latin typeface="Montserrat"/>
                <a:ea typeface="Montserrat"/>
                <a:cs typeface="Montserrat"/>
                <a:sym typeface="Montserrat"/>
              </a:rPr>
              <a:t> </a:t>
            </a:r>
            <a:r>
              <a:rPr lang="en-US" sz="2093" strike="noStrike" u="none">
                <a:solidFill>
                  <a:srgbClr val="101010"/>
                </a:solidFill>
                <a:latin typeface="Montserrat"/>
                <a:ea typeface="Montserrat"/>
                <a:cs typeface="Montserrat"/>
                <a:sym typeface="Montserrat"/>
              </a:rPr>
              <a:t>(CSV)</a:t>
            </a:r>
          </a:p>
          <a:p>
            <a:pPr algn="l" marL="451962" indent="-225981" lvl="1">
              <a:lnSpc>
                <a:spcPts val="2930"/>
              </a:lnSpc>
              <a:buFont typeface="Arial"/>
              <a:buChar char="•"/>
            </a:pPr>
            <a:r>
              <a:rPr lang="en-US" b="true" sz="2093" strike="noStrike" u="none">
                <a:solidFill>
                  <a:srgbClr val="101010"/>
                </a:solidFill>
                <a:latin typeface="Montserrat Bold"/>
                <a:ea typeface="Montserrat Bold"/>
                <a:cs typeface="Montserrat Bold"/>
                <a:sym typeface="Montserrat Bold"/>
              </a:rPr>
              <a:t>Tamaño: </a:t>
            </a:r>
            <a:r>
              <a:rPr lang="en-US" sz="2093" strike="noStrike" u="none">
                <a:solidFill>
                  <a:srgbClr val="101010"/>
                </a:solidFill>
                <a:latin typeface="Montserrat"/>
                <a:ea typeface="Montserrat"/>
                <a:cs typeface="Montserrat"/>
                <a:sym typeface="Montserrat"/>
              </a:rPr>
              <a:t>8470 registros</a:t>
            </a:r>
          </a:p>
        </p:txBody>
      </p:sp>
      <p:grpSp>
        <p:nvGrpSpPr>
          <p:cNvPr name="Group 3" id="3"/>
          <p:cNvGrpSpPr/>
          <p:nvPr/>
        </p:nvGrpSpPr>
        <p:grpSpPr>
          <a:xfrm rot="0">
            <a:off x="0" y="0"/>
            <a:ext cx="18288000" cy="1874361"/>
            <a:chOff x="0" y="0"/>
            <a:chExt cx="9414331" cy="964887"/>
          </a:xfrm>
        </p:grpSpPr>
        <p:sp>
          <p:nvSpPr>
            <p:cNvPr name="Freeform 4" id="4"/>
            <p:cNvSpPr/>
            <p:nvPr/>
          </p:nvSpPr>
          <p:spPr>
            <a:xfrm flipH="false" flipV="false" rot="0">
              <a:off x="0" y="0"/>
              <a:ext cx="9414331" cy="964887"/>
            </a:xfrm>
            <a:custGeom>
              <a:avLst/>
              <a:gdLst/>
              <a:ahLst/>
              <a:cxnLst/>
              <a:rect r="r" b="b" t="t" l="l"/>
              <a:pathLst>
                <a:path h="964887" w="9414331">
                  <a:moveTo>
                    <a:pt x="0" y="0"/>
                  </a:moveTo>
                  <a:lnTo>
                    <a:pt x="9414331" y="0"/>
                  </a:lnTo>
                  <a:lnTo>
                    <a:pt x="9414331" y="964887"/>
                  </a:lnTo>
                  <a:lnTo>
                    <a:pt x="0" y="964887"/>
                  </a:lnTo>
                  <a:close/>
                </a:path>
              </a:pathLst>
            </a:custGeom>
            <a:gradFill rotWithShape="true">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l="0" r="100000" t="0" b="100000"/>
              </a:path>
              <a:tileRect r="0" l="-100000" b="0" t="-100000"/>
            </a:gradFill>
          </p:spPr>
        </p:sp>
        <p:sp>
          <p:nvSpPr>
            <p:cNvPr name="TextBox 5" id="5"/>
            <p:cNvSpPr txBox="true"/>
            <p:nvPr/>
          </p:nvSpPr>
          <p:spPr>
            <a:xfrm>
              <a:off x="0" y="-38100"/>
              <a:ext cx="9414331" cy="1002987"/>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9163050" y="4120897"/>
            <a:ext cx="0" cy="3843312"/>
          </a:xfrm>
          <a:prstGeom prst="line">
            <a:avLst/>
          </a:prstGeom>
          <a:ln cap="flat" w="38100">
            <a:solidFill>
              <a:srgbClr val="000000"/>
            </a:solidFill>
            <a:prstDash val="solid"/>
            <a:headEnd type="none" len="sm" w="sm"/>
            <a:tailEnd type="none" len="sm" w="sm"/>
          </a:ln>
        </p:spPr>
      </p:sp>
      <p:sp>
        <p:nvSpPr>
          <p:cNvPr name="Freeform 7" id="7"/>
          <p:cNvSpPr/>
          <p:nvPr/>
        </p:nvSpPr>
        <p:spPr>
          <a:xfrm flipH="false" flipV="false" rot="0">
            <a:off x="5702709" y="6678386"/>
            <a:ext cx="2526891" cy="3178479"/>
          </a:xfrm>
          <a:custGeom>
            <a:avLst/>
            <a:gdLst/>
            <a:ahLst/>
            <a:cxnLst/>
            <a:rect r="r" b="b" t="t" l="l"/>
            <a:pathLst>
              <a:path h="3178479" w="2526891">
                <a:moveTo>
                  <a:pt x="0" y="0"/>
                </a:moveTo>
                <a:lnTo>
                  <a:pt x="2526891" y="0"/>
                </a:lnTo>
                <a:lnTo>
                  <a:pt x="2526891" y="3178479"/>
                </a:lnTo>
                <a:lnTo>
                  <a:pt x="0" y="3178479"/>
                </a:lnTo>
                <a:lnTo>
                  <a:pt x="0" y="0"/>
                </a:lnTo>
                <a:close/>
              </a:path>
            </a:pathLst>
          </a:custGeom>
          <a:blipFill>
            <a:blip r:embed="rId2"/>
            <a:stretch>
              <a:fillRect l="0" t="0" r="0" b="0"/>
            </a:stretch>
          </a:blipFill>
        </p:spPr>
      </p:sp>
      <p:sp>
        <p:nvSpPr>
          <p:cNvPr name="TextBox 8" id="8"/>
          <p:cNvSpPr txBox="true"/>
          <p:nvPr/>
        </p:nvSpPr>
        <p:spPr>
          <a:xfrm rot="0">
            <a:off x="1183117" y="2107947"/>
            <a:ext cx="8397219" cy="1246488"/>
          </a:xfrm>
          <a:prstGeom prst="rect">
            <a:avLst/>
          </a:prstGeom>
        </p:spPr>
        <p:txBody>
          <a:bodyPr anchor="t" rtlCol="false" tIns="0" lIns="0" bIns="0" rIns="0">
            <a:spAutoFit/>
          </a:bodyPr>
          <a:lstStyle/>
          <a:p>
            <a:pPr algn="l" marL="0" indent="0" lvl="0">
              <a:lnSpc>
                <a:spcPts val="10276"/>
              </a:lnSpc>
              <a:spcBef>
                <a:spcPct val="0"/>
              </a:spcBef>
            </a:pPr>
            <a:r>
              <a:rPr lang="en-US" b="true" sz="7340">
                <a:solidFill>
                  <a:srgbClr val="000000"/>
                </a:solidFill>
                <a:latin typeface="Montserrat Bold"/>
                <a:ea typeface="Montserrat Bold"/>
                <a:cs typeface="Montserrat Bold"/>
                <a:sym typeface="Montserrat Bold"/>
              </a:rPr>
              <a:t>Fuente Oficial</a:t>
            </a:r>
          </a:p>
        </p:txBody>
      </p:sp>
      <p:sp>
        <p:nvSpPr>
          <p:cNvPr name="TextBox 9" id="9"/>
          <p:cNvSpPr txBox="true"/>
          <p:nvPr/>
        </p:nvSpPr>
        <p:spPr>
          <a:xfrm rot="0">
            <a:off x="9580335" y="3687811"/>
            <a:ext cx="8266371" cy="5185578"/>
          </a:xfrm>
          <a:prstGeom prst="rect">
            <a:avLst/>
          </a:prstGeom>
        </p:spPr>
        <p:txBody>
          <a:bodyPr anchor="t" rtlCol="false" tIns="0" lIns="0" bIns="0" rIns="0">
            <a:spAutoFit/>
          </a:bodyPr>
          <a:lstStyle/>
          <a:p>
            <a:pPr algn="l" marL="0" indent="0" lvl="0">
              <a:lnSpc>
                <a:spcPts val="2930"/>
              </a:lnSpc>
              <a:spcBef>
                <a:spcPct val="0"/>
              </a:spcBef>
            </a:pPr>
            <a:r>
              <a:rPr lang="en-US" sz="2093">
                <a:solidFill>
                  <a:srgbClr val="101010"/>
                </a:solidFill>
                <a:latin typeface="Montserrat"/>
                <a:ea typeface="Montserrat"/>
                <a:cs typeface="Montserrat"/>
                <a:sym typeface="Montserrat"/>
              </a:rPr>
              <a:t>D</a:t>
            </a:r>
            <a:r>
              <a:rPr lang="en-US" sz="2093" strike="noStrike" u="none">
                <a:solidFill>
                  <a:srgbClr val="101010"/>
                </a:solidFill>
                <a:latin typeface="Montserrat"/>
                <a:ea typeface="Montserrat"/>
                <a:cs typeface="Montserrat"/>
                <a:sym typeface="Montserrat"/>
              </a:rPr>
              <a:t>escripción de la Información </a:t>
            </a:r>
          </a:p>
          <a:p>
            <a:pPr algn="l" marL="0" indent="0" lvl="0">
              <a:lnSpc>
                <a:spcPts val="2930"/>
              </a:lnSpc>
              <a:spcBef>
                <a:spcPct val="0"/>
              </a:spcBef>
            </a:pPr>
            <a:r>
              <a:rPr lang="en-US" sz="2093" strike="noStrike" u="none">
                <a:solidFill>
                  <a:srgbClr val="101010"/>
                </a:solidFill>
                <a:latin typeface="Montserrat"/>
                <a:ea typeface="Montserrat"/>
                <a:cs typeface="Montserrat"/>
                <a:sym typeface="Montserrat"/>
              </a:rPr>
              <a:t>El análisis utiliza un conjunto de datos que abarca las siguientes dimensiones críticas:</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Identificación Académica:</a:t>
            </a:r>
            <a:r>
              <a:rPr lang="en-US" sz="2093" strike="noStrike" u="none">
                <a:solidFill>
                  <a:srgbClr val="101010"/>
                </a:solidFill>
                <a:latin typeface="Montserrat"/>
                <a:ea typeface="Montserrat"/>
                <a:cs typeface="Montserrat"/>
                <a:sym typeface="Montserrat"/>
              </a:rPr>
              <a:t> </a:t>
            </a:r>
            <a:r>
              <a:rPr lang="en-US" sz="2093" strike="noStrike" u="none">
                <a:solidFill>
                  <a:srgbClr val="101010"/>
                </a:solidFill>
                <a:latin typeface="Montserrat"/>
                <a:ea typeface="Montserrat"/>
                <a:cs typeface="Montserrat"/>
                <a:sym typeface="Montserrat"/>
              </a:rPr>
              <a:t>C</a:t>
            </a:r>
            <a:r>
              <a:rPr lang="en-US" sz="2093" strike="noStrike" u="none">
                <a:solidFill>
                  <a:srgbClr val="101010"/>
                </a:solidFill>
                <a:latin typeface="Montserrat"/>
                <a:ea typeface="Montserrat"/>
                <a:cs typeface="Montserrat"/>
                <a:sym typeface="Montserrat"/>
              </a:rPr>
              <a:t>a</a:t>
            </a:r>
            <a:r>
              <a:rPr lang="en-US" sz="2093" strike="noStrike" u="none">
                <a:solidFill>
                  <a:srgbClr val="101010"/>
                </a:solidFill>
                <a:latin typeface="Montserrat"/>
                <a:ea typeface="Montserrat"/>
                <a:cs typeface="Montserrat"/>
                <a:sym typeface="Montserrat"/>
              </a:rPr>
              <a:t>rrer</a:t>
            </a:r>
            <a:r>
              <a:rPr lang="en-US" sz="2093" strike="noStrike" u="none">
                <a:solidFill>
                  <a:srgbClr val="101010"/>
                </a:solidFill>
                <a:latin typeface="Montserrat"/>
                <a:ea typeface="Montserrat"/>
                <a:cs typeface="Montserrat"/>
                <a:sym typeface="Montserrat"/>
              </a:rPr>
              <a:t>a </a:t>
            </a:r>
            <a:r>
              <a:rPr lang="en-US" sz="2093" strike="noStrike" u="none">
                <a:solidFill>
                  <a:srgbClr val="101010"/>
                </a:solidFill>
                <a:latin typeface="Montserrat"/>
                <a:ea typeface="Montserrat"/>
                <a:cs typeface="Montserrat"/>
                <a:sym typeface="Montserrat"/>
              </a:rPr>
              <a:t>p</a:t>
            </a:r>
            <a:r>
              <a:rPr lang="en-US" sz="2093" strike="noStrike" u="none">
                <a:solidFill>
                  <a:srgbClr val="101010"/>
                </a:solidFill>
                <a:latin typeface="Montserrat"/>
                <a:ea typeface="Montserrat"/>
                <a:cs typeface="Montserrat"/>
                <a:sym typeface="Montserrat"/>
              </a:rPr>
              <a:t>r</a:t>
            </a:r>
            <a:r>
              <a:rPr lang="en-US" sz="2093" strike="noStrike" u="none">
                <a:solidFill>
                  <a:srgbClr val="101010"/>
                </a:solidFill>
                <a:latin typeface="Montserrat"/>
                <a:ea typeface="Montserrat"/>
                <a:cs typeface="Montserrat"/>
                <a:sym typeface="Montserrat"/>
              </a:rPr>
              <a:t>of</a:t>
            </a:r>
            <a:r>
              <a:rPr lang="en-US" sz="2093" strike="noStrike" u="none">
                <a:solidFill>
                  <a:srgbClr val="101010"/>
                </a:solidFill>
                <a:latin typeface="Montserrat"/>
                <a:ea typeface="Montserrat"/>
                <a:cs typeface="Montserrat"/>
                <a:sym typeface="Montserrat"/>
              </a:rPr>
              <a:t>esional solicitada y facultad correspondiente.</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Rendimiento:</a:t>
            </a:r>
            <a:r>
              <a:rPr lang="en-US" sz="2093" strike="noStrike" u="none">
                <a:solidFill>
                  <a:srgbClr val="101010"/>
                </a:solidFill>
                <a:latin typeface="Montserrat"/>
                <a:ea typeface="Montserrat"/>
                <a:cs typeface="Montserrat"/>
                <a:sym typeface="Montserrat"/>
              </a:rPr>
              <a:t> Puntaje final obtenido y condición de ingreso (Flag de ingreso).</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Perfil Geográfico:</a:t>
            </a:r>
            <a:r>
              <a:rPr lang="en-US" sz="2093" strike="noStrike" u="none">
                <a:solidFill>
                  <a:srgbClr val="101010"/>
                </a:solidFill>
                <a:latin typeface="Montserrat"/>
                <a:ea typeface="Montserrat"/>
                <a:cs typeface="Montserrat"/>
                <a:sym typeface="Montserrat"/>
              </a:rPr>
              <a:t> Departamento de procedencia del postulante.</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Perfil Educativo:</a:t>
            </a:r>
            <a:r>
              <a:rPr lang="en-US" sz="2093" strike="noStrike" u="none">
                <a:solidFill>
                  <a:srgbClr val="101010"/>
                </a:solidFill>
                <a:latin typeface="Montserrat"/>
                <a:ea typeface="Montserrat"/>
                <a:cs typeface="Montserrat"/>
                <a:sym typeface="Montserrat"/>
              </a:rPr>
              <a:t> Institución educativa (colegio) de origen y tipo de gestión (Público/Privado).</a:t>
            </a:r>
          </a:p>
          <a:p>
            <a:pPr algn="l" marL="451962" indent="-225981" lvl="1">
              <a:lnSpc>
                <a:spcPts val="2930"/>
              </a:lnSpc>
              <a:spcBef>
                <a:spcPct val="0"/>
              </a:spcBef>
              <a:buFont typeface="Arial"/>
              <a:buChar char="•"/>
            </a:pPr>
            <a:r>
              <a:rPr lang="en-US" b="true" sz="2093" strike="noStrike" u="none">
                <a:solidFill>
                  <a:srgbClr val="101010"/>
                </a:solidFill>
                <a:latin typeface="Montserrat Bold"/>
                <a:ea typeface="Montserrat Bold"/>
                <a:cs typeface="Montserrat Bold"/>
                <a:sym typeface="Montserrat Bold"/>
              </a:rPr>
              <a:t>Datos Demográficos: </a:t>
            </a:r>
            <a:r>
              <a:rPr lang="en-US" sz="2093" strike="noStrike" u="none">
                <a:solidFill>
                  <a:srgbClr val="101010"/>
                </a:solidFill>
                <a:latin typeface="Montserrat"/>
                <a:ea typeface="Montserrat"/>
                <a:cs typeface="Montserrat"/>
                <a:sym typeface="Montserrat"/>
              </a:rPr>
              <a:t>Edad al momento de</a:t>
            </a:r>
            <a:r>
              <a:rPr lang="en-US" sz="2093" strike="noStrike" u="none">
                <a:solidFill>
                  <a:srgbClr val="101010"/>
                </a:solidFill>
                <a:latin typeface="Montserrat"/>
                <a:ea typeface="Montserrat"/>
                <a:cs typeface="Montserrat"/>
                <a:sym typeface="Montserrat"/>
              </a:rPr>
              <a:t> </a:t>
            </a:r>
            <a:r>
              <a:rPr lang="en-US" sz="2093" strike="noStrike" u="none">
                <a:solidFill>
                  <a:srgbClr val="101010"/>
                </a:solidFill>
                <a:latin typeface="Montserrat"/>
                <a:ea typeface="Montserrat"/>
                <a:cs typeface="Montserrat"/>
                <a:sym typeface="Montserrat"/>
              </a:rPr>
              <a:t>la </a:t>
            </a:r>
            <a:r>
              <a:rPr lang="en-US" sz="2093" strike="noStrike" u="none">
                <a:solidFill>
                  <a:srgbClr val="101010"/>
                </a:solidFill>
                <a:latin typeface="Montserrat"/>
                <a:ea typeface="Montserrat"/>
                <a:cs typeface="Montserrat"/>
                <a:sym typeface="Montserrat"/>
              </a:rPr>
              <a:t>po</a:t>
            </a:r>
            <a:r>
              <a:rPr lang="en-US" sz="2093" strike="noStrike" u="none">
                <a:solidFill>
                  <a:srgbClr val="101010"/>
                </a:solidFill>
                <a:latin typeface="Montserrat"/>
                <a:ea typeface="Montserrat"/>
                <a:cs typeface="Montserrat"/>
                <a:sym typeface="Montserrat"/>
              </a:rPr>
              <a:t>s</a:t>
            </a:r>
            <a:r>
              <a:rPr lang="en-US" sz="2093" strike="noStrike" u="none">
                <a:solidFill>
                  <a:srgbClr val="101010"/>
                </a:solidFill>
                <a:latin typeface="Montserrat"/>
                <a:ea typeface="Montserrat"/>
                <a:cs typeface="Montserrat"/>
                <a:sym typeface="Montserrat"/>
              </a:rPr>
              <a:t>t</a:t>
            </a:r>
            <a:r>
              <a:rPr lang="en-US" sz="2093" strike="noStrike" u="none">
                <a:solidFill>
                  <a:srgbClr val="101010"/>
                </a:solidFill>
                <a:latin typeface="Montserrat"/>
                <a:ea typeface="Montserrat"/>
                <a:cs typeface="Montserrat"/>
                <a:sym typeface="Montserrat"/>
              </a:rPr>
              <a:t>ulación</a:t>
            </a:r>
            <a:r>
              <a:rPr lang="en-US" sz="2093" strike="noStrike" u="none">
                <a:solidFill>
                  <a:srgbClr val="101010"/>
                </a:solidFill>
                <a:latin typeface="Montserrat"/>
                <a:ea typeface="Montserrat"/>
                <a:cs typeface="Montserrat"/>
                <a:sym typeface="Montserrat"/>
              </a:rPr>
              <a:t>, sexo y</a:t>
            </a:r>
            <a:r>
              <a:rPr lang="en-US" sz="2093" strike="noStrike" u="none">
                <a:solidFill>
                  <a:srgbClr val="101010"/>
                </a:solidFill>
                <a:latin typeface="Montserrat"/>
                <a:ea typeface="Montserrat"/>
                <a:cs typeface="Montserrat"/>
                <a:sym typeface="Montserrat"/>
              </a:rPr>
              <a:t> </a:t>
            </a:r>
            <a:r>
              <a:rPr lang="en-US" sz="2093" strike="noStrike" u="none">
                <a:solidFill>
                  <a:srgbClr val="101010"/>
                </a:solidFill>
                <a:latin typeface="Montserrat"/>
                <a:ea typeface="Montserrat"/>
                <a:cs typeface="Montserrat"/>
                <a:sym typeface="Montserrat"/>
              </a:rPr>
              <a:t>año d</a:t>
            </a:r>
            <a:r>
              <a:rPr lang="en-US" sz="2093" strike="noStrike" u="none">
                <a:solidFill>
                  <a:srgbClr val="101010"/>
                </a:solidFill>
                <a:latin typeface="Montserrat"/>
                <a:ea typeface="Montserrat"/>
                <a:cs typeface="Montserrat"/>
                <a:sym typeface="Montserrat"/>
              </a:rPr>
              <a:t>e</a:t>
            </a:r>
            <a:r>
              <a:rPr lang="en-US" sz="2093" strike="noStrike" u="none">
                <a:solidFill>
                  <a:srgbClr val="101010"/>
                </a:solidFill>
                <a:latin typeface="Montserrat"/>
                <a:ea typeface="Montserrat"/>
                <a:cs typeface="Montserrat"/>
                <a:sym typeface="Montserrat"/>
              </a:rPr>
              <a:t>l p</a:t>
            </a:r>
            <a:r>
              <a:rPr lang="en-US" sz="2093" strike="noStrike" u="none">
                <a:solidFill>
                  <a:srgbClr val="101010"/>
                </a:solidFill>
                <a:latin typeface="Montserrat"/>
                <a:ea typeface="Montserrat"/>
                <a:cs typeface="Montserrat"/>
                <a:sym typeface="Montserrat"/>
              </a:rPr>
              <a:t>r</a:t>
            </a:r>
            <a:r>
              <a:rPr lang="en-US" sz="2093" strike="noStrike" u="none">
                <a:solidFill>
                  <a:srgbClr val="101010"/>
                </a:solidFill>
                <a:latin typeface="Montserrat"/>
                <a:ea typeface="Montserrat"/>
                <a:cs typeface="Montserrat"/>
                <a:sym typeface="Montserrat"/>
              </a:rPr>
              <a:t>o</a:t>
            </a:r>
            <a:r>
              <a:rPr lang="en-US" sz="2093" strike="noStrike" u="none">
                <a:solidFill>
                  <a:srgbClr val="101010"/>
                </a:solidFill>
                <a:latin typeface="Montserrat"/>
                <a:ea typeface="Montserrat"/>
                <a:cs typeface="Montserrat"/>
                <a:sym typeface="Montserrat"/>
              </a:rPr>
              <a:t>c</a:t>
            </a:r>
            <a:r>
              <a:rPr lang="en-US" sz="2093" strike="noStrike" u="none">
                <a:solidFill>
                  <a:srgbClr val="101010"/>
                </a:solidFill>
                <a:latin typeface="Montserrat"/>
                <a:ea typeface="Montserrat"/>
                <a:cs typeface="Montserrat"/>
                <a:sym typeface="Montserrat"/>
              </a:rPr>
              <a:t>eso.</a:t>
            </a:r>
          </a:p>
          <a:p>
            <a:pPr algn="l" marL="0" indent="0" lvl="0">
              <a:lnSpc>
                <a:spcPts val="2930"/>
              </a:lnSpc>
              <a:spcBef>
                <a:spcPct val="0"/>
              </a:spcBef>
            </a:pPr>
          </a:p>
        </p:txBody>
      </p:sp>
      <p:sp>
        <p:nvSpPr>
          <p:cNvPr name="TextBox 10" id="10"/>
          <p:cNvSpPr txBox="true"/>
          <p:nvPr/>
        </p:nvSpPr>
        <p:spPr>
          <a:xfrm rot="0">
            <a:off x="10607304" y="2107947"/>
            <a:ext cx="8397219" cy="1246488"/>
          </a:xfrm>
          <a:prstGeom prst="rect">
            <a:avLst/>
          </a:prstGeom>
        </p:spPr>
        <p:txBody>
          <a:bodyPr anchor="t" rtlCol="false" tIns="0" lIns="0" bIns="0" rIns="0">
            <a:spAutoFit/>
          </a:bodyPr>
          <a:lstStyle/>
          <a:p>
            <a:pPr algn="l" marL="0" indent="0" lvl="0">
              <a:lnSpc>
                <a:spcPts val="10276"/>
              </a:lnSpc>
              <a:spcBef>
                <a:spcPct val="0"/>
              </a:spcBef>
            </a:pPr>
            <a:r>
              <a:rPr lang="en-US" b="true" sz="7340">
                <a:solidFill>
                  <a:srgbClr val="000000"/>
                </a:solidFill>
                <a:latin typeface="Montserrat Bold"/>
                <a:ea typeface="Montserrat Bold"/>
                <a:cs typeface="Montserrat Bold"/>
                <a:sym typeface="Montserrat Bold"/>
              </a:rPr>
              <a:t>Información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874361"/>
            <a:chOff x="0" y="0"/>
            <a:chExt cx="9414331" cy="964887"/>
          </a:xfrm>
        </p:grpSpPr>
        <p:sp>
          <p:nvSpPr>
            <p:cNvPr name="Freeform 3" id="3"/>
            <p:cNvSpPr/>
            <p:nvPr/>
          </p:nvSpPr>
          <p:spPr>
            <a:xfrm flipH="false" flipV="false" rot="0">
              <a:off x="0" y="0"/>
              <a:ext cx="9414331" cy="964887"/>
            </a:xfrm>
            <a:custGeom>
              <a:avLst/>
              <a:gdLst/>
              <a:ahLst/>
              <a:cxnLst/>
              <a:rect r="r" b="b" t="t" l="l"/>
              <a:pathLst>
                <a:path h="964887" w="9414331">
                  <a:moveTo>
                    <a:pt x="0" y="0"/>
                  </a:moveTo>
                  <a:lnTo>
                    <a:pt x="9414331" y="0"/>
                  </a:lnTo>
                  <a:lnTo>
                    <a:pt x="9414331" y="964887"/>
                  </a:lnTo>
                  <a:lnTo>
                    <a:pt x="0" y="964887"/>
                  </a:lnTo>
                  <a:close/>
                </a:path>
              </a:pathLst>
            </a:custGeom>
            <a:gradFill rotWithShape="true">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l="0" r="100000" t="0" b="100000"/>
              </a:path>
              <a:tileRect r="0" l="-100000" b="0" t="-100000"/>
            </a:gradFill>
          </p:spPr>
        </p:sp>
        <p:sp>
          <p:nvSpPr>
            <p:cNvPr name="TextBox 4" id="4"/>
            <p:cNvSpPr txBox="true"/>
            <p:nvPr/>
          </p:nvSpPr>
          <p:spPr>
            <a:xfrm>
              <a:off x="0" y="-38100"/>
              <a:ext cx="9414331" cy="100298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66599" y="2102961"/>
            <a:ext cx="13646920" cy="5049360"/>
          </a:xfrm>
          <a:custGeom>
            <a:avLst/>
            <a:gdLst/>
            <a:ahLst/>
            <a:cxnLst/>
            <a:rect r="r" b="b" t="t" l="l"/>
            <a:pathLst>
              <a:path h="5049360" w="13646920">
                <a:moveTo>
                  <a:pt x="0" y="0"/>
                </a:moveTo>
                <a:lnTo>
                  <a:pt x="13646920" y="0"/>
                </a:lnTo>
                <a:lnTo>
                  <a:pt x="13646920" y="5049361"/>
                </a:lnTo>
                <a:lnTo>
                  <a:pt x="0" y="5049361"/>
                </a:lnTo>
                <a:lnTo>
                  <a:pt x="0" y="0"/>
                </a:lnTo>
                <a:close/>
              </a:path>
            </a:pathLst>
          </a:custGeom>
          <a:blipFill>
            <a:blip r:embed="rId2"/>
            <a:stretch>
              <a:fillRect l="0" t="0" r="0" b="0"/>
            </a:stretch>
          </a:blipFill>
        </p:spPr>
      </p:sp>
      <p:sp>
        <p:nvSpPr>
          <p:cNvPr name="TextBox 6" id="6"/>
          <p:cNvSpPr txBox="true"/>
          <p:nvPr/>
        </p:nvSpPr>
        <p:spPr>
          <a:xfrm rot="0">
            <a:off x="3081767" y="247262"/>
            <a:ext cx="14177533" cy="1246488"/>
          </a:xfrm>
          <a:prstGeom prst="rect">
            <a:avLst/>
          </a:prstGeom>
        </p:spPr>
        <p:txBody>
          <a:bodyPr anchor="t" rtlCol="false" tIns="0" lIns="0" bIns="0" rIns="0">
            <a:spAutoFit/>
          </a:bodyPr>
          <a:lstStyle/>
          <a:p>
            <a:pPr algn="l" marL="0" indent="0" lvl="0">
              <a:lnSpc>
                <a:spcPts val="10276"/>
              </a:lnSpc>
              <a:spcBef>
                <a:spcPct val="0"/>
              </a:spcBef>
            </a:pPr>
            <a:r>
              <a:rPr lang="en-US" b="true" sz="7340">
                <a:solidFill>
                  <a:srgbClr val="FFFFFF"/>
                </a:solidFill>
                <a:latin typeface="Montserrat Bold"/>
                <a:ea typeface="Montserrat Bold"/>
                <a:cs typeface="Montserrat Bold"/>
                <a:sym typeface="Montserrat Bold"/>
              </a:rPr>
              <a:t>Arquitectura BI Local</a:t>
            </a:r>
          </a:p>
        </p:txBody>
      </p:sp>
      <p:sp>
        <p:nvSpPr>
          <p:cNvPr name="TextBox 7" id="7"/>
          <p:cNvSpPr txBox="true"/>
          <p:nvPr/>
        </p:nvSpPr>
        <p:spPr>
          <a:xfrm rot="0">
            <a:off x="473529" y="7447915"/>
            <a:ext cx="16785771" cy="1810385"/>
          </a:xfrm>
          <a:prstGeom prst="rect">
            <a:avLst/>
          </a:prstGeom>
        </p:spPr>
        <p:txBody>
          <a:bodyPr anchor="t" rtlCol="false" tIns="0" lIns="0" bIns="0" rIns="0">
            <a:spAutoFit/>
          </a:bodyPr>
          <a:lstStyle/>
          <a:p>
            <a:pPr algn="ctr">
              <a:lnSpc>
                <a:spcPts val="3640"/>
              </a:lnSpc>
              <a:spcBef>
                <a:spcPct val="0"/>
              </a:spcBef>
            </a:pPr>
            <a:r>
              <a:rPr lang="en-US" sz="2600">
                <a:solidFill>
                  <a:srgbClr val="000000"/>
                </a:solidFill>
                <a:latin typeface="Montserrat"/>
                <a:ea typeface="Montserrat"/>
                <a:cs typeface="Montserrat"/>
                <a:sym typeface="Montserrat"/>
              </a:rPr>
              <a:t>Mi arquitectura end-to-end se basa en un ecosistema de Big Data local. Iniciamos con la ingesta en HDFS, lo que nos permite escalar en volumen de datos. El núcleo de la inteligencia reside en Apache Spark, donde transformamos datos desestructurados en un Esquema Estrella. Finalmente, utilizamos Hive como nuestro Data Warehouse para servir los datos a Power BI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874361"/>
            <a:chOff x="0" y="0"/>
            <a:chExt cx="9414331" cy="964887"/>
          </a:xfrm>
        </p:grpSpPr>
        <p:sp>
          <p:nvSpPr>
            <p:cNvPr name="Freeform 3" id="3"/>
            <p:cNvSpPr/>
            <p:nvPr/>
          </p:nvSpPr>
          <p:spPr>
            <a:xfrm flipH="false" flipV="false" rot="0">
              <a:off x="0" y="0"/>
              <a:ext cx="9414331" cy="964887"/>
            </a:xfrm>
            <a:custGeom>
              <a:avLst/>
              <a:gdLst/>
              <a:ahLst/>
              <a:cxnLst/>
              <a:rect r="r" b="b" t="t" l="l"/>
              <a:pathLst>
                <a:path h="964887" w="9414331">
                  <a:moveTo>
                    <a:pt x="0" y="0"/>
                  </a:moveTo>
                  <a:lnTo>
                    <a:pt x="9414331" y="0"/>
                  </a:lnTo>
                  <a:lnTo>
                    <a:pt x="9414331" y="964887"/>
                  </a:lnTo>
                  <a:lnTo>
                    <a:pt x="0" y="964887"/>
                  </a:lnTo>
                  <a:close/>
                </a:path>
              </a:pathLst>
            </a:custGeom>
            <a:gradFill rotWithShape="true">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l="0" r="100000" t="0" b="100000"/>
              </a:path>
              <a:tileRect r="0" l="-100000" b="0" t="-100000"/>
            </a:gradFill>
          </p:spPr>
        </p:sp>
        <p:sp>
          <p:nvSpPr>
            <p:cNvPr name="TextBox 4" id="4"/>
            <p:cNvSpPr txBox="true"/>
            <p:nvPr/>
          </p:nvSpPr>
          <p:spPr>
            <a:xfrm>
              <a:off x="0" y="-38100"/>
              <a:ext cx="9414331" cy="100298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66599" y="2102961"/>
            <a:ext cx="13646920" cy="5049360"/>
          </a:xfrm>
          <a:custGeom>
            <a:avLst/>
            <a:gdLst/>
            <a:ahLst/>
            <a:cxnLst/>
            <a:rect r="r" b="b" t="t" l="l"/>
            <a:pathLst>
              <a:path h="5049360" w="13646920">
                <a:moveTo>
                  <a:pt x="0" y="0"/>
                </a:moveTo>
                <a:lnTo>
                  <a:pt x="13646920" y="0"/>
                </a:lnTo>
                <a:lnTo>
                  <a:pt x="13646920" y="5049361"/>
                </a:lnTo>
                <a:lnTo>
                  <a:pt x="0" y="5049361"/>
                </a:lnTo>
                <a:lnTo>
                  <a:pt x="0" y="0"/>
                </a:lnTo>
                <a:close/>
              </a:path>
            </a:pathLst>
          </a:custGeom>
          <a:blipFill>
            <a:blip r:embed="rId2"/>
            <a:stretch>
              <a:fillRect l="0" t="0" r="0" b="0"/>
            </a:stretch>
          </a:blipFill>
        </p:spPr>
      </p:sp>
      <p:sp>
        <p:nvSpPr>
          <p:cNvPr name="TextBox 6" id="6"/>
          <p:cNvSpPr txBox="true"/>
          <p:nvPr/>
        </p:nvSpPr>
        <p:spPr>
          <a:xfrm rot="0">
            <a:off x="3081767" y="247262"/>
            <a:ext cx="14177533" cy="1246488"/>
          </a:xfrm>
          <a:prstGeom prst="rect">
            <a:avLst/>
          </a:prstGeom>
        </p:spPr>
        <p:txBody>
          <a:bodyPr anchor="t" rtlCol="false" tIns="0" lIns="0" bIns="0" rIns="0">
            <a:spAutoFit/>
          </a:bodyPr>
          <a:lstStyle/>
          <a:p>
            <a:pPr algn="l" marL="0" indent="0" lvl="0">
              <a:lnSpc>
                <a:spcPts val="10276"/>
              </a:lnSpc>
              <a:spcBef>
                <a:spcPct val="0"/>
              </a:spcBef>
            </a:pPr>
            <a:r>
              <a:rPr lang="en-US" b="true" sz="7340">
                <a:solidFill>
                  <a:srgbClr val="FFFFFF"/>
                </a:solidFill>
                <a:latin typeface="Montserrat Bold"/>
                <a:ea typeface="Montserrat Bold"/>
                <a:cs typeface="Montserrat Bold"/>
                <a:sym typeface="Montserrat Bold"/>
              </a:rPr>
              <a:t>Arquitectura BI Local</a:t>
            </a:r>
          </a:p>
        </p:txBody>
      </p:sp>
      <p:sp>
        <p:nvSpPr>
          <p:cNvPr name="TextBox 7" id="7"/>
          <p:cNvSpPr txBox="true"/>
          <p:nvPr/>
        </p:nvSpPr>
        <p:spPr>
          <a:xfrm rot="0">
            <a:off x="473529" y="7447915"/>
            <a:ext cx="16785771" cy="1810385"/>
          </a:xfrm>
          <a:prstGeom prst="rect">
            <a:avLst/>
          </a:prstGeom>
        </p:spPr>
        <p:txBody>
          <a:bodyPr anchor="t" rtlCol="false" tIns="0" lIns="0" bIns="0" rIns="0">
            <a:spAutoFit/>
          </a:bodyPr>
          <a:lstStyle/>
          <a:p>
            <a:pPr algn="ctr">
              <a:lnSpc>
                <a:spcPts val="3640"/>
              </a:lnSpc>
              <a:spcBef>
                <a:spcPct val="0"/>
              </a:spcBef>
            </a:pPr>
            <a:r>
              <a:rPr lang="en-US" sz="2600">
                <a:solidFill>
                  <a:srgbClr val="000000"/>
                </a:solidFill>
                <a:latin typeface="Montserrat"/>
                <a:ea typeface="Montserrat"/>
                <a:cs typeface="Montserrat"/>
                <a:sym typeface="Montserrat"/>
              </a:rPr>
              <a:t>Mi arquitectura end-to-end se basa en un ecosistema de Big Data local. Iniciamos con la ingesta en HDFS, lo que nos permite escalar en volumen de datos. El núcleo de la inteligencia reside en Apache Spark, donde transformamos datos desestructurados en un Esquema Estrella. Finalmente, utilizamos Hive como nuestro Data Warehouse para servir los datos a Power BI</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874361"/>
            <a:chOff x="0" y="0"/>
            <a:chExt cx="9414331" cy="964887"/>
          </a:xfrm>
        </p:grpSpPr>
        <p:sp>
          <p:nvSpPr>
            <p:cNvPr name="Freeform 3" id="3"/>
            <p:cNvSpPr/>
            <p:nvPr/>
          </p:nvSpPr>
          <p:spPr>
            <a:xfrm flipH="false" flipV="false" rot="0">
              <a:off x="0" y="0"/>
              <a:ext cx="9414331" cy="964887"/>
            </a:xfrm>
            <a:custGeom>
              <a:avLst/>
              <a:gdLst/>
              <a:ahLst/>
              <a:cxnLst/>
              <a:rect r="r" b="b" t="t" l="l"/>
              <a:pathLst>
                <a:path h="964887" w="9414331">
                  <a:moveTo>
                    <a:pt x="0" y="0"/>
                  </a:moveTo>
                  <a:lnTo>
                    <a:pt x="9414331" y="0"/>
                  </a:lnTo>
                  <a:lnTo>
                    <a:pt x="9414331" y="964887"/>
                  </a:lnTo>
                  <a:lnTo>
                    <a:pt x="0" y="964887"/>
                  </a:lnTo>
                  <a:close/>
                </a:path>
              </a:pathLst>
            </a:custGeom>
            <a:gradFill rotWithShape="true">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l="0" r="100000" t="0" b="100000"/>
              </a:path>
              <a:tileRect r="0" l="-100000" b="0" t="-100000"/>
            </a:gradFill>
          </p:spPr>
        </p:sp>
        <p:sp>
          <p:nvSpPr>
            <p:cNvPr name="TextBox 4" id="4"/>
            <p:cNvSpPr txBox="true"/>
            <p:nvPr/>
          </p:nvSpPr>
          <p:spPr>
            <a:xfrm>
              <a:off x="0" y="-38100"/>
              <a:ext cx="9414331" cy="100298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081767" y="247262"/>
            <a:ext cx="14177533" cy="1246488"/>
          </a:xfrm>
          <a:prstGeom prst="rect">
            <a:avLst/>
          </a:prstGeom>
        </p:spPr>
        <p:txBody>
          <a:bodyPr anchor="t" rtlCol="false" tIns="0" lIns="0" bIns="0" rIns="0">
            <a:spAutoFit/>
          </a:bodyPr>
          <a:lstStyle/>
          <a:p>
            <a:pPr algn="l" marL="0" indent="0" lvl="0">
              <a:lnSpc>
                <a:spcPts val="10276"/>
              </a:lnSpc>
              <a:spcBef>
                <a:spcPct val="0"/>
              </a:spcBef>
            </a:pPr>
            <a:r>
              <a:rPr lang="en-US" b="true" sz="7340">
                <a:solidFill>
                  <a:srgbClr val="FFFFFF"/>
                </a:solidFill>
                <a:latin typeface="Montserrat Bold"/>
                <a:ea typeface="Montserrat Bold"/>
                <a:cs typeface="Montserrat Bold"/>
                <a:sym typeface="Montserrat Bold"/>
              </a:rPr>
              <a:t>FLUJO ETL</a:t>
            </a:r>
          </a:p>
        </p:txBody>
      </p:sp>
      <p:sp>
        <p:nvSpPr>
          <p:cNvPr name="TextBox 6" id="6"/>
          <p:cNvSpPr txBox="true"/>
          <p:nvPr/>
        </p:nvSpPr>
        <p:spPr>
          <a:xfrm rot="0">
            <a:off x="419994" y="2646952"/>
            <a:ext cx="17448012" cy="5989450"/>
          </a:xfrm>
          <a:prstGeom prst="rect">
            <a:avLst/>
          </a:prstGeom>
        </p:spPr>
        <p:txBody>
          <a:bodyPr anchor="t" rtlCol="false" tIns="0" lIns="0" bIns="0" rIns="0">
            <a:spAutoFit/>
          </a:bodyPr>
          <a:lstStyle/>
          <a:p>
            <a:pPr algn="l">
              <a:lnSpc>
                <a:spcPts val="3679"/>
              </a:lnSpc>
              <a:spcBef>
                <a:spcPct val="0"/>
              </a:spcBef>
            </a:pPr>
            <a:r>
              <a:rPr lang="en-US" sz="2628">
                <a:solidFill>
                  <a:srgbClr val="000000"/>
                </a:solidFill>
                <a:latin typeface="Montserrat"/>
                <a:ea typeface="Montserrat"/>
                <a:cs typeface="Montserrat"/>
                <a:sym typeface="Montserrat"/>
              </a:rPr>
              <a:t> </a:t>
            </a:r>
            <a:r>
              <a:rPr lang="en-US" b="true" sz="2628">
                <a:solidFill>
                  <a:srgbClr val="000000"/>
                </a:solidFill>
                <a:latin typeface="Montserrat Bold"/>
                <a:ea typeface="Montserrat Bold"/>
                <a:cs typeface="Montserrat Bold"/>
                <a:sym typeface="Montserrat Bold"/>
              </a:rPr>
              <a:t>Flujo ETL (Extract, Transform, Load)</a:t>
            </a:r>
          </a:p>
          <a:p>
            <a:pPr algn="l">
              <a:lnSpc>
                <a:spcPts val="3679"/>
              </a:lnSpc>
              <a:spcBef>
                <a:spcPct val="0"/>
              </a:spcBef>
            </a:pPr>
            <a:r>
              <a:rPr lang="en-US" sz="2628">
                <a:solidFill>
                  <a:srgbClr val="000000"/>
                </a:solidFill>
                <a:latin typeface="Montserrat"/>
                <a:ea typeface="Montserrat"/>
                <a:cs typeface="Montserrat"/>
                <a:sym typeface="Montserrat"/>
              </a:rPr>
              <a:t>El proceso se realizó utilizando PySpark para garantizar velocidad y manejo eficiente de la memoria:</a:t>
            </a:r>
          </a:p>
          <a:p>
            <a:pPr algn="l">
              <a:lnSpc>
                <a:spcPts val="3679"/>
              </a:lnSpc>
              <a:spcBef>
                <a:spcPct val="0"/>
              </a:spcBef>
            </a:pPr>
            <a:r>
              <a:rPr lang="en-US" b="true" sz="2628">
                <a:solidFill>
                  <a:srgbClr val="000000"/>
                </a:solidFill>
                <a:latin typeface="Montserrat Bold"/>
                <a:ea typeface="Montserrat Bold"/>
                <a:cs typeface="Montserrat Bold"/>
                <a:sym typeface="Montserrat Bold"/>
              </a:rPr>
              <a:t>Extracción (Extract):</a:t>
            </a:r>
            <a:r>
              <a:rPr lang="en-US" sz="2628">
                <a:solidFill>
                  <a:srgbClr val="000000"/>
                </a:solidFill>
                <a:latin typeface="Montserrat"/>
                <a:ea typeface="Montserrat"/>
                <a:cs typeface="Montserrat"/>
                <a:sym typeface="Montserrat"/>
              </a:rPr>
              <a:t> Lectura del archivo Alumnos_CEPRE.csv desde HDFS con inferencia automática de esquema.</a:t>
            </a:r>
          </a:p>
          <a:p>
            <a:pPr algn="l">
              <a:lnSpc>
                <a:spcPts val="3679"/>
              </a:lnSpc>
              <a:spcBef>
                <a:spcPct val="0"/>
              </a:spcBef>
            </a:pPr>
            <a:r>
              <a:rPr lang="en-US" sz="2628">
                <a:solidFill>
                  <a:srgbClr val="000000"/>
                </a:solidFill>
                <a:latin typeface="Montserrat"/>
                <a:ea typeface="Montserrat"/>
                <a:cs typeface="Montserrat"/>
                <a:sym typeface="Montserrat"/>
              </a:rPr>
              <a:t>Transformación (Transform):</a:t>
            </a:r>
          </a:p>
          <a:p>
            <a:pPr algn="just">
              <a:lnSpc>
                <a:spcPts val="3679"/>
              </a:lnSpc>
              <a:spcBef>
                <a:spcPct val="0"/>
              </a:spcBef>
            </a:pPr>
            <a:r>
              <a:rPr lang="en-US" b="true" sz="2628">
                <a:solidFill>
                  <a:srgbClr val="000000"/>
                </a:solidFill>
                <a:latin typeface="Montserrat Bold"/>
                <a:ea typeface="Montserrat Bold"/>
                <a:cs typeface="Montserrat Bold"/>
                <a:sym typeface="Montserrat Bold"/>
              </a:rPr>
              <a:t>Limpieza:</a:t>
            </a:r>
            <a:r>
              <a:rPr lang="en-US" sz="2628">
                <a:solidFill>
                  <a:srgbClr val="000000"/>
                </a:solidFill>
                <a:latin typeface="Montserrat"/>
                <a:ea typeface="Montserrat"/>
                <a:cs typeface="Montserrat"/>
                <a:sym typeface="Montserrat"/>
              </a:rPr>
              <a:t> Estandarización de campos de texto (carrera, modalidad, colegio) a mayúsculas y eliminación de espacios en blanco.</a:t>
            </a:r>
          </a:p>
          <a:p>
            <a:pPr algn="l">
              <a:lnSpc>
                <a:spcPts val="3679"/>
              </a:lnSpc>
              <a:spcBef>
                <a:spcPct val="0"/>
              </a:spcBef>
            </a:pPr>
            <a:r>
              <a:rPr lang="en-US" sz="2628">
                <a:solidFill>
                  <a:srgbClr val="000000"/>
                </a:solidFill>
                <a:latin typeface="Montserrat"/>
                <a:ea typeface="Montserrat"/>
                <a:cs typeface="Montserrat"/>
                <a:sym typeface="Montserrat"/>
              </a:rPr>
              <a:t>Casteo de Datos: Conversión de columnas críticas (puntaje_final, edad, ingreso_flag) de texto a formatos numéricos para cálculos.</a:t>
            </a:r>
          </a:p>
          <a:p>
            <a:pPr algn="l">
              <a:lnSpc>
                <a:spcPts val="3679"/>
              </a:lnSpc>
              <a:spcBef>
                <a:spcPct val="0"/>
              </a:spcBef>
            </a:pPr>
            <a:r>
              <a:rPr lang="en-US" b="true" sz="2628">
                <a:solidFill>
                  <a:srgbClr val="000000"/>
                </a:solidFill>
                <a:latin typeface="Montserrat Bold"/>
                <a:ea typeface="Montserrat Bold"/>
                <a:cs typeface="Montserrat Bold"/>
                <a:sym typeface="Montserrat Bold"/>
              </a:rPr>
              <a:t>Deduplicación: </a:t>
            </a:r>
            <a:r>
              <a:rPr lang="en-US" sz="2628">
                <a:solidFill>
                  <a:srgbClr val="000000"/>
                </a:solidFill>
                <a:latin typeface="Montserrat"/>
                <a:ea typeface="Montserrat"/>
                <a:cs typeface="Montserrat"/>
                <a:sym typeface="Montserrat"/>
              </a:rPr>
              <a:t>Aplicación de filtros para eliminar registros repetidos, asegurando que cada postulante sea contado una sola vez.</a:t>
            </a:r>
          </a:p>
          <a:p>
            <a:pPr algn="l">
              <a:lnSpc>
                <a:spcPts val="3679"/>
              </a:lnSpc>
              <a:spcBef>
                <a:spcPct val="0"/>
              </a:spcBef>
            </a:pPr>
            <a:r>
              <a:rPr lang="en-US" b="true" sz="2628">
                <a:solidFill>
                  <a:srgbClr val="000000"/>
                </a:solidFill>
                <a:latin typeface="Montserrat Bold"/>
                <a:ea typeface="Montserrat Bold"/>
                <a:cs typeface="Montserrat Bold"/>
                <a:sym typeface="Montserrat Bold"/>
              </a:rPr>
              <a:t>Carga (Load)</a:t>
            </a:r>
            <a:r>
              <a:rPr lang="en-US" sz="2628">
                <a:solidFill>
                  <a:srgbClr val="000000"/>
                </a:solidFill>
                <a:latin typeface="Montserrat"/>
                <a:ea typeface="Montserrat"/>
                <a:cs typeface="Montserrat"/>
                <a:sym typeface="Montserrat"/>
              </a:rPr>
              <a:t>: Persistencia de los datos en Hive utilizando el formato Parquet, optimizando el almacenamiento en el clúster.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874361"/>
            <a:chOff x="0" y="0"/>
            <a:chExt cx="9414331" cy="964887"/>
          </a:xfrm>
        </p:grpSpPr>
        <p:sp>
          <p:nvSpPr>
            <p:cNvPr name="Freeform 3" id="3"/>
            <p:cNvSpPr/>
            <p:nvPr/>
          </p:nvSpPr>
          <p:spPr>
            <a:xfrm flipH="false" flipV="false" rot="0">
              <a:off x="0" y="0"/>
              <a:ext cx="9414331" cy="964887"/>
            </a:xfrm>
            <a:custGeom>
              <a:avLst/>
              <a:gdLst/>
              <a:ahLst/>
              <a:cxnLst/>
              <a:rect r="r" b="b" t="t" l="l"/>
              <a:pathLst>
                <a:path h="964887" w="9414331">
                  <a:moveTo>
                    <a:pt x="0" y="0"/>
                  </a:moveTo>
                  <a:lnTo>
                    <a:pt x="9414331" y="0"/>
                  </a:lnTo>
                  <a:lnTo>
                    <a:pt x="9414331" y="964887"/>
                  </a:lnTo>
                  <a:lnTo>
                    <a:pt x="0" y="964887"/>
                  </a:lnTo>
                  <a:close/>
                </a:path>
              </a:pathLst>
            </a:custGeom>
            <a:gradFill rotWithShape="true">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l="0" r="100000" t="0" b="100000"/>
              </a:path>
              <a:tileRect r="0" l="-100000" b="0" t="-100000"/>
            </a:gradFill>
          </p:spPr>
        </p:sp>
        <p:sp>
          <p:nvSpPr>
            <p:cNvPr name="TextBox 4" id="4"/>
            <p:cNvSpPr txBox="true"/>
            <p:nvPr/>
          </p:nvSpPr>
          <p:spPr>
            <a:xfrm>
              <a:off x="0" y="-38100"/>
              <a:ext cx="9414331" cy="100298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5688536" y="2271651"/>
            <a:ext cx="6910928" cy="5743698"/>
          </a:xfrm>
          <a:custGeom>
            <a:avLst/>
            <a:gdLst/>
            <a:ahLst/>
            <a:cxnLst/>
            <a:rect r="r" b="b" t="t" l="l"/>
            <a:pathLst>
              <a:path h="5743698" w="6910928">
                <a:moveTo>
                  <a:pt x="0" y="0"/>
                </a:moveTo>
                <a:lnTo>
                  <a:pt x="6910928" y="0"/>
                </a:lnTo>
                <a:lnTo>
                  <a:pt x="6910928" y="5743698"/>
                </a:lnTo>
                <a:lnTo>
                  <a:pt x="0" y="5743698"/>
                </a:lnTo>
                <a:lnTo>
                  <a:pt x="0" y="0"/>
                </a:lnTo>
                <a:close/>
              </a:path>
            </a:pathLst>
          </a:custGeom>
          <a:blipFill>
            <a:blip r:embed="rId2"/>
            <a:stretch>
              <a:fillRect l="0" t="0" r="0" b="0"/>
            </a:stretch>
          </a:blipFill>
        </p:spPr>
      </p:sp>
      <p:sp>
        <p:nvSpPr>
          <p:cNvPr name="TextBox 6" id="6"/>
          <p:cNvSpPr txBox="true"/>
          <p:nvPr/>
        </p:nvSpPr>
        <p:spPr>
          <a:xfrm rot="0">
            <a:off x="3734910" y="247262"/>
            <a:ext cx="14177533" cy="1246488"/>
          </a:xfrm>
          <a:prstGeom prst="rect">
            <a:avLst/>
          </a:prstGeom>
        </p:spPr>
        <p:txBody>
          <a:bodyPr anchor="t" rtlCol="false" tIns="0" lIns="0" bIns="0" rIns="0">
            <a:spAutoFit/>
          </a:bodyPr>
          <a:lstStyle/>
          <a:p>
            <a:pPr algn="l" marL="0" indent="0" lvl="0">
              <a:lnSpc>
                <a:spcPts val="10276"/>
              </a:lnSpc>
              <a:spcBef>
                <a:spcPct val="0"/>
              </a:spcBef>
            </a:pPr>
            <a:r>
              <a:rPr lang="en-US" b="true" sz="7340">
                <a:solidFill>
                  <a:srgbClr val="FFFFFF"/>
                </a:solidFill>
                <a:latin typeface="Montserrat Bold"/>
                <a:ea typeface="Montserrat Bold"/>
                <a:cs typeface="Montserrat Bold"/>
                <a:sym typeface="Montserrat Bold"/>
              </a:rPr>
              <a:t>MODELO ESTRELLA </a:t>
            </a:r>
          </a:p>
        </p:txBody>
      </p:sp>
      <p:sp>
        <p:nvSpPr>
          <p:cNvPr name="TextBox 7" id="7"/>
          <p:cNvSpPr txBox="true"/>
          <p:nvPr/>
        </p:nvSpPr>
        <p:spPr>
          <a:xfrm rot="0">
            <a:off x="0" y="8367774"/>
            <a:ext cx="17667514" cy="1353185"/>
          </a:xfrm>
          <a:prstGeom prst="rect">
            <a:avLst/>
          </a:prstGeom>
        </p:spPr>
        <p:txBody>
          <a:bodyPr anchor="t" rtlCol="false" tIns="0" lIns="0" bIns="0" rIns="0">
            <a:spAutoFit/>
          </a:bodyPr>
          <a:lstStyle/>
          <a:p>
            <a:pPr algn="ctr">
              <a:lnSpc>
                <a:spcPts val="3640"/>
              </a:lnSpc>
              <a:spcBef>
                <a:spcPct val="0"/>
              </a:spcBef>
            </a:pPr>
            <a:r>
              <a:rPr lang="en-US" sz="2600">
                <a:solidFill>
                  <a:srgbClr val="000000"/>
                </a:solidFill>
                <a:latin typeface="Montserrat"/>
                <a:ea typeface="Montserrat"/>
                <a:cs typeface="Montserrat"/>
                <a:sym typeface="Montserrat"/>
              </a:rPr>
              <a:t>E</a:t>
            </a:r>
            <a:r>
              <a:rPr lang="en-US" sz="2600">
                <a:solidFill>
                  <a:srgbClr val="000000"/>
                </a:solidFill>
                <a:latin typeface="Montserrat"/>
                <a:ea typeface="Montserrat"/>
                <a:cs typeface="Montserrat"/>
                <a:sym typeface="Montserrat"/>
              </a:rPr>
              <a:t>n lugar de trabajar con una sola tabla gigante y desordenada, separamos los atributos en dimensiones. Esto no solo ahorra espacio, sino que permite que los filtros del dashboard funcionen de manera instantánea al reducir la redundancia de datos.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874361"/>
            <a:chOff x="0" y="0"/>
            <a:chExt cx="9414331" cy="964887"/>
          </a:xfrm>
        </p:grpSpPr>
        <p:sp>
          <p:nvSpPr>
            <p:cNvPr name="Freeform 3" id="3"/>
            <p:cNvSpPr/>
            <p:nvPr/>
          </p:nvSpPr>
          <p:spPr>
            <a:xfrm flipH="false" flipV="false" rot="0">
              <a:off x="0" y="0"/>
              <a:ext cx="9414331" cy="964887"/>
            </a:xfrm>
            <a:custGeom>
              <a:avLst/>
              <a:gdLst/>
              <a:ahLst/>
              <a:cxnLst/>
              <a:rect r="r" b="b" t="t" l="l"/>
              <a:pathLst>
                <a:path h="964887" w="9414331">
                  <a:moveTo>
                    <a:pt x="0" y="0"/>
                  </a:moveTo>
                  <a:lnTo>
                    <a:pt x="9414331" y="0"/>
                  </a:lnTo>
                  <a:lnTo>
                    <a:pt x="9414331" y="964887"/>
                  </a:lnTo>
                  <a:lnTo>
                    <a:pt x="0" y="964887"/>
                  </a:lnTo>
                  <a:close/>
                </a:path>
              </a:pathLst>
            </a:custGeom>
            <a:gradFill rotWithShape="true">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l="0" r="100000" t="0" b="100000"/>
              </a:path>
              <a:tileRect r="0" l="-100000" b="0" t="-100000"/>
            </a:gradFill>
          </p:spPr>
        </p:sp>
        <p:sp>
          <p:nvSpPr>
            <p:cNvPr name="TextBox 4" id="4"/>
            <p:cNvSpPr txBox="true"/>
            <p:nvPr/>
          </p:nvSpPr>
          <p:spPr>
            <a:xfrm>
              <a:off x="0" y="-38100"/>
              <a:ext cx="9414331" cy="100298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081767" y="247262"/>
            <a:ext cx="14177533" cy="1246488"/>
          </a:xfrm>
          <a:prstGeom prst="rect">
            <a:avLst/>
          </a:prstGeom>
        </p:spPr>
        <p:txBody>
          <a:bodyPr anchor="t" rtlCol="false" tIns="0" lIns="0" bIns="0" rIns="0">
            <a:spAutoFit/>
          </a:bodyPr>
          <a:lstStyle/>
          <a:p>
            <a:pPr algn="l" marL="0" indent="0" lvl="0">
              <a:lnSpc>
                <a:spcPts val="10276"/>
              </a:lnSpc>
              <a:spcBef>
                <a:spcPct val="0"/>
              </a:spcBef>
            </a:pPr>
            <a:r>
              <a:rPr lang="en-US" b="true" sz="7340">
                <a:solidFill>
                  <a:srgbClr val="FFFFFF"/>
                </a:solidFill>
                <a:latin typeface="Montserrat Bold"/>
                <a:ea typeface="Montserrat Bold"/>
                <a:cs typeface="Montserrat Bold"/>
                <a:sym typeface="Montserrat Bold"/>
              </a:rPr>
              <a:t>KPIS de Modelo</a:t>
            </a:r>
          </a:p>
        </p:txBody>
      </p:sp>
      <p:sp>
        <p:nvSpPr>
          <p:cNvPr name="TextBox 6" id="6"/>
          <p:cNvSpPr txBox="true"/>
          <p:nvPr/>
        </p:nvSpPr>
        <p:spPr>
          <a:xfrm rot="0">
            <a:off x="261257" y="2059486"/>
            <a:ext cx="7684273" cy="3248759"/>
          </a:xfrm>
          <a:prstGeom prst="rect">
            <a:avLst/>
          </a:prstGeom>
        </p:spPr>
        <p:txBody>
          <a:bodyPr anchor="t" rtlCol="false" tIns="0" lIns="0" bIns="0" rIns="0">
            <a:spAutoFit/>
          </a:bodyPr>
          <a:lstStyle/>
          <a:p>
            <a:pPr algn="l">
              <a:lnSpc>
                <a:spcPts val="3244"/>
              </a:lnSpc>
              <a:spcBef>
                <a:spcPct val="0"/>
              </a:spcBef>
            </a:pPr>
            <a:r>
              <a:rPr lang="en-US" b="true" sz="2317">
                <a:solidFill>
                  <a:srgbClr val="000000"/>
                </a:solidFill>
                <a:latin typeface="Montserrat Bold"/>
                <a:ea typeface="Montserrat Bold"/>
                <a:cs typeface="Montserrat Bold"/>
                <a:sym typeface="Montserrat Bold"/>
              </a:rPr>
              <a:t>1.</a:t>
            </a:r>
            <a:r>
              <a:rPr lang="en-US" b="true" sz="2317">
                <a:solidFill>
                  <a:srgbClr val="000000"/>
                </a:solidFill>
                <a:latin typeface="Montserrat Bold"/>
                <a:ea typeface="Montserrat Bold"/>
                <a:cs typeface="Montserrat Bold"/>
                <a:sym typeface="Montserrat Bold"/>
              </a:rPr>
              <a:t> Tasa de Ingreso (Selectividad)</a:t>
            </a:r>
          </a:p>
          <a:p>
            <a:pPr algn="l" marL="500319" indent="-250160" lvl="1">
              <a:lnSpc>
                <a:spcPts val="3244"/>
              </a:lnSpc>
              <a:spcBef>
                <a:spcPct val="0"/>
              </a:spcBef>
              <a:buFont typeface="Arial"/>
              <a:buChar char="•"/>
            </a:pPr>
            <a:r>
              <a:rPr lang="en-US" sz="2317">
                <a:solidFill>
                  <a:srgbClr val="000000"/>
                </a:solidFill>
                <a:latin typeface="Montserrat"/>
                <a:ea typeface="Montserrat"/>
                <a:cs typeface="Montserrat"/>
                <a:sym typeface="Montserrat"/>
              </a:rPr>
              <a:t>Definición: Porcentaje de postulantes que logran una vacante frente al total.</a:t>
            </a:r>
          </a:p>
          <a:p>
            <a:pPr algn="l" marL="500319" indent="-250160" lvl="1">
              <a:lnSpc>
                <a:spcPts val="3244"/>
              </a:lnSpc>
              <a:spcBef>
                <a:spcPct val="0"/>
              </a:spcBef>
              <a:buFont typeface="Arial"/>
              <a:buChar char="•"/>
            </a:pPr>
            <a:r>
              <a:rPr lang="en-US" sz="2317">
                <a:solidFill>
                  <a:srgbClr val="000000"/>
                </a:solidFill>
                <a:latin typeface="Montserrat"/>
                <a:ea typeface="Montserrat"/>
                <a:cs typeface="Montserrat"/>
                <a:sym typeface="Montserrat"/>
              </a:rPr>
              <a:t>Fórmula: {Total Ingresantes}\Total Postulantes}*100</a:t>
            </a:r>
          </a:p>
          <a:p>
            <a:pPr algn="l" marL="500319" indent="-250160" lvl="1">
              <a:lnSpc>
                <a:spcPts val="3244"/>
              </a:lnSpc>
              <a:spcBef>
                <a:spcPct val="0"/>
              </a:spcBef>
              <a:buFont typeface="Arial"/>
              <a:buChar char="•"/>
            </a:pPr>
            <a:r>
              <a:rPr lang="en-US" sz="2317">
                <a:solidFill>
                  <a:srgbClr val="000000"/>
                </a:solidFill>
                <a:latin typeface="Montserrat"/>
                <a:ea typeface="Montserrat"/>
                <a:cs typeface="Montserrat"/>
                <a:sym typeface="Montserrat"/>
              </a:rPr>
              <a:t>Valor en el proyecto: Permite identificar qué tan competitivo fue el proceso (aprox. 18.5%).</a:t>
            </a:r>
          </a:p>
          <a:p>
            <a:pPr algn="l">
              <a:lnSpc>
                <a:spcPts val="3244"/>
              </a:lnSpc>
              <a:spcBef>
                <a:spcPct val="0"/>
              </a:spcBef>
            </a:pPr>
          </a:p>
        </p:txBody>
      </p:sp>
      <p:sp>
        <p:nvSpPr>
          <p:cNvPr name="TextBox 7" id="7"/>
          <p:cNvSpPr txBox="true"/>
          <p:nvPr/>
        </p:nvSpPr>
        <p:spPr>
          <a:xfrm rot="0">
            <a:off x="8349343" y="2059486"/>
            <a:ext cx="7684273" cy="2855789"/>
          </a:xfrm>
          <a:prstGeom prst="rect">
            <a:avLst/>
          </a:prstGeom>
        </p:spPr>
        <p:txBody>
          <a:bodyPr anchor="t" rtlCol="false" tIns="0" lIns="0" bIns="0" rIns="0">
            <a:spAutoFit/>
          </a:bodyPr>
          <a:lstStyle/>
          <a:p>
            <a:pPr algn="l">
              <a:lnSpc>
                <a:spcPts val="3244"/>
              </a:lnSpc>
              <a:spcBef>
                <a:spcPct val="0"/>
              </a:spcBef>
            </a:pPr>
            <a:r>
              <a:rPr lang="en-US" b="true" sz="2317">
                <a:solidFill>
                  <a:srgbClr val="000000"/>
                </a:solidFill>
                <a:latin typeface="Montserrat Bold"/>
                <a:ea typeface="Montserrat Bold"/>
                <a:cs typeface="Montserrat Bold"/>
                <a:sym typeface="Montserrat Bold"/>
              </a:rPr>
              <a:t>2.</a:t>
            </a:r>
            <a:r>
              <a:rPr lang="en-US" b="true" sz="2317">
                <a:solidFill>
                  <a:srgbClr val="000000"/>
                </a:solidFill>
                <a:latin typeface="Montserrat Bold"/>
                <a:ea typeface="Montserrat Bold"/>
                <a:cs typeface="Montserrat Bold"/>
                <a:sym typeface="Montserrat Bold"/>
              </a:rPr>
              <a:t> Puntaje de Cómputo General (Nota Máxima)</a:t>
            </a:r>
          </a:p>
          <a:p>
            <a:pPr algn="l" marL="500319" indent="-250160" lvl="1">
              <a:lnSpc>
                <a:spcPts val="3244"/>
              </a:lnSpc>
              <a:spcBef>
                <a:spcPct val="0"/>
              </a:spcBef>
              <a:buFont typeface="Arial"/>
              <a:buChar char="•"/>
            </a:pPr>
            <a:r>
              <a:rPr lang="en-US" sz="2317">
                <a:solidFill>
                  <a:srgbClr val="000000"/>
                </a:solidFill>
                <a:latin typeface="Montserrat"/>
                <a:ea typeface="Montserrat"/>
                <a:cs typeface="Montserrat"/>
                <a:sym typeface="Montserrat"/>
              </a:rPr>
              <a:t>Definición: El puntaje más alto registrado en todo el proceso.</a:t>
            </a:r>
          </a:p>
          <a:p>
            <a:pPr algn="l" marL="500319" indent="-250160" lvl="1">
              <a:lnSpc>
                <a:spcPts val="3244"/>
              </a:lnSpc>
              <a:spcBef>
                <a:spcPct val="0"/>
              </a:spcBef>
              <a:buFont typeface="Arial"/>
              <a:buChar char="•"/>
            </a:pPr>
            <a:r>
              <a:rPr lang="en-US" sz="2317">
                <a:solidFill>
                  <a:srgbClr val="000000"/>
                </a:solidFill>
                <a:latin typeface="Montserrat"/>
                <a:ea typeface="Montserrat"/>
                <a:cs typeface="Montserrat"/>
                <a:sym typeface="Montserrat"/>
              </a:rPr>
              <a:t>Fórmula: MAX({puntaje_final}</a:t>
            </a:r>
          </a:p>
          <a:p>
            <a:pPr algn="l" marL="500319" indent="-250160" lvl="1">
              <a:lnSpc>
                <a:spcPts val="3244"/>
              </a:lnSpc>
              <a:spcBef>
                <a:spcPct val="0"/>
              </a:spcBef>
              <a:buFont typeface="Arial"/>
              <a:buChar char="•"/>
            </a:pPr>
            <a:r>
              <a:rPr lang="en-US" sz="2317">
                <a:solidFill>
                  <a:srgbClr val="000000"/>
                </a:solidFill>
                <a:latin typeface="Montserrat"/>
                <a:ea typeface="Montserrat"/>
                <a:cs typeface="Montserrat"/>
                <a:sym typeface="Montserrat"/>
              </a:rPr>
              <a:t>Valor en el proyecto: Establece el estándar de excelencia académica del ciclo actual.</a:t>
            </a:r>
          </a:p>
          <a:p>
            <a:pPr algn="l">
              <a:lnSpc>
                <a:spcPts val="3244"/>
              </a:lnSpc>
              <a:spcBef>
                <a:spcPct val="0"/>
              </a:spcBef>
            </a:pPr>
          </a:p>
        </p:txBody>
      </p:sp>
      <p:sp>
        <p:nvSpPr>
          <p:cNvPr name="TextBox 8" id="8"/>
          <p:cNvSpPr txBox="true"/>
          <p:nvPr/>
        </p:nvSpPr>
        <p:spPr>
          <a:xfrm rot="0">
            <a:off x="261257" y="5489220"/>
            <a:ext cx="7684273" cy="3674939"/>
          </a:xfrm>
          <a:prstGeom prst="rect">
            <a:avLst/>
          </a:prstGeom>
        </p:spPr>
        <p:txBody>
          <a:bodyPr anchor="t" rtlCol="false" tIns="0" lIns="0" bIns="0" rIns="0">
            <a:spAutoFit/>
          </a:bodyPr>
          <a:lstStyle/>
          <a:p>
            <a:pPr algn="l">
              <a:lnSpc>
                <a:spcPts val="3244"/>
              </a:lnSpc>
              <a:spcBef>
                <a:spcPct val="0"/>
              </a:spcBef>
            </a:pPr>
            <a:r>
              <a:rPr lang="en-US" b="true" sz="2317">
                <a:solidFill>
                  <a:srgbClr val="000000"/>
                </a:solidFill>
                <a:latin typeface="Montserrat Bold"/>
                <a:ea typeface="Montserrat Bold"/>
                <a:cs typeface="Montserrat Bold"/>
                <a:sym typeface="Montserrat Bold"/>
              </a:rPr>
              <a:t>3.</a:t>
            </a:r>
            <a:r>
              <a:rPr lang="en-US" b="true" sz="2317">
                <a:solidFill>
                  <a:srgbClr val="000000"/>
                </a:solidFill>
                <a:latin typeface="Montserrat Bold"/>
                <a:ea typeface="Montserrat Bold"/>
                <a:cs typeface="Montserrat Bold"/>
                <a:sym typeface="Montserrat Bold"/>
              </a:rPr>
              <a:t> Índice de Atractividad por Carrera</a:t>
            </a:r>
          </a:p>
          <a:p>
            <a:pPr algn="l" marL="500319" indent="-250160" lvl="1">
              <a:lnSpc>
                <a:spcPts val="3244"/>
              </a:lnSpc>
              <a:spcBef>
                <a:spcPct val="0"/>
              </a:spcBef>
              <a:buFont typeface="Arial"/>
              <a:buChar char="•"/>
            </a:pPr>
            <a:r>
              <a:rPr lang="en-US" sz="2317">
                <a:solidFill>
                  <a:srgbClr val="000000"/>
                </a:solidFill>
                <a:latin typeface="Montserrat"/>
                <a:ea typeface="Montserrat"/>
                <a:cs typeface="Montserrat"/>
                <a:sym typeface="Montserrat"/>
              </a:rPr>
              <a:t>Definición: Volumen de demanda (postulantes) por cada especialidad.</a:t>
            </a:r>
          </a:p>
          <a:p>
            <a:pPr algn="l" marL="500319" indent="-250160" lvl="1">
              <a:lnSpc>
                <a:spcPts val="3244"/>
              </a:lnSpc>
              <a:spcBef>
                <a:spcPct val="0"/>
              </a:spcBef>
              <a:buFont typeface="Arial"/>
              <a:buChar char="•"/>
            </a:pPr>
            <a:r>
              <a:rPr lang="en-US" sz="2317">
                <a:solidFill>
                  <a:srgbClr val="000000"/>
                </a:solidFill>
                <a:latin typeface="Montserrat"/>
                <a:ea typeface="Montserrat"/>
                <a:cs typeface="Montserrat"/>
                <a:sym typeface="Montserrat"/>
              </a:rPr>
              <a:t>Fórmula: COUNT({id_postulante})  agrupado por carrera</a:t>
            </a:r>
          </a:p>
          <a:p>
            <a:pPr algn="l" marL="500319" indent="-250160" lvl="1">
              <a:lnSpc>
                <a:spcPts val="3244"/>
              </a:lnSpc>
              <a:spcBef>
                <a:spcPct val="0"/>
              </a:spcBef>
              <a:buFont typeface="Arial"/>
              <a:buChar char="•"/>
            </a:pPr>
            <a:r>
              <a:rPr lang="en-US" sz="2317">
                <a:solidFill>
                  <a:srgbClr val="000000"/>
                </a:solidFill>
                <a:latin typeface="Montserrat"/>
                <a:ea typeface="Montserrat"/>
                <a:cs typeface="Montserrat"/>
                <a:sym typeface="Montserrat"/>
              </a:rPr>
              <a:t>Valor en el proyecto: Identifica las carreras con mayor saturación y necesidad de gestión de vacantes.</a:t>
            </a:r>
          </a:p>
          <a:p>
            <a:pPr algn="l">
              <a:lnSpc>
                <a:spcPts val="3244"/>
              </a:lnSpc>
              <a:spcBef>
                <a:spcPct val="0"/>
              </a:spcBef>
            </a:pPr>
          </a:p>
        </p:txBody>
      </p:sp>
      <p:sp>
        <p:nvSpPr>
          <p:cNvPr name="TextBox 9" id="9"/>
          <p:cNvSpPr txBox="true"/>
          <p:nvPr/>
        </p:nvSpPr>
        <p:spPr>
          <a:xfrm rot="0">
            <a:off x="8632371" y="5260620"/>
            <a:ext cx="7909063" cy="3758942"/>
          </a:xfrm>
          <a:prstGeom prst="rect">
            <a:avLst/>
          </a:prstGeom>
        </p:spPr>
        <p:txBody>
          <a:bodyPr anchor="t" rtlCol="false" tIns="0" lIns="0" bIns="0" rIns="0">
            <a:spAutoFit/>
          </a:bodyPr>
          <a:lstStyle/>
          <a:p>
            <a:pPr algn="l">
              <a:lnSpc>
                <a:spcPts val="3339"/>
              </a:lnSpc>
              <a:spcBef>
                <a:spcPct val="0"/>
              </a:spcBef>
            </a:pPr>
            <a:r>
              <a:rPr lang="en-US" b="true" sz="2385">
                <a:solidFill>
                  <a:srgbClr val="000000"/>
                </a:solidFill>
                <a:latin typeface="Montserrat Bold"/>
                <a:ea typeface="Montserrat Bold"/>
                <a:cs typeface="Montserrat Bold"/>
                <a:sym typeface="Montserrat Bold"/>
              </a:rPr>
              <a:t>4.</a:t>
            </a:r>
            <a:r>
              <a:rPr lang="en-US" b="true" sz="2385">
                <a:solidFill>
                  <a:srgbClr val="000000"/>
                </a:solidFill>
                <a:latin typeface="Montserrat Bold"/>
                <a:ea typeface="Montserrat Bold"/>
                <a:cs typeface="Montserrat Bold"/>
                <a:sym typeface="Montserrat Bold"/>
              </a:rPr>
              <a:t> Eficiencia de Ingreso por Colegio</a:t>
            </a:r>
          </a:p>
          <a:p>
            <a:pPr algn="l" marL="514956" indent="-257478" lvl="1">
              <a:lnSpc>
                <a:spcPts val="3339"/>
              </a:lnSpc>
              <a:spcBef>
                <a:spcPct val="0"/>
              </a:spcBef>
              <a:buFont typeface="Arial"/>
              <a:buChar char="•"/>
            </a:pPr>
            <a:r>
              <a:rPr lang="en-US" sz="2385">
                <a:solidFill>
                  <a:srgbClr val="000000"/>
                </a:solidFill>
                <a:latin typeface="Montserrat"/>
                <a:ea typeface="Montserrat"/>
                <a:cs typeface="Montserrat"/>
                <a:sym typeface="Montserrat"/>
              </a:rPr>
              <a:t>Definición: Ranking de instituciones educativas según su cantidad de ingresantes.</a:t>
            </a:r>
          </a:p>
          <a:p>
            <a:pPr algn="l" marL="514956" indent="-257478" lvl="1">
              <a:lnSpc>
                <a:spcPts val="3339"/>
              </a:lnSpc>
              <a:spcBef>
                <a:spcPct val="0"/>
              </a:spcBef>
              <a:buFont typeface="Arial"/>
              <a:buChar char="•"/>
            </a:pPr>
            <a:r>
              <a:rPr lang="en-US" sz="2385">
                <a:solidFill>
                  <a:srgbClr val="000000"/>
                </a:solidFill>
                <a:latin typeface="Montserrat"/>
                <a:ea typeface="Montserrat"/>
                <a:cs typeface="Montserrat"/>
                <a:sym typeface="Montserrat"/>
              </a:rPr>
              <a:t>Fórmula: SUM(ingreso_flag)  agrupado por  nombre de colegio</a:t>
            </a:r>
          </a:p>
          <a:p>
            <a:pPr algn="l" marL="514956" indent="-257478" lvl="1">
              <a:lnSpc>
                <a:spcPts val="3339"/>
              </a:lnSpc>
              <a:spcBef>
                <a:spcPct val="0"/>
              </a:spcBef>
              <a:buFont typeface="Arial"/>
              <a:buChar char="•"/>
            </a:pPr>
            <a:r>
              <a:rPr lang="en-US" sz="2385">
                <a:solidFill>
                  <a:srgbClr val="000000"/>
                </a:solidFill>
                <a:latin typeface="Montserrat"/>
                <a:ea typeface="Montserrat"/>
                <a:cs typeface="Montserrat"/>
                <a:sym typeface="Montserrat"/>
              </a:rPr>
              <a:t>Valor en el proyecto: Determina qué colegios están mejor preparados para el nivel de la UNI (Ej: Saco Oliveros, Trilce).</a:t>
            </a:r>
          </a:p>
          <a:p>
            <a:pPr algn="l">
              <a:lnSpc>
                <a:spcPts val="333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874361"/>
            <a:chOff x="0" y="0"/>
            <a:chExt cx="9414331" cy="964887"/>
          </a:xfrm>
        </p:grpSpPr>
        <p:sp>
          <p:nvSpPr>
            <p:cNvPr name="Freeform 3" id="3"/>
            <p:cNvSpPr/>
            <p:nvPr/>
          </p:nvSpPr>
          <p:spPr>
            <a:xfrm flipH="false" flipV="false" rot="0">
              <a:off x="0" y="0"/>
              <a:ext cx="9414331" cy="964887"/>
            </a:xfrm>
            <a:custGeom>
              <a:avLst/>
              <a:gdLst/>
              <a:ahLst/>
              <a:cxnLst/>
              <a:rect r="r" b="b" t="t" l="l"/>
              <a:pathLst>
                <a:path h="964887" w="9414331">
                  <a:moveTo>
                    <a:pt x="0" y="0"/>
                  </a:moveTo>
                  <a:lnTo>
                    <a:pt x="9414331" y="0"/>
                  </a:lnTo>
                  <a:lnTo>
                    <a:pt x="9414331" y="964887"/>
                  </a:lnTo>
                  <a:lnTo>
                    <a:pt x="0" y="964887"/>
                  </a:lnTo>
                  <a:close/>
                </a:path>
              </a:pathLst>
            </a:custGeom>
            <a:gradFill rotWithShape="true">
              <a:gsLst>
                <a:gs pos="0">
                  <a:srgbClr val="F600FE">
                    <a:alpha val="100000"/>
                  </a:srgbClr>
                </a:gs>
                <a:gs pos="25000">
                  <a:srgbClr val="C900FE">
                    <a:alpha val="100000"/>
                  </a:srgbClr>
                </a:gs>
                <a:gs pos="50000">
                  <a:srgbClr val="A136FF">
                    <a:alpha val="100000"/>
                  </a:srgbClr>
                </a:gs>
                <a:gs pos="75000">
                  <a:srgbClr val="5142F0">
                    <a:alpha val="100000"/>
                  </a:srgbClr>
                </a:gs>
                <a:gs pos="100000">
                  <a:srgbClr val="0033D9">
                    <a:alpha val="100000"/>
                  </a:srgbClr>
                </a:gs>
              </a:gsLst>
              <a:path path="circle">
                <a:fillToRect l="0" r="100000" t="0" b="100000"/>
              </a:path>
              <a:tileRect r="0" l="-100000" b="0" t="-100000"/>
            </a:gradFill>
          </p:spPr>
        </p:sp>
        <p:sp>
          <p:nvSpPr>
            <p:cNvPr name="TextBox 4" id="4"/>
            <p:cNvSpPr txBox="true"/>
            <p:nvPr/>
          </p:nvSpPr>
          <p:spPr>
            <a:xfrm>
              <a:off x="0" y="-38100"/>
              <a:ext cx="9414331" cy="100298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800224" y="241498"/>
            <a:ext cx="14177533" cy="1246488"/>
          </a:xfrm>
          <a:prstGeom prst="rect">
            <a:avLst/>
          </a:prstGeom>
        </p:spPr>
        <p:txBody>
          <a:bodyPr anchor="t" rtlCol="false" tIns="0" lIns="0" bIns="0" rIns="0">
            <a:spAutoFit/>
          </a:bodyPr>
          <a:lstStyle/>
          <a:p>
            <a:pPr algn="l" marL="0" indent="0" lvl="0">
              <a:lnSpc>
                <a:spcPts val="10276"/>
              </a:lnSpc>
              <a:spcBef>
                <a:spcPct val="0"/>
              </a:spcBef>
            </a:pPr>
            <a:r>
              <a:rPr lang="en-US" b="true" sz="7340">
                <a:solidFill>
                  <a:srgbClr val="FFFFFF"/>
                </a:solidFill>
                <a:latin typeface="Montserrat Bold"/>
                <a:ea typeface="Montserrat Bold"/>
                <a:cs typeface="Montserrat Bold"/>
                <a:sym typeface="Montserrat Bold"/>
              </a:rPr>
              <a:t>CONCLUSIONES</a:t>
            </a:r>
          </a:p>
        </p:txBody>
      </p:sp>
      <p:sp>
        <p:nvSpPr>
          <p:cNvPr name="TextBox 6" id="6"/>
          <p:cNvSpPr txBox="true"/>
          <p:nvPr/>
        </p:nvSpPr>
        <p:spPr>
          <a:xfrm rot="0">
            <a:off x="653143" y="2059486"/>
            <a:ext cx="16926245" cy="807914"/>
          </a:xfrm>
          <a:prstGeom prst="rect">
            <a:avLst/>
          </a:prstGeom>
        </p:spPr>
        <p:txBody>
          <a:bodyPr anchor="t" rtlCol="false" tIns="0" lIns="0" bIns="0" rIns="0">
            <a:spAutoFit/>
          </a:bodyPr>
          <a:lstStyle/>
          <a:p>
            <a:pPr algn="l" marL="500319" indent="-250160" lvl="1">
              <a:lnSpc>
                <a:spcPts val="3244"/>
              </a:lnSpc>
              <a:buFont typeface="Arial"/>
              <a:buChar char="•"/>
            </a:pPr>
            <a:r>
              <a:rPr lang="en-US" sz="2317">
                <a:solidFill>
                  <a:srgbClr val="000000"/>
                </a:solidFill>
                <a:latin typeface="Montserrat"/>
                <a:ea typeface="Montserrat"/>
                <a:cs typeface="Montserrat"/>
                <a:sym typeface="Montserrat"/>
              </a:rPr>
              <a:t>S</a:t>
            </a:r>
            <a:r>
              <a:rPr lang="en-US" sz="2317">
                <a:solidFill>
                  <a:srgbClr val="000000"/>
                </a:solidFill>
                <a:latin typeface="Montserrat"/>
                <a:ea typeface="Montserrat"/>
                <a:cs typeface="Montserrat"/>
                <a:sym typeface="Montserrat"/>
              </a:rPr>
              <a:t>e logró procesar el dataset de admisión de forma distribuida, reduciendo tiempos de carga y garantizando la limpieza total del ruido (duplicados y nulos).</a:t>
            </a:r>
          </a:p>
        </p:txBody>
      </p:sp>
      <p:sp>
        <p:nvSpPr>
          <p:cNvPr name="TextBox 7" id="7"/>
          <p:cNvSpPr txBox="true"/>
          <p:nvPr/>
        </p:nvSpPr>
        <p:spPr>
          <a:xfrm rot="0">
            <a:off x="653143" y="3048375"/>
            <a:ext cx="16926245" cy="807914"/>
          </a:xfrm>
          <a:prstGeom prst="rect">
            <a:avLst/>
          </a:prstGeom>
        </p:spPr>
        <p:txBody>
          <a:bodyPr anchor="t" rtlCol="false" tIns="0" lIns="0" bIns="0" rIns="0">
            <a:spAutoFit/>
          </a:bodyPr>
          <a:lstStyle/>
          <a:p>
            <a:pPr algn="l" marL="500319" indent="-250160" lvl="1">
              <a:lnSpc>
                <a:spcPts val="3244"/>
              </a:lnSpc>
              <a:buFont typeface="Arial"/>
              <a:buChar char="•"/>
            </a:pPr>
            <a:r>
              <a:rPr lang="en-US" sz="2317">
                <a:solidFill>
                  <a:srgbClr val="000000"/>
                </a:solidFill>
                <a:latin typeface="Montserrat"/>
                <a:ea typeface="Montserrat"/>
                <a:cs typeface="Montserrat"/>
                <a:sym typeface="Montserrat"/>
              </a:rPr>
              <a:t>El</a:t>
            </a:r>
            <a:r>
              <a:rPr lang="en-US" sz="2317">
                <a:solidFill>
                  <a:srgbClr val="000000"/>
                </a:solidFill>
                <a:latin typeface="Montserrat"/>
                <a:ea typeface="Montserrat"/>
                <a:cs typeface="Montserrat"/>
                <a:sym typeface="Montserrat"/>
              </a:rPr>
              <a:t> uso del Esquema Estrella permitió pasar de un archivo plano difícil de analizar a un modelo relacional de alto rendimiento</a:t>
            </a:r>
          </a:p>
        </p:txBody>
      </p:sp>
      <p:sp>
        <p:nvSpPr>
          <p:cNvPr name="TextBox 8" id="8"/>
          <p:cNvSpPr txBox="true"/>
          <p:nvPr/>
        </p:nvSpPr>
        <p:spPr>
          <a:xfrm rot="0">
            <a:off x="653143" y="4037264"/>
            <a:ext cx="16926245" cy="807914"/>
          </a:xfrm>
          <a:prstGeom prst="rect">
            <a:avLst/>
          </a:prstGeom>
        </p:spPr>
        <p:txBody>
          <a:bodyPr anchor="t" rtlCol="false" tIns="0" lIns="0" bIns="0" rIns="0">
            <a:spAutoFit/>
          </a:bodyPr>
          <a:lstStyle/>
          <a:p>
            <a:pPr algn="l" marL="500319" indent="-250160" lvl="1">
              <a:lnSpc>
                <a:spcPts val="3244"/>
              </a:lnSpc>
              <a:buFont typeface="Arial"/>
              <a:buChar char="•"/>
            </a:pPr>
            <a:r>
              <a:rPr lang="en-US" sz="2317">
                <a:solidFill>
                  <a:srgbClr val="000000"/>
                </a:solidFill>
                <a:latin typeface="Montserrat"/>
                <a:ea typeface="Montserrat"/>
                <a:cs typeface="Montserrat"/>
                <a:sym typeface="Montserrat"/>
              </a:rPr>
              <a:t>La</a:t>
            </a:r>
            <a:r>
              <a:rPr lang="en-US" sz="2317">
                <a:solidFill>
                  <a:srgbClr val="000000"/>
                </a:solidFill>
                <a:latin typeface="Montserrat"/>
                <a:ea typeface="Montserrat"/>
                <a:cs typeface="Montserrat"/>
                <a:sym typeface="Montserrat"/>
              </a:rPr>
              <a:t> solución entrega KPIs críticos (Tasa de ingreso, Notas máximas) en segundos, facilitando la identificación de las facultades con mayor demanda y el perfil de los colegios más exitosos.</a:t>
            </a:r>
          </a:p>
        </p:txBody>
      </p:sp>
      <p:sp>
        <p:nvSpPr>
          <p:cNvPr name="TextBox 9" id="9"/>
          <p:cNvSpPr txBox="true"/>
          <p:nvPr/>
        </p:nvSpPr>
        <p:spPr>
          <a:xfrm rot="0">
            <a:off x="360338" y="5184392"/>
            <a:ext cx="14177533" cy="1218809"/>
          </a:xfrm>
          <a:prstGeom prst="rect">
            <a:avLst/>
          </a:prstGeom>
        </p:spPr>
        <p:txBody>
          <a:bodyPr anchor="t" rtlCol="false" tIns="0" lIns="0" bIns="0" rIns="0">
            <a:spAutoFit/>
          </a:bodyPr>
          <a:lstStyle/>
          <a:p>
            <a:pPr algn="l" marL="0" indent="0" lvl="0">
              <a:lnSpc>
                <a:spcPts val="9996"/>
              </a:lnSpc>
              <a:spcBef>
                <a:spcPct val="0"/>
              </a:spcBef>
            </a:pPr>
            <a:r>
              <a:rPr lang="en-US" b="true" sz="7140">
                <a:solidFill>
                  <a:srgbClr val="000000"/>
                </a:solidFill>
                <a:latin typeface="Montserrat Bold"/>
                <a:ea typeface="Montserrat Bold"/>
                <a:cs typeface="Montserrat Bold"/>
                <a:sym typeface="Montserrat Bold"/>
              </a:rPr>
              <a:t>RECOMENDACIONES</a:t>
            </a:r>
          </a:p>
        </p:txBody>
      </p:sp>
      <p:sp>
        <p:nvSpPr>
          <p:cNvPr name="TextBox 10" id="10"/>
          <p:cNvSpPr txBox="true"/>
          <p:nvPr/>
        </p:nvSpPr>
        <p:spPr>
          <a:xfrm rot="0">
            <a:off x="360338" y="6584175"/>
            <a:ext cx="16926245" cy="398339"/>
          </a:xfrm>
          <a:prstGeom prst="rect">
            <a:avLst/>
          </a:prstGeom>
        </p:spPr>
        <p:txBody>
          <a:bodyPr anchor="t" rtlCol="false" tIns="0" lIns="0" bIns="0" rIns="0">
            <a:spAutoFit/>
          </a:bodyPr>
          <a:lstStyle/>
          <a:p>
            <a:pPr algn="l" marL="500319" indent="-250160" lvl="1">
              <a:lnSpc>
                <a:spcPts val="3244"/>
              </a:lnSpc>
              <a:buFont typeface="Arial"/>
              <a:buChar char="•"/>
            </a:pPr>
            <a:r>
              <a:rPr lang="en-US" sz="2317">
                <a:solidFill>
                  <a:srgbClr val="000000"/>
                </a:solidFill>
                <a:latin typeface="Montserrat"/>
                <a:ea typeface="Montserrat"/>
                <a:cs typeface="Montserrat"/>
                <a:sym typeface="Montserrat"/>
              </a:rPr>
              <a:t>Impl</a:t>
            </a:r>
            <a:r>
              <a:rPr lang="en-US" sz="2317">
                <a:solidFill>
                  <a:srgbClr val="000000"/>
                </a:solidFill>
                <a:latin typeface="Montserrat"/>
                <a:ea typeface="Montserrat"/>
                <a:cs typeface="Montserrat"/>
                <a:sym typeface="Montserrat"/>
              </a:rPr>
              <a:t>ementar Apache Airflow para programar las cargas de datos de manera periódica sin intervención manual.</a:t>
            </a:r>
          </a:p>
        </p:txBody>
      </p:sp>
      <p:sp>
        <p:nvSpPr>
          <p:cNvPr name="TextBox 11" id="11"/>
          <p:cNvSpPr txBox="true"/>
          <p:nvPr/>
        </p:nvSpPr>
        <p:spPr>
          <a:xfrm rot="0">
            <a:off x="360338" y="7163489"/>
            <a:ext cx="16926245" cy="807914"/>
          </a:xfrm>
          <a:prstGeom prst="rect">
            <a:avLst/>
          </a:prstGeom>
        </p:spPr>
        <p:txBody>
          <a:bodyPr anchor="t" rtlCol="false" tIns="0" lIns="0" bIns="0" rIns="0">
            <a:spAutoFit/>
          </a:bodyPr>
          <a:lstStyle/>
          <a:p>
            <a:pPr algn="l" marL="500319" indent="-250160" lvl="1">
              <a:lnSpc>
                <a:spcPts val="3244"/>
              </a:lnSpc>
              <a:buFont typeface="Arial"/>
              <a:buChar char="•"/>
            </a:pPr>
            <a:r>
              <a:rPr lang="en-US" sz="2317">
                <a:solidFill>
                  <a:srgbClr val="000000"/>
                </a:solidFill>
                <a:latin typeface="Montserrat"/>
                <a:ea typeface="Montserrat"/>
                <a:cs typeface="Montserrat"/>
                <a:sym typeface="Montserrat"/>
              </a:rPr>
              <a:t>Us</a:t>
            </a:r>
            <a:r>
              <a:rPr lang="en-US" sz="2317">
                <a:solidFill>
                  <a:srgbClr val="000000"/>
                </a:solidFill>
                <a:latin typeface="Montserrat"/>
                <a:ea typeface="Montserrat"/>
                <a:cs typeface="Montserrat"/>
                <a:sym typeface="Montserrat"/>
              </a:rPr>
              <a:t>ar Spark MLlib (Machine Learning) para predecir la probabilidad de ingreso de un alumno basándose en su colegio de procedencia y edad.</a:t>
            </a:r>
          </a:p>
        </p:txBody>
      </p:sp>
      <p:sp>
        <p:nvSpPr>
          <p:cNvPr name="TextBox 12" id="12"/>
          <p:cNvSpPr txBox="true"/>
          <p:nvPr/>
        </p:nvSpPr>
        <p:spPr>
          <a:xfrm rot="0">
            <a:off x="360338" y="8152378"/>
            <a:ext cx="16926245" cy="807914"/>
          </a:xfrm>
          <a:prstGeom prst="rect">
            <a:avLst/>
          </a:prstGeom>
        </p:spPr>
        <p:txBody>
          <a:bodyPr anchor="t" rtlCol="false" tIns="0" lIns="0" bIns="0" rIns="0">
            <a:spAutoFit/>
          </a:bodyPr>
          <a:lstStyle/>
          <a:p>
            <a:pPr algn="l" marL="500319" indent="-250160" lvl="1">
              <a:lnSpc>
                <a:spcPts val="3244"/>
              </a:lnSpc>
              <a:buFont typeface="Arial"/>
              <a:buChar char="•"/>
            </a:pPr>
            <a:r>
              <a:rPr lang="en-US" sz="2317">
                <a:solidFill>
                  <a:srgbClr val="000000"/>
                </a:solidFill>
                <a:latin typeface="Montserrat"/>
                <a:ea typeface="Montserrat"/>
                <a:cs typeface="Montserrat"/>
                <a:sym typeface="Montserrat"/>
              </a:rPr>
              <a:t>Migr</a:t>
            </a:r>
            <a:r>
              <a:rPr lang="en-US" sz="2317">
                <a:solidFill>
                  <a:srgbClr val="000000"/>
                </a:solidFill>
                <a:latin typeface="Montserrat"/>
                <a:ea typeface="Montserrat"/>
                <a:cs typeface="Montserrat"/>
                <a:sym typeface="Montserrat"/>
              </a:rPr>
              <a:t>ar la arquitectura local hacia una solución de nube (como Azure Databricks o Google Dataproc) para manejar volúmenes de datos a nivel nacional.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98322">
            <a:off x="13299669" y="5075791"/>
            <a:ext cx="8700980" cy="8722787"/>
          </a:xfrm>
          <a:custGeom>
            <a:avLst/>
            <a:gdLst/>
            <a:ahLst/>
            <a:cxnLst/>
            <a:rect r="r" b="b" t="t" l="l"/>
            <a:pathLst>
              <a:path h="8722787" w="8700980">
                <a:moveTo>
                  <a:pt x="0" y="0"/>
                </a:moveTo>
                <a:lnTo>
                  <a:pt x="8700980" y="0"/>
                </a:lnTo>
                <a:lnTo>
                  <a:pt x="8700980" y="8722787"/>
                </a:lnTo>
                <a:lnTo>
                  <a:pt x="0" y="8722787"/>
                </a:lnTo>
                <a:lnTo>
                  <a:pt x="0" y="0"/>
                </a:lnTo>
                <a:close/>
              </a:path>
            </a:pathLst>
          </a:custGeom>
          <a:blipFill>
            <a:blip r:embed="rId2"/>
            <a:stretch>
              <a:fillRect l="0" t="0" r="0" b="0"/>
            </a:stretch>
          </a:blipFill>
        </p:spPr>
      </p:sp>
      <p:sp>
        <p:nvSpPr>
          <p:cNvPr name="Freeform 3" id="3"/>
          <p:cNvSpPr/>
          <p:nvPr/>
        </p:nvSpPr>
        <p:spPr>
          <a:xfrm flipH="false" flipV="false" rot="-1898322">
            <a:off x="-3784911" y="-3899454"/>
            <a:ext cx="8700980" cy="8722787"/>
          </a:xfrm>
          <a:custGeom>
            <a:avLst/>
            <a:gdLst/>
            <a:ahLst/>
            <a:cxnLst/>
            <a:rect r="r" b="b" t="t" l="l"/>
            <a:pathLst>
              <a:path h="8722787" w="8700980">
                <a:moveTo>
                  <a:pt x="0" y="0"/>
                </a:moveTo>
                <a:lnTo>
                  <a:pt x="8700980" y="0"/>
                </a:lnTo>
                <a:lnTo>
                  <a:pt x="8700980" y="8722787"/>
                </a:lnTo>
                <a:lnTo>
                  <a:pt x="0" y="8722787"/>
                </a:lnTo>
                <a:lnTo>
                  <a:pt x="0" y="0"/>
                </a:lnTo>
                <a:close/>
              </a:path>
            </a:pathLst>
          </a:custGeom>
          <a:blipFill>
            <a:blip r:embed="rId2"/>
            <a:stretch>
              <a:fillRect l="0" t="0" r="0" b="0"/>
            </a:stretch>
          </a:blipFill>
        </p:spPr>
      </p:sp>
      <p:sp>
        <p:nvSpPr>
          <p:cNvPr name="TextBox 4" id="4"/>
          <p:cNvSpPr txBox="true"/>
          <p:nvPr/>
        </p:nvSpPr>
        <p:spPr>
          <a:xfrm rot="0">
            <a:off x="4577340" y="4110326"/>
            <a:ext cx="8460437" cy="1577994"/>
          </a:xfrm>
          <a:prstGeom prst="rect">
            <a:avLst/>
          </a:prstGeom>
        </p:spPr>
        <p:txBody>
          <a:bodyPr anchor="t" rtlCol="false" tIns="0" lIns="0" bIns="0" rIns="0">
            <a:spAutoFit/>
          </a:bodyPr>
          <a:lstStyle/>
          <a:p>
            <a:pPr algn="l">
              <a:lnSpc>
                <a:spcPts val="12508"/>
              </a:lnSpc>
            </a:pPr>
            <a:r>
              <a:rPr lang="en-US" sz="10424" b="true">
                <a:solidFill>
                  <a:srgbClr val="000000"/>
                </a:solidFill>
                <a:latin typeface="Montserrat Bold"/>
                <a:ea typeface="Montserrat Bold"/>
                <a:cs typeface="Montserrat Bold"/>
                <a:sym typeface="Montserrat Bold"/>
              </a:rPr>
              <a:t>Gracias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318446" y="2491321"/>
            <a:ext cx="1001320" cy="1001320"/>
          </a:xfrm>
          <a:custGeom>
            <a:avLst/>
            <a:gdLst/>
            <a:ahLst/>
            <a:cxnLst/>
            <a:rect r="r" b="b" t="t" l="l"/>
            <a:pathLst>
              <a:path h="1001320" w="1001320">
                <a:moveTo>
                  <a:pt x="0" y="0"/>
                </a:moveTo>
                <a:lnTo>
                  <a:pt x="1001320" y="0"/>
                </a:lnTo>
                <a:lnTo>
                  <a:pt x="1001320" y="1001320"/>
                </a:lnTo>
                <a:lnTo>
                  <a:pt x="0" y="10013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549686" y="2584636"/>
            <a:ext cx="824724" cy="1001320"/>
          </a:xfrm>
          <a:custGeom>
            <a:avLst/>
            <a:gdLst/>
            <a:ahLst/>
            <a:cxnLst/>
            <a:rect r="r" b="b" t="t" l="l"/>
            <a:pathLst>
              <a:path h="1001320" w="824724">
                <a:moveTo>
                  <a:pt x="0" y="0"/>
                </a:moveTo>
                <a:lnTo>
                  <a:pt x="824724" y="0"/>
                </a:lnTo>
                <a:lnTo>
                  <a:pt x="824724" y="1001320"/>
                </a:lnTo>
                <a:lnTo>
                  <a:pt x="0" y="1001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031453" y="2626180"/>
            <a:ext cx="954316" cy="836328"/>
          </a:xfrm>
          <a:custGeom>
            <a:avLst/>
            <a:gdLst/>
            <a:ahLst/>
            <a:cxnLst/>
            <a:rect r="r" b="b" t="t" l="l"/>
            <a:pathLst>
              <a:path h="836328" w="954316">
                <a:moveTo>
                  <a:pt x="0" y="0"/>
                </a:moveTo>
                <a:lnTo>
                  <a:pt x="954316" y="0"/>
                </a:lnTo>
                <a:lnTo>
                  <a:pt x="954316" y="836328"/>
                </a:lnTo>
                <a:lnTo>
                  <a:pt x="0" y="8363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457739" y="3731893"/>
            <a:ext cx="727909" cy="885730"/>
          </a:xfrm>
          <a:custGeom>
            <a:avLst/>
            <a:gdLst/>
            <a:ahLst/>
            <a:cxnLst/>
            <a:rect r="r" b="b" t="t" l="l"/>
            <a:pathLst>
              <a:path h="885730" w="727909">
                <a:moveTo>
                  <a:pt x="0" y="0"/>
                </a:moveTo>
                <a:lnTo>
                  <a:pt x="727909" y="0"/>
                </a:lnTo>
                <a:lnTo>
                  <a:pt x="727909" y="885730"/>
                </a:lnTo>
                <a:lnTo>
                  <a:pt x="0" y="8857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457739" y="2644750"/>
            <a:ext cx="688946" cy="746825"/>
          </a:xfrm>
          <a:custGeom>
            <a:avLst/>
            <a:gdLst/>
            <a:ahLst/>
            <a:cxnLst/>
            <a:rect r="r" b="b" t="t" l="l"/>
            <a:pathLst>
              <a:path h="746825" w="688946">
                <a:moveTo>
                  <a:pt x="0" y="0"/>
                </a:moveTo>
                <a:lnTo>
                  <a:pt x="688946" y="0"/>
                </a:lnTo>
                <a:lnTo>
                  <a:pt x="688946" y="746825"/>
                </a:lnTo>
                <a:lnTo>
                  <a:pt x="0" y="7468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968731" y="3738103"/>
            <a:ext cx="717984" cy="756496"/>
          </a:xfrm>
          <a:custGeom>
            <a:avLst/>
            <a:gdLst/>
            <a:ahLst/>
            <a:cxnLst/>
            <a:rect r="r" b="b" t="t" l="l"/>
            <a:pathLst>
              <a:path h="756496" w="717984">
                <a:moveTo>
                  <a:pt x="0" y="0"/>
                </a:moveTo>
                <a:lnTo>
                  <a:pt x="717984" y="0"/>
                </a:lnTo>
                <a:lnTo>
                  <a:pt x="717984" y="756496"/>
                </a:lnTo>
                <a:lnTo>
                  <a:pt x="0" y="7564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8754020" y="3731893"/>
            <a:ext cx="843179" cy="843179"/>
          </a:xfrm>
          <a:custGeom>
            <a:avLst/>
            <a:gdLst/>
            <a:ahLst/>
            <a:cxnLst/>
            <a:rect r="r" b="b" t="t" l="l"/>
            <a:pathLst>
              <a:path h="843179" w="843179">
                <a:moveTo>
                  <a:pt x="0" y="0"/>
                </a:moveTo>
                <a:lnTo>
                  <a:pt x="843179" y="0"/>
                </a:lnTo>
                <a:lnTo>
                  <a:pt x="843179" y="843179"/>
                </a:lnTo>
                <a:lnTo>
                  <a:pt x="0" y="8431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4685463" y="3889026"/>
            <a:ext cx="668554" cy="756496"/>
          </a:xfrm>
          <a:custGeom>
            <a:avLst/>
            <a:gdLst/>
            <a:ahLst/>
            <a:cxnLst/>
            <a:rect r="r" b="b" t="t" l="l"/>
            <a:pathLst>
              <a:path h="756496" w="668554">
                <a:moveTo>
                  <a:pt x="0" y="0"/>
                </a:moveTo>
                <a:lnTo>
                  <a:pt x="668554" y="0"/>
                </a:lnTo>
                <a:lnTo>
                  <a:pt x="668554" y="756496"/>
                </a:lnTo>
                <a:lnTo>
                  <a:pt x="0" y="75649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11480682" y="2573817"/>
            <a:ext cx="763030" cy="774293"/>
          </a:xfrm>
          <a:custGeom>
            <a:avLst/>
            <a:gdLst/>
            <a:ahLst/>
            <a:cxnLst/>
            <a:rect r="r" b="b" t="t" l="l"/>
            <a:pathLst>
              <a:path h="774293" w="763030">
                <a:moveTo>
                  <a:pt x="0" y="0"/>
                </a:moveTo>
                <a:lnTo>
                  <a:pt x="763030" y="0"/>
                </a:lnTo>
                <a:lnTo>
                  <a:pt x="763030" y="774293"/>
                </a:lnTo>
                <a:lnTo>
                  <a:pt x="0" y="77429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11443275" y="3657630"/>
            <a:ext cx="800437" cy="721849"/>
          </a:xfrm>
          <a:custGeom>
            <a:avLst/>
            <a:gdLst/>
            <a:ahLst/>
            <a:cxnLst/>
            <a:rect r="r" b="b" t="t" l="l"/>
            <a:pathLst>
              <a:path h="721849" w="800437">
                <a:moveTo>
                  <a:pt x="0" y="0"/>
                </a:moveTo>
                <a:lnTo>
                  <a:pt x="800437" y="0"/>
                </a:lnTo>
                <a:lnTo>
                  <a:pt x="800437" y="721849"/>
                </a:lnTo>
                <a:lnTo>
                  <a:pt x="0" y="72184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0">
            <a:off x="10031453" y="3615079"/>
            <a:ext cx="1008689" cy="806951"/>
          </a:xfrm>
          <a:custGeom>
            <a:avLst/>
            <a:gdLst/>
            <a:ahLst/>
            <a:cxnLst/>
            <a:rect r="r" b="b" t="t" l="l"/>
            <a:pathLst>
              <a:path h="806951" w="1008689">
                <a:moveTo>
                  <a:pt x="0" y="0"/>
                </a:moveTo>
                <a:lnTo>
                  <a:pt x="1008688" y="0"/>
                </a:lnTo>
                <a:lnTo>
                  <a:pt x="1008688" y="806951"/>
                </a:lnTo>
                <a:lnTo>
                  <a:pt x="0" y="80695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0">
            <a:off x="8722071" y="2573817"/>
            <a:ext cx="814364" cy="888691"/>
          </a:xfrm>
          <a:custGeom>
            <a:avLst/>
            <a:gdLst/>
            <a:ahLst/>
            <a:cxnLst/>
            <a:rect r="r" b="b" t="t" l="l"/>
            <a:pathLst>
              <a:path h="888691" w="814364">
                <a:moveTo>
                  <a:pt x="0" y="0"/>
                </a:moveTo>
                <a:lnTo>
                  <a:pt x="814364" y="0"/>
                </a:lnTo>
                <a:lnTo>
                  <a:pt x="814364" y="888691"/>
                </a:lnTo>
                <a:lnTo>
                  <a:pt x="0" y="888691"/>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4" id="14"/>
          <p:cNvSpPr/>
          <p:nvPr/>
        </p:nvSpPr>
        <p:spPr>
          <a:xfrm flipH="false" flipV="false" rot="0">
            <a:off x="7375552" y="3615079"/>
            <a:ext cx="944214" cy="1002544"/>
          </a:xfrm>
          <a:custGeom>
            <a:avLst/>
            <a:gdLst/>
            <a:ahLst/>
            <a:cxnLst/>
            <a:rect r="r" b="b" t="t" l="l"/>
            <a:pathLst>
              <a:path h="1002544" w="944214">
                <a:moveTo>
                  <a:pt x="0" y="0"/>
                </a:moveTo>
                <a:lnTo>
                  <a:pt x="944214" y="0"/>
                </a:lnTo>
                <a:lnTo>
                  <a:pt x="944214" y="1002544"/>
                </a:lnTo>
                <a:lnTo>
                  <a:pt x="0" y="100254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5" id="15"/>
          <p:cNvSpPr/>
          <p:nvPr/>
        </p:nvSpPr>
        <p:spPr>
          <a:xfrm flipH="false" flipV="false" rot="0">
            <a:off x="5968731" y="2572593"/>
            <a:ext cx="752819" cy="1002544"/>
          </a:xfrm>
          <a:custGeom>
            <a:avLst/>
            <a:gdLst/>
            <a:ahLst/>
            <a:cxnLst/>
            <a:rect r="r" b="b" t="t" l="l"/>
            <a:pathLst>
              <a:path h="1002544" w="752819">
                <a:moveTo>
                  <a:pt x="0" y="0"/>
                </a:moveTo>
                <a:lnTo>
                  <a:pt x="752819" y="0"/>
                </a:lnTo>
                <a:lnTo>
                  <a:pt x="752819" y="1002544"/>
                </a:lnTo>
                <a:lnTo>
                  <a:pt x="0" y="1002544"/>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3444530" y="8484482"/>
            <a:ext cx="538179" cy="685182"/>
          </a:xfrm>
          <a:custGeom>
            <a:avLst/>
            <a:gdLst/>
            <a:ahLst/>
            <a:cxnLst/>
            <a:rect r="r" b="b" t="t" l="l"/>
            <a:pathLst>
              <a:path h="685182" w="538179">
                <a:moveTo>
                  <a:pt x="0" y="0"/>
                </a:moveTo>
                <a:lnTo>
                  <a:pt x="538179" y="0"/>
                </a:lnTo>
                <a:lnTo>
                  <a:pt x="538179" y="685182"/>
                </a:lnTo>
                <a:lnTo>
                  <a:pt x="0" y="685182"/>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7" id="17"/>
          <p:cNvSpPr/>
          <p:nvPr/>
        </p:nvSpPr>
        <p:spPr>
          <a:xfrm flipH="false" flipV="false" rot="0">
            <a:off x="4699737" y="8468961"/>
            <a:ext cx="777545" cy="757753"/>
          </a:xfrm>
          <a:custGeom>
            <a:avLst/>
            <a:gdLst/>
            <a:ahLst/>
            <a:cxnLst/>
            <a:rect r="r" b="b" t="t" l="l"/>
            <a:pathLst>
              <a:path h="757753" w="777545">
                <a:moveTo>
                  <a:pt x="0" y="0"/>
                </a:moveTo>
                <a:lnTo>
                  <a:pt x="777545" y="0"/>
                </a:lnTo>
                <a:lnTo>
                  <a:pt x="777545" y="757753"/>
                </a:lnTo>
                <a:lnTo>
                  <a:pt x="0" y="757753"/>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8" id="18"/>
          <p:cNvSpPr/>
          <p:nvPr/>
        </p:nvSpPr>
        <p:spPr>
          <a:xfrm flipH="false" flipV="false" rot="0">
            <a:off x="6143587" y="8425272"/>
            <a:ext cx="756240" cy="820379"/>
          </a:xfrm>
          <a:custGeom>
            <a:avLst/>
            <a:gdLst/>
            <a:ahLst/>
            <a:cxnLst/>
            <a:rect r="r" b="b" t="t" l="l"/>
            <a:pathLst>
              <a:path h="820379" w="756240">
                <a:moveTo>
                  <a:pt x="0" y="0"/>
                </a:moveTo>
                <a:lnTo>
                  <a:pt x="756240" y="0"/>
                </a:lnTo>
                <a:lnTo>
                  <a:pt x="756240" y="820379"/>
                </a:lnTo>
                <a:lnTo>
                  <a:pt x="0" y="820379"/>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9" id="19"/>
          <p:cNvSpPr/>
          <p:nvPr/>
        </p:nvSpPr>
        <p:spPr>
          <a:xfrm flipH="false" flipV="false" rot="0">
            <a:off x="7292688" y="8495827"/>
            <a:ext cx="733882" cy="673837"/>
          </a:xfrm>
          <a:custGeom>
            <a:avLst/>
            <a:gdLst/>
            <a:ahLst/>
            <a:cxnLst/>
            <a:rect r="r" b="b" t="t" l="l"/>
            <a:pathLst>
              <a:path h="673837" w="733882">
                <a:moveTo>
                  <a:pt x="0" y="0"/>
                </a:moveTo>
                <a:lnTo>
                  <a:pt x="733882" y="0"/>
                </a:lnTo>
                <a:lnTo>
                  <a:pt x="733882" y="673837"/>
                </a:lnTo>
                <a:lnTo>
                  <a:pt x="0" y="673837"/>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0" id="20"/>
          <p:cNvSpPr/>
          <p:nvPr/>
        </p:nvSpPr>
        <p:spPr>
          <a:xfrm flipH="false" flipV="false" rot="0">
            <a:off x="7395284" y="6211507"/>
            <a:ext cx="605051" cy="731380"/>
          </a:xfrm>
          <a:custGeom>
            <a:avLst/>
            <a:gdLst/>
            <a:ahLst/>
            <a:cxnLst/>
            <a:rect r="r" b="b" t="t" l="l"/>
            <a:pathLst>
              <a:path h="731380" w="605051">
                <a:moveTo>
                  <a:pt x="0" y="0"/>
                </a:moveTo>
                <a:lnTo>
                  <a:pt x="605051" y="0"/>
                </a:lnTo>
                <a:lnTo>
                  <a:pt x="605051" y="731381"/>
                </a:lnTo>
                <a:lnTo>
                  <a:pt x="0" y="731381"/>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1" id="21"/>
          <p:cNvSpPr/>
          <p:nvPr/>
        </p:nvSpPr>
        <p:spPr>
          <a:xfrm flipH="false" flipV="false" rot="0">
            <a:off x="8686546" y="4914529"/>
            <a:ext cx="672084" cy="768495"/>
          </a:xfrm>
          <a:custGeom>
            <a:avLst/>
            <a:gdLst/>
            <a:ahLst/>
            <a:cxnLst/>
            <a:rect r="r" b="b" t="t" l="l"/>
            <a:pathLst>
              <a:path h="768495" w="672084">
                <a:moveTo>
                  <a:pt x="0" y="0"/>
                </a:moveTo>
                <a:lnTo>
                  <a:pt x="672084" y="0"/>
                </a:lnTo>
                <a:lnTo>
                  <a:pt x="672084" y="768496"/>
                </a:lnTo>
                <a:lnTo>
                  <a:pt x="0" y="768496"/>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22" id="22"/>
          <p:cNvSpPr/>
          <p:nvPr/>
        </p:nvSpPr>
        <p:spPr>
          <a:xfrm flipH="false" flipV="false" rot="0">
            <a:off x="9191008" y="4920886"/>
            <a:ext cx="741760" cy="713439"/>
          </a:xfrm>
          <a:custGeom>
            <a:avLst/>
            <a:gdLst/>
            <a:ahLst/>
            <a:cxnLst/>
            <a:rect r="r" b="b" t="t" l="l"/>
            <a:pathLst>
              <a:path h="713439" w="741760">
                <a:moveTo>
                  <a:pt x="0" y="0"/>
                </a:moveTo>
                <a:lnTo>
                  <a:pt x="741760" y="0"/>
                </a:lnTo>
                <a:lnTo>
                  <a:pt x="741760" y="713438"/>
                </a:lnTo>
                <a:lnTo>
                  <a:pt x="0" y="713438"/>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23" id="23"/>
          <p:cNvSpPr/>
          <p:nvPr/>
        </p:nvSpPr>
        <p:spPr>
          <a:xfrm flipH="false" flipV="false" rot="0">
            <a:off x="10299482" y="4793800"/>
            <a:ext cx="625403" cy="744528"/>
          </a:xfrm>
          <a:custGeom>
            <a:avLst/>
            <a:gdLst/>
            <a:ahLst/>
            <a:cxnLst/>
            <a:rect r="r" b="b" t="t" l="l"/>
            <a:pathLst>
              <a:path h="744528" w="625403">
                <a:moveTo>
                  <a:pt x="0" y="0"/>
                </a:moveTo>
                <a:lnTo>
                  <a:pt x="625403" y="0"/>
                </a:lnTo>
                <a:lnTo>
                  <a:pt x="625403" y="744527"/>
                </a:lnTo>
                <a:lnTo>
                  <a:pt x="0" y="744527"/>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24" id="24"/>
          <p:cNvSpPr/>
          <p:nvPr/>
        </p:nvSpPr>
        <p:spPr>
          <a:xfrm flipH="false" flipV="false" rot="0">
            <a:off x="11431198" y="4960173"/>
            <a:ext cx="728882" cy="646717"/>
          </a:xfrm>
          <a:custGeom>
            <a:avLst/>
            <a:gdLst/>
            <a:ahLst/>
            <a:cxnLst/>
            <a:rect r="r" b="b" t="t" l="l"/>
            <a:pathLst>
              <a:path h="646717" w="728882">
                <a:moveTo>
                  <a:pt x="0" y="0"/>
                </a:moveTo>
                <a:lnTo>
                  <a:pt x="728882" y="0"/>
                </a:lnTo>
                <a:lnTo>
                  <a:pt x="728882" y="646717"/>
                </a:lnTo>
                <a:lnTo>
                  <a:pt x="0" y="646717"/>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25" id="25"/>
          <p:cNvSpPr/>
          <p:nvPr/>
        </p:nvSpPr>
        <p:spPr>
          <a:xfrm flipH="false" flipV="false" rot="0">
            <a:off x="12733394" y="4916533"/>
            <a:ext cx="639392" cy="616141"/>
          </a:xfrm>
          <a:custGeom>
            <a:avLst/>
            <a:gdLst/>
            <a:ahLst/>
            <a:cxnLst/>
            <a:rect r="r" b="b" t="t" l="l"/>
            <a:pathLst>
              <a:path h="616141" w="639392">
                <a:moveTo>
                  <a:pt x="0" y="0"/>
                </a:moveTo>
                <a:lnTo>
                  <a:pt x="639392" y="0"/>
                </a:lnTo>
                <a:lnTo>
                  <a:pt x="639392" y="616142"/>
                </a:lnTo>
                <a:lnTo>
                  <a:pt x="0" y="616142"/>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sp>
        <p:nvSpPr>
          <p:cNvPr name="Freeform 26" id="26"/>
          <p:cNvSpPr/>
          <p:nvPr/>
        </p:nvSpPr>
        <p:spPr>
          <a:xfrm flipH="false" flipV="false" rot="0">
            <a:off x="8667728" y="6070971"/>
            <a:ext cx="709720" cy="795002"/>
          </a:xfrm>
          <a:custGeom>
            <a:avLst/>
            <a:gdLst/>
            <a:ahLst/>
            <a:cxnLst/>
            <a:rect r="r" b="b" t="t" l="l"/>
            <a:pathLst>
              <a:path h="795002" w="709720">
                <a:moveTo>
                  <a:pt x="0" y="0"/>
                </a:moveTo>
                <a:lnTo>
                  <a:pt x="709720" y="0"/>
                </a:lnTo>
                <a:lnTo>
                  <a:pt x="709720" y="795002"/>
                </a:lnTo>
                <a:lnTo>
                  <a:pt x="0" y="795002"/>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sp>
        <p:nvSpPr>
          <p:cNvPr name="Freeform 27" id="27"/>
          <p:cNvSpPr/>
          <p:nvPr/>
        </p:nvSpPr>
        <p:spPr>
          <a:xfrm flipH="false" flipV="false" rot="0">
            <a:off x="10230443" y="7152484"/>
            <a:ext cx="763482" cy="795294"/>
          </a:xfrm>
          <a:custGeom>
            <a:avLst/>
            <a:gdLst/>
            <a:ahLst/>
            <a:cxnLst/>
            <a:rect r="r" b="b" t="t" l="l"/>
            <a:pathLst>
              <a:path h="795294" w="763482">
                <a:moveTo>
                  <a:pt x="0" y="0"/>
                </a:moveTo>
                <a:lnTo>
                  <a:pt x="763481" y="0"/>
                </a:lnTo>
                <a:lnTo>
                  <a:pt x="763481" y="795294"/>
                </a:lnTo>
                <a:lnTo>
                  <a:pt x="0" y="795294"/>
                </a:lnTo>
                <a:lnTo>
                  <a:pt x="0" y="0"/>
                </a:lnTo>
                <a:close/>
              </a:path>
            </a:pathLst>
          </a:custGeom>
          <a:blipFill>
            <a:blip r:embed="rId52">
              <a:extLst>
                <a:ext uri="{96DAC541-7B7A-43D3-8B79-37D633B846F1}">
                  <asvg:svgBlip xmlns:asvg="http://schemas.microsoft.com/office/drawing/2016/SVG/main" r:embed="rId53"/>
                </a:ext>
              </a:extLst>
            </a:blip>
            <a:stretch>
              <a:fillRect l="0" t="0" r="0" b="0"/>
            </a:stretch>
          </a:blipFill>
        </p:spPr>
      </p:sp>
      <p:sp>
        <p:nvSpPr>
          <p:cNvPr name="Freeform 28" id="28"/>
          <p:cNvSpPr/>
          <p:nvPr/>
        </p:nvSpPr>
        <p:spPr>
          <a:xfrm flipH="false" flipV="false" rot="0">
            <a:off x="10279049" y="5962892"/>
            <a:ext cx="666269" cy="765027"/>
          </a:xfrm>
          <a:custGeom>
            <a:avLst/>
            <a:gdLst/>
            <a:ahLst/>
            <a:cxnLst/>
            <a:rect r="r" b="b" t="t" l="l"/>
            <a:pathLst>
              <a:path h="765027" w="666269">
                <a:moveTo>
                  <a:pt x="0" y="0"/>
                </a:moveTo>
                <a:lnTo>
                  <a:pt x="666269" y="0"/>
                </a:lnTo>
                <a:lnTo>
                  <a:pt x="666269" y="765027"/>
                </a:lnTo>
                <a:lnTo>
                  <a:pt x="0" y="765027"/>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sp>
        <p:nvSpPr>
          <p:cNvPr name="Freeform 29" id="29"/>
          <p:cNvSpPr/>
          <p:nvPr/>
        </p:nvSpPr>
        <p:spPr>
          <a:xfrm flipH="false" flipV="false" rot="0">
            <a:off x="11398138" y="6022275"/>
            <a:ext cx="795002" cy="795002"/>
          </a:xfrm>
          <a:custGeom>
            <a:avLst/>
            <a:gdLst/>
            <a:ahLst/>
            <a:cxnLst/>
            <a:rect r="r" b="b" t="t" l="l"/>
            <a:pathLst>
              <a:path h="795002" w="795002">
                <a:moveTo>
                  <a:pt x="0" y="0"/>
                </a:moveTo>
                <a:lnTo>
                  <a:pt x="795002" y="0"/>
                </a:lnTo>
                <a:lnTo>
                  <a:pt x="795002" y="795002"/>
                </a:lnTo>
                <a:lnTo>
                  <a:pt x="0" y="795002"/>
                </a:lnTo>
                <a:lnTo>
                  <a:pt x="0" y="0"/>
                </a:lnTo>
                <a:close/>
              </a:path>
            </a:pathLst>
          </a:custGeom>
          <a:blipFill>
            <a:blip r:embed="rId56">
              <a:extLst>
                <a:ext uri="{96DAC541-7B7A-43D3-8B79-37D633B846F1}">
                  <asvg:svgBlip xmlns:asvg="http://schemas.microsoft.com/office/drawing/2016/SVG/main" r:embed="rId57"/>
                </a:ext>
              </a:extLst>
            </a:blip>
            <a:stretch>
              <a:fillRect l="0" t="0" r="0" b="0"/>
            </a:stretch>
          </a:blipFill>
        </p:spPr>
      </p:sp>
      <p:sp>
        <p:nvSpPr>
          <p:cNvPr name="Freeform 30" id="30"/>
          <p:cNvSpPr/>
          <p:nvPr/>
        </p:nvSpPr>
        <p:spPr>
          <a:xfrm flipH="false" flipV="false" rot="0">
            <a:off x="9022588" y="8437815"/>
            <a:ext cx="823750" cy="795294"/>
          </a:xfrm>
          <a:custGeom>
            <a:avLst/>
            <a:gdLst/>
            <a:ahLst/>
            <a:cxnLst/>
            <a:rect r="r" b="b" t="t" l="l"/>
            <a:pathLst>
              <a:path h="795294" w="823750">
                <a:moveTo>
                  <a:pt x="0" y="0"/>
                </a:moveTo>
                <a:lnTo>
                  <a:pt x="823751" y="0"/>
                </a:lnTo>
                <a:lnTo>
                  <a:pt x="823751" y="795293"/>
                </a:lnTo>
                <a:lnTo>
                  <a:pt x="0" y="795293"/>
                </a:lnTo>
                <a:lnTo>
                  <a:pt x="0" y="0"/>
                </a:lnTo>
                <a:close/>
              </a:path>
            </a:pathLst>
          </a:custGeom>
          <a:blipFill>
            <a:blip r:embed="rId58">
              <a:extLst>
                <a:ext uri="{96DAC541-7B7A-43D3-8B79-37D633B846F1}">
                  <asvg:svgBlip xmlns:asvg="http://schemas.microsoft.com/office/drawing/2016/SVG/main" r:embed="rId59"/>
                </a:ext>
              </a:extLst>
            </a:blip>
            <a:stretch>
              <a:fillRect l="0" t="0" r="0" b="0"/>
            </a:stretch>
          </a:blipFill>
        </p:spPr>
      </p:sp>
      <p:sp>
        <p:nvSpPr>
          <p:cNvPr name="Freeform 31" id="31"/>
          <p:cNvSpPr/>
          <p:nvPr/>
        </p:nvSpPr>
        <p:spPr>
          <a:xfrm flipH="false" flipV="false" rot="0">
            <a:off x="13847936" y="7158950"/>
            <a:ext cx="850523" cy="821142"/>
          </a:xfrm>
          <a:custGeom>
            <a:avLst/>
            <a:gdLst/>
            <a:ahLst/>
            <a:cxnLst/>
            <a:rect r="r" b="b" t="t" l="l"/>
            <a:pathLst>
              <a:path h="821142" w="850523">
                <a:moveTo>
                  <a:pt x="0" y="0"/>
                </a:moveTo>
                <a:lnTo>
                  <a:pt x="850524" y="0"/>
                </a:lnTo>
                <a:lnTo>
                  <a:pt x="850524" y="821141"/>
                </a:lnTo>
                <a:lnTo>
                  <a:pt x="0" y="821141"/>
                </a:lnTo>
                <a:lnTo>
                  <a:pt x="0" y="0"/>
                </a:lnTo>
                <a:close/>
              </a:path>
            </a:pathLst>
          </a:custGeom>
          <a:blipFill>
            <a:blip r:embed="rId60">
              <a:extLst>
                <a:ext uri="{96DAC541-7B7A-43D3-8B79-37D633B846F1}">
                  <asvg:svgBlip xmlns:asvg="http://schemas.microsoft.com/office/drawing/2016/SVG/main" r:embed="rId61"/>
                </a:ext>
              </a:extLst>
            </a:blip>
            <a:stretch>
              <a:fillRect l="0" t="0" r="0" b="0"/>
            </a:stretch>
          </a:blipFill>
        </p:spPr>
      </p:sp>
      <p:sp>
        <p:nvSpPr>
          <p:cNvPr name="Freeform 32" id="32"/>
          <p:cNvSpPr/>
          <p:nvPr/>
        </p:nvSpPr>
        <p:spPr>
          <a:xfrm flipH="false" flipV="false" rot="0">
            <a:off x="14066807" y="4835561"/>
            <a:ext cx="712923" cy="702553"/>
          </a:xfrm>
          <a:custGeom>
            <a:avLst/>
            <a:gdLst/>
            <a:ahLst/>
            <a:cxnLst/>
            <a:rect r="r" b="b" t="t" l="l"/>
            <a:pathLst>
              <a:path h="702553" w="712923">
                <a:moveTo>
                  <a:pt x="0" y="0"/>
                </a:moveTo>
                <a:lnTo>
                  <a:pt x="712923" y="0"/>
                </a:lnTo>
                <a:lnTo>
                  <a:pt x="712923" y="702553"/>
                </a:lnTo>
                <a:lnTo>
                  <a:pt x="0" y="702553"/>
                </a:lnTo>
                <a:lnTo>
                  <a:pt x="0" y="0"/>
                </a:lnTo>
                <a:close/>
              </a:path>
            </a:pathLst>
          </a:custGeom>
          <a:blipFill>
            <a:blip r:embed="rId62">
              <a:extLst>
                <a:ext uri="{96DAC541-7B7A-43D3-8B79-37D633B846F1}">
                  <asvg:svgBlip xmlns:asvg="http://schemas.microsoft.com/office/drawing/2016/SVG/main" r:embed="rId63"/>
                </a:ext>
              </a:extLst>
            </a:blip>
            <a:stretch>
              <a:fillRect l="0" t="0" r="0" b="0"/>
            </a:stretch>
          </a:blipFill>
        </p:spPr>
      </p:sp>
      <p:sp>
        <p:nvSpPr>
          <p:cNvPr name="Freeform 33" id="33"/>
          <p:cNvSpPr/>
          <p:nvPr/>
        </p:nvSpPr>
        <p:spPr>
          <a:xfrm flipH="false" flipV="false" rot="0">
            <a:off x="3306376" y="4907511"/>
            <a:ext cx="814486" cy="814486"/>
          </a:xfrm>
          <a:custGeom>
            <a:avLst/>
            <a:gdLst/>
            <a:ahLst/>
            <a:cxnLst/>
            <a:rect r="r" b="b" t="t" l="l"/>
            <a:pathLst>
              <a:path h="814486" w="814486">
                <a:moveTo>
                  <a:pt x="0" y="0"/>
                </a:moveTo>
                <a:lnTo>
                  <a:pt x="814487" y="0"/>
                </a:lnTo>
                <a:lnTo>
                  <a:pt x="814487" y="814487"/>
                </a:lnTo>
                <a:lnTo>
                  <a:pt x="0" y="814487"/>
                </a:lnTo>
                <a:lnTo>
                  <a:pt x="0" y="0"/>
                </a:lnTo>
                <a:close/>
              </a:path>
            </a:pathLst>
          </a:custGeom>
          <a:blipFill>
            <a:blip r:embed="rId64">
              <a:extLst>
                <a:ext uri="{96DAC541-7B7A-43D3-8B79-37D633B846F1}">
                  <asvg:svgBlip xmlns:asvg="http://schemas.microsoft.com/office/drawing/2016/SVG/main" r:embed="rId65"/>
                </a:ext>
              </a:extLst>
            </a:blip>
            <a:stretch>
              <a:fillRect l="0" t="0" r="0" b="0"/>
            </a:stretch>
          </a:blipFill>
        </p:spPr>
      </p:sp>
      <p:sp>
        <p:nvSpPr>
          <p:cNvPr name="Freeform 34" id="34"/>
          <p:cNvSpPr/>
          <p:nvPr/>
        </p:nvSpPr>
        <p:spPr>
          <a:xfrm flipH="false" flipV="false" rot="0">
            <a:off x="11444362" y="7232662"/>
            <a:ext cx="702553" cy="702553"/>
          </a:xfrm>
          <a:custGeom>
            <a:avLst/>
            <a:gdLst/>
            <a:ahLst/>
            <a:cxnLst/>
            <a:rect r="r" b="b" t="t" l="l"/>
            <a:pathLst>
              <a:path h="702553" w="702553">
                <a:moveTo>
                  <a:pt x="0" y="0"/>
                </a:moveTo>
                <a:lnTo>
                  <a:pt x="702554" y="0"/>
                </a:lnTo>
                <a:lnTo>
                  <a:pt x="702554" y="702554"/>
                </a:lnTo>
                <a:lnTo>
                  <a:pt x="0" y="702554"/>
                </a:lnTo>
                <a:lnTo>
                  <a:pt x="0" y="0"/>
                </a:lnTo>
                <a:close/>
              </a:path>
            </a:pathLst>
          </a:custGeom>
          <a:blipFill>
            <a:blip r:embed="rId66">
              <a:extLst>
                <a:ext uri="{96DAC541-7B7A-43D3-8B79-37D633B846F1}">
                  <asvg:svgBlip xmlns:asvg="http://schemas.microsoft.com/office/drawing/2016/SVG/main" r:embed="rId67"/>
                </a:ext>
              </a:extLst>
            </a:blip>
            <a:stretch>
              <a:fillRect l="0" t="0" r="0" b="0"/>
            </a:stretch>
          </a:blipFill>
        </p:spPr>
      </p:sp>
      <p:sp>
        <p:nvSpPr>
          <p:cNvPr name="Freeform 35" id="35"/>
          <p:cNvSpPr/>
          <p:nvPr/>
        </p:nvSpPr>
        <p:spPr>
          <a:xfrm flipH="false" flipV="false" rot="0">
            <a:off x="6161255" y="5996943"/>
            <a:ext cx="720904" cy="702553"/>
          </a:xfrm>
          <a:custGeom>
            <a:avLst/>
            <a:gdLst/>
            <a:ahLst/>
            <a:cxnLst/>
            <a:rect r="r" b="b" t="t" l="l"/>
            <a:pathLst>
              <a:path h="702553" w="720904">
                <a:moveTo>
                  <a:pt x="0" y="0"/>
                </a:moveTo>
                <a:lnTo>
                  <a:pt x="720904" y="0"/>
                </a:lnTo>
                <a:lnTo>
                  <a:pt x="720904" y="702554"/>
                </a:lnTo>
                <a:lnTo>
                  <a:pt x="0" y="702554"/>
                </a:lnTo>
                <a:lnTo>
                  <a:pt x="0" y="0"/>
                </a:lnTo>
                <a:close/>
              </a:path>
            </a:pathLst>
          </a:custGeom>
          <a:blipFill>
            <a:blip r:embed="rId68">
              <a:extLst>
                <a:ext uri="{96DAC541-7B7A-43D3-8B79-37D633B846F1}">
                  <asvg:svgBlip xmlns:asvg="http://schemas.microsoft.com/office/drawing/2016/SVG/main" r:embed="rId69"/>
                </a:ext>
              </a:extLst>
            </a:blip>
            <a:stretch>
              <a:fillRect l="0" t="0" r="0" b="0"/>
            </a:stretch>
          </a:blipFill>
        </p:spPr>
      </p:sp>
      <p:sp>
        <p:nvSpPr>
          <p:cNvPr name="Freeform 36" id="36"/>
          <p:cNvSpPr/>
          <p:nvPr/>
        </p:nvSpPr>
        <p:spPr>
          <a:xfrm flipH="false" flipV="false" rot="0">
            <a:off x="12642022" y="7246220"/>
            <a:ext cx="822137" cy="702553"/>
          </a:xfrm>
          <a:custGeom>
            <a:avLst/>
            <a:gdLst/>
            <a:ahLst/>
            <a:cxnLst/>
            <a:rect r="r" b="b" t="t" l="l"/>
            <a:pathLst>
              <a:path h="702553" w="822137">
                <a:moveTo>
                  <a:pt x="0" y="0"/>
                </a:moveTo>
                <a:lnTo>
                  <a:pt x="822137" y="0"/>
                </a:lnTo>
                <a:lnTo>
                  <a:pt x="822137" y="702554"/>
                </a:lnTo>
                <a:lnTo>
                  <a:pt x="0" y="702554"/>
                </a:lnTo>
                <a:lnTo>
                  <a:pt x="0" y="0"/>
                </a:lnTo>
                <a:close/>
              </a:path>
            </a:pathLst>
          </a:custGeom>
          <a:blipFill>
            <a:blip r:embed="rId70">
              <a:extLst>
                <a:ext uri="{96DAC541-7B7A-43D3-8B79-37D633B846F1}">
                  <asvg:svgBlip xmlns:asvg="http://schemas.microsoft.com/office/drawing/2016/SVG/main" r:embed="rId71"/>
                </a:ext>
              </a:extLst>
            </a:blip>
            <a:stretch>
              <a:fillRect l="0" t="0" r="0" b="0"/>
            </a:stretch>
          </a:blipFill>
        </p:spPr>
      </p:sp>
      <p:sp>
        <p:nvSpPr>
          <p:cNvPr name="Freeform 37" id="37"/>
          <p:cNvSpPr/>
          <p:nvPr/>
        </p:nvSpPr>
        <p:spPr>
          <a:xfrm flipH="false" flipV="false" rot="0">
            <a:off x="4764058" y="5986215"/>
            <a:ext cx="648904" cy="702553"/>
          </a:xfrm>
          <a:custGeom>
            <a:avLst/>
            <a:gdLst/>
            <a:ahLst/>
            <a:cxnLst/>
            <a:rect r="r" b="b" t="t" l="l"/>
            <a:pathLst>
              <a:path h="702553" w="648904">
                <a:moveTo>
                  <a:pt x="0" y="0"/>
                </a:moveTo>
                <a:lnTo>
                  <a:pt x="648904" y="0"/>
                </a:lnTo>
                <a:lnTo>
                  <a:pt x="648904" y="702553"/>
                </a:lnTo>
                <a:lnTo>
                  <a:pt x="0" y="702553"/>
                </a:lnTo>
                <a:lnTo>
                  <a:pt x="0" y="0"/>
                </a:lnTo>
                <a:close/>
              </a:path>
            </a:pathLst>
          </a:custGeom>
          <a:blipFill>
            <a:blip r:embed="rId72">
              <a:extLst>
                <a:ext uri="{96DAC541-7B7A-43D3-8B79-37D633B846F1}">
                  <asvg:svgBlip xmlns:asvg="http://schemas.microsoft.com/office/drawing/2016/SVG/main" r:embed="rId73"/>
                </a:ext>
              </a:extLst>
            </a:blip>
            <a:stretch>
              <a:fillRect l="0" t="0" r="0" b="0"/>
            </a:stretch>
          </a:blipFill>
        </p:spPr>
      </p:sp>
      <p:sp>
        <p:nvSpPr>
          <p:cNvPr name="Freeform 38" id="38"/>
          <p:cNvSpPr/>
          <p:nvPr/>
        </p:nvSpPr>
        <p:spPr>
          <a:xfrm flipH="false" flipV="false" rot="0">
            <a:off x="3407051" y="6140886"/>
            <a:ext cx="613138" cy="702553"/>
          </a:xfrm>
          <a:custGeom>
            <a:avLst/>
            <a:gdLst/>
            <a:ahLst/>
            <a:cxnLst/>
            <a:rect r="r" b="b" t="t" l="l"/>
            <a:pathLst>
              <a:path h="702553" w="613138">
                <a:moveTo>
                  <a:pt x="0" y="0"/>
                </a:moveTo>
                <a:lnTo>
                  <a:pt x="613137" y="0"/>
                </a:lnTo>
                <a:lnTo>
                  <a:pt x="613137" y="702554"/>
                </a:lnTo>
                <a:lnTo>
                  <a:pt x="0" y="702554"/>
                </a:lnTo>
                <a:lnTo>
                  <a:pt x="0" y="0"/>
                </a:lnTo>
                <a:close/>
              </a:path>
            </a:pathLst>
          </a:custGeom>
          <a:blipFill>
            <a:blip r:embed="rId74">
              <a:extLst>
                <a:ext uri="{96DAC541-7B7A-43D3-8B79-37D633B846F1}">
                  <asvg:svgBlip xmlns:asvg="http://schemas.microsoft.com/office/drawing/2016/SVG/main" r:embed="rId75"/>
                </a:ext>
              </a:extLst>
            </a:blip>
            <a:stretch>
              <a:fillRect l="0" t="0" r="0" b="0"/>
            </a:stretch>
          </a:blipFill>
        </p:spPr>
      </p:sp>
      <p:sp>
        <p:nvSpPr>
          <p:cNvPr name="Freeform 39" id="39"/>
          <p:cNvSpPr/>
          <p:nvPr/>
        </p:nvSpPr>
        <p:spPr>
          <a:xfrm flipH="false" flipV="false" rot="0">
            <a:off x="14062817" y="8407900"/>
            <a:ext cx="471350" cy="702553"/>
          </a:xfrm>
          <a:custGeom>
            <a:avLst/>
            <a:gdLst/>
            <a:ahLst/>
            <a:cxnLst/>
            <a:rect r="r" b="b" t="t" l="l"/>
            <a:pathLst>
              <a:path h="702553" w="471350">
                <a:moveTo>
                  <a:pt x="0" y="0"/>
                </a:moveTo>
                <a:lnTo>
                  <a:pt x="471349" y="0"/>
                </a:lnTo>
                <a:lnTo>
                  <a:pt x="471349" y="702553"/>
                </a:lnTo>
                <a:lnTo>
                  <a:pt x="0" y="702553"/>
                </a:lnTo>
                <a:lnTo>
                  <a:pt x="0" y="0"/>
                </a:lnTo>
                <a:close/>
              </a:path>
            </a:pathLst>
          </a:custGeom>
          <a:blipFill>
            <a:blip r:embed="rId76">
              <a:extLst>
                <a:ext uri="{96DAC541-7B7A-43D3-8B79-37D633B846F1}">
                  <asvg:svgBlip xmlns:asvg="http://schemas.microsoft.com/office/drawing/2016/SVG/main" r:embed="rId77"/>
                </a:ext>
              </a:extLst>
            </a:blip>
            <a:stretch>
              <a:fillRect l="0" t="0" r="0" b="0"/>
            </a:stretch>
          </a:blipFill>
        </p:spPr>
      </p:sp>
      <p:sp>
        <p:nvSpPr>
          <p:cNvPr name="Freeform 40" id="40"/>
          <p:cNvSpPr/>
          <p:nvPr/>
        </p:nvSpPr>
        <p:spPr>
          <a:xfrm flipH="false" flipV="false" rot="0">
            <a:off x="7461386" y="5008338"/>
            <a:ext cx="605473" cy="702553"/>
          </a:xfrm>
          <a:custGeom>
            <a:avLst/>
            <a:gdLst/>
            <a:ahLst/>
            <a:cxnLst/>
            <a:rect r="r" b="b" t="t" l="l"/>
            <a:pathLst>
              <a:path h="702553" w="605473">
                <a:moveTo>
                  <a:pt x="0" y="0"/>
                </a:moveTo>
                <a:lnTo>
                  <a:pt x="605473" y="0"/>
                </a:lnTo>
                <a:lnTo>
                  <a:pt x="605473" y="702553"/>
                </a:lnTo>
                <a:lnTo>
                  <a:pt x="0" y="702553"/>
                </a:lnTo>
                <a:lnTo>
                  <a:pt x="0" y="0"/>
                </a:lnTo>
                <a:close/>
              </a:path>
            </a:pathLst>
          </a:custGeom>
          <a:blipFill>
            <a:blip r:embed="rId78">
              <a:extLst>
                <a:ext uri="{96DAC541-7B7A-43D3-8B79-37D633B846F1}">
                  <asvg:svgBlip xmlns:asvg="http://schemas.microsoft.com/office/drawing/2016/SVG/main" r:embed="rId79"/>
                </a:ext>
              </a:extLst>
            </a:blip>
            <a:stretch>
              <a:fillRect l="0" t="0" r="0" b="0"/>
            </a:stretch>
          </a:blipFill>
        </p:spPr>
      </p:sp>
      <p:sp>
        <p:nvSpPr>
          <p:cNvPr name="Freeform 41" id="41"/>
          <p:cNvSpPr/>
          <p:nvPr/>
        </p:nvSpPr>
        <p:spPr>
          <a:xfrm flipH="false" flipV="false" rot="0">
            <a:off x="4591704" y="4935249"/>
            <a:ext cx="993611" cy="596167"/>
          </a:xfrm>
          <a:custGeom>
            <a:avLst/>
            <a:gdLst/>
            <a:ahLst/>
            <a:cxnLst/>
            <a:rect r="r" b="b" t="t" l="l"/>
            <a:pathLst>
              <a:path h="596167" w="993611">
                <a:moveTo>
                  <a:pt x="0" y="0"/>
                </a:moveTo>
                <a:lnTo>
                  <a:pt x="993611" y="0"/>
                </a:lnTo>
                <a:lnTo>
                  <a:pt x="993611" y="596166"/>
                </a:lnTo>
                <a:lnTo>
                  <a:pt x="0" y="596166"/>
                </a:lnTo>
                <a:lnTo>
                  <a:pt x="0" y="0"/>
                </a:lnTo>
                <a:close/>
              </a:path>
            </a:pathLst>
          </a:custGeom>
          <a:blipFill>
            <a:blip r:embed="rId80">
              <a:extLst>
                <a:ext uri="{96DAC541-7B7A-43D3-8B79-37D633B846F1}">
                  <asvg:svgBlip xmlns:asvg="http://schemas.microsoft.com/office/drawing/2016/SVG/main" r:embed="rId81"/>
                </a:ext>
              </a:extLst>
            </a:blip>
            <a:stretch>
              <a:fillRect l="0" t="0" r="0" b="0"/>
            </a:stretch>
          </a:blipFill>
        </p:spPr>
      </p:sp>
      <p:sp>
        <p:nvSpPr>
          <p:cNvPr name="Freeform 42" id="42"/>
          <p:cNvSpPr/>
          <p:nvPr/>
        </p:nvSpPr>
        <p:spPr>
          <a:xfrm flipH="false" flipV="false" rot="0">
            <a:off x="6242601" y="4853793"/>
            <a:ext cx="558211" cy="702553"/>
          </a:xfrm>
          <a:custGeom>
            <a:avLst/>
            <a:gdLst/>
            <a:ahLst/>
            <a:cxnLst/>
            <a:rect r="r" b="b" t="t" l="l"/>
            <a:pathLst>
              <a:path h="702553" w="558211">
                <a:moveTo>
                  <a:pt x="0" y="0"/>
                </a:moveTo>
                <a:lnTo>
                  <a:pt x="558211" y="0"/>
                </a:lnTo>
                <a:lnTo>
                  <a:pt x="558211" y="702554"/>
                </a:lnTo>
                <a:lnTo>
                  <a:pt x="0" y="702554"/>
                </a:lnTo>
                <a:lnTo>
                  <a:pt x="0" y="0"/>
                </a:lnTo>
                <a:close/>
              </a:path>
            </a:pathLst>
          </a:custGeom>
          <a:blipFill>
            <a:blip r:embed="rId82">
              <a:extLst>
                <a:ext uri="{96DAC541-7B7A-43D3-8B79-37D633B846F1}">
                  <asvg:svgBlip xmlns:asvg="http://schemas.microsoft.com/office/drawing/2016/SVG/main" r:embed="rId83"/>
                </a:ext>
              </a:extLst>
            </a:blip>
            <a:stretch>
              <a:fillRect l="0" t="0" r="0" b="0"/>
            </a:stretch>
          </a:blipFill>
        </p:spPr>
      </p:sp>
      <p:sp>
        <p:nvSpPr>
          <p:cNvPr name="Freeform 43" id="43"/>
          <p:cNvSpPr/>
          <p:nvPr/>
        </p:nvSpPr>
        <p:spPr>
          <a:xfrm flipH="false" flipV="false" rot="0">
            <a:off x="14062817" y="5911743"/>
            <a:ext cx="720904" cy="702553"/>
          </a:xfrm>
          <a:custGeom>
            <a:avLst/>
            <a:gdLst/>
            <a:ahLst/>
            <a:cxnLst/>
            <a:rect r="r" b="b" t="t" l="l"/>
            <a:pathLst>
              <a:path h="702553" w="720904">
                <a:moveTo>
                  <a:pt x="0" y="0"/>
                </a:moveTo>
                <a:lnTo>
                  <a:pt x="720904" y="0"/>
                </a:lnTo>
                <a:lnTo>
                  <a:pt x="720904" y="702554"/>
                </a:lnTo>
                <a:lnTo>
                  <a:pt x="0" y="702554"/>
                </a:lnTo>
                <a:lnTo>
                  <a:pt x="0" y="0"/>
                </a:lnTo>
                <a:close/>
              </a:path>
            </a:pathLst>
          </a:custGeom>
          <a:blipFill>
            <a:blip r:embed="rId84">
              <a:extLst>
                <a:ext uri="{96DAC541-7B7A-43D3-8B79-37D633B846F1}">
                  <asvg:svgBlip xmlns:asvg="http://schemas.microsoft.com/office/drawing/2016/SVG/main" r:embed="rId85"/>
                </a:ext>
              </a:extLst>
            </a:blip>
            <a:stretch>
              <a:fillRect l="0" t="0" r="0" b="0"/>
            </a:stretch>
          </a:blipFill>
        </p:spPr>
      </p:sp>
      <p:sp>
        <p:nvSpPr>
          <p:cNvPr name="Freeform 44" id="44"/>
          <p:cNvSpPr/>
          <p:nvPr/>
        </p:nvSpPr>
        <p:spPr>
          <a:xfrm flipH="false" flipV="false" rot="0">
            <a:off x="11347565" y="8350601"/>
            <a:ext cx="896147" cy="907699"/>
          </a:xfrm>
          <a:custGeom>
            <a:avLst/>
            <a:gdLst/>
            <a:ahLst/>
            <a:cxnLst/>
            <a:rect r="r" b="b" t="t" l="l"/>
            <a:pathLst>
              <a:path h="907699" w="896147">
                <a:moveTo>
                  <a:pt x="0" y="0"/>
                </a:moveTo>
                <a:lnTo>
                  <a:pt x="896147" y="0"/>
                </a:lnTo>
                <a:lnTo>
                  <a:pt x="896147" y="907699"/>
                </a:lnTo>
                <a:lnTo>
                  <a:pt x="0" y="907699"/>
                </a:lnTo>
                <a:lnTo>
                  <a:pt x="0" y="0"/>
                </a:lnTo>
                <a:close/>
              </a:path>
            </a:pathLst>
          </a:custGeom>
          <a:blipFill>
            <a:blip r:embed="rId86">
              <a:extLst>
                <a:ext uri="{96DAC541-7B7A-43D3-8B79-37D633B846F1}">
                  <asvg:svgBlip xmlns:asvg="http://schemas.microsoft.com/office/drawing/2016/SVG/main" r:embed="rId87"/>
                </a:ext>
              </a:extLst>
            </a:blip>
            <a:stretch>
              <a:fillRect l="0" t="0" r="0" b="0"/>
            </a:stretch>
          </a:blipFill>
        </p:spPr>
      </p:sp>
      <p:sp>
        <p:nvSpPr>
          <p:cNvPr name="Freeform 45" id="45"/>
          <p:cNvSpPr/>
          <p:nvPr/>
        </p:nvSpPr>
        <p:spPr>
          <a:xfrm flipH="false" flipV="false" rot="0">
            <a:off x="12641468" y="8407900"/>
            <a:ext cx="823245" cy="812767"/>
          </a:xfrm>
          <a:custGeom>
            <a:avLst/>
            <a:gdLst/>
            <a:ahLst/>
            <a:cxnLst/>
            <a:rect r="r" b="b" t="t" l="l"/>
            <a:pathLst>
              <a:path h="812767" w="823245">
                <a:moveTo>
                  <a:pt x="0" y="0"/>
                </a:moveTo>
                <a:lnTo>
                  <a:pt x="823245" y="0"/>
                </a:lnTo>
                <a:lnTo>
                  <a:pt x="823245" y="812767"/>
                </a:lnTo>
                <a:lnTo>
                  <a:pt x="0" y="812767"/>
                </a:lnTo>
                <a:lnTo>
                  <a:pt x="0" y="0"/>
                </a:lnTo>
                <a:close/>
              </a:path>
            </a:pathLst>
          </a:custGeom>
          <a:blipFill>
            <a:blip r:embed="rId88">
              <a:extLst>
                <a:ext uri="{96DAC541-7B7A-43D3-8B79-37D633B846F1}">
                  <asvg:svgBlip xmlns:asvg="http://schemas.microsoft.com/office/drawing/2016/SVG/main" r:embed="rId89"/>
                </a:ext>
              </a:extLst>
            </a:blip>
            <a:stretch>
              <a:fillRect l="0" t="0" r="0" b="0"/>
            </a:stretch>
          </a:blipFill>
        </p:spPr>
      </p:sp>
      <p:sp>
        <p:nvSpPr>
          <p:cNvPr name="Freeform 46" id="46"/>
          <p:cNvSpPr/>
          <p:nvPr/>
        </p:nvSpPr>
        <p:spPr>
          <a:xfrm flipH="false" flipV="false" rot="0">
            <a:off x="12692223" y="6034656"/>
            <a:ext cx="721734" cy="844583"/>
          </a:xfrm>
          <a:custGeom>
            <a:avLst/>
            <a:gdLst/>
            <a:ahLst/>
            <a:cxnLst/>
            <a:rect r="r" b="b" t="t" l="l"/>
            <a:pathLst>
              <a:path h="844583" w="721734">
                <a:moveTo>
                  <a:pt x="0" y="0"/>
                </a:moveTo>
                <a:lnTo>
                  <a:pt x="721734" y="0"/>
                </a:lnTo>
                <a:lnTo>
                  <a:pt x="721734" y="844583"/>
                </a:lnTo>
                <a:lnTo>
                  <a:pt x="0" y="844583"/>
                </a:lnTo>
                <a:lnTo>
                  <a:pt x="0" y="0"/>
                </a:lnTo>
                <a:close/>
              </a:path>
            </a:pathLst>
          </a:custGeom>
          <a:blipFill>
            <a:blip r:embed="rId90">
              <a:extLst>
                <a:ext uri="{96DAC541-7B7A-43D3-8B79-37D633B846F1}">
                  <asvg:svgBlip xmlns:asvg="http://schemas.microsoft.com/office/drawing/2016/SVG/main" r:embed="rId91"/>
                </a:ext>
              </a:extLst>
            </a:blip>
            <a:stretch>
              <a:fillRect l="0" t="0" r="0" b="0"/>
            </a:stretch>
          </a:blipFill>
        </p:spPr>
      </p:sp>
      <p:sp>
        <p:nvSpPr>
          <p:cNvPr name="Freeform 47" id="47"/>
          <p:cNvSpPr/>
          <p:nvPr/>
        </p:nvSpPr>
        <p:spPr>
          <a:xfrm flipH="false" flipV="false" rot="0">
            <a:off x="6082652" y="7140093"/>
            <a:ext cx="878110" cy="844583"/>
          </a:xfrm>
          <a:custGeom>
            <a:avLst/>
            <a:gdLst/>
            <a:ahLst/>
            <a:cxnLst/>
            <a:rect r="r" b="b" t="t" l="l"/>
            <a:pathLst>
              <a:path h="844583" w="878110">
                <a:moveTo>
                  <a:pt x="0" y="0"/>
                </a:moveTo>
                <a:lnTo>
                  <a:pt x="878110" y="0"/>
                </a:lnTo>
                <a:lnTo>
                  <a:pt x="878110" y="844583"/>
                </a:lnTo>
                <a:lnTo>
                  <a:pt x="0" y="844583"/>
                </a:lnTo>
                <a:lnTo>
                  <a:pt x="0" y="0"/>
                </a:lnTo>
                <a:close/>
              </a:path>
            </a:pathLst>
          </a:custGeom>
          <a:blipFill>
            <a:blip r:embed="rId92">
              <a:extLst>
                <a:ext uri="{96DAC541-7B7A-43D3-8B79-37D633B846F1}">
                  <asvg:svgBlip xmlns:asvg="http://schemas.microsoft.com/office/drawing/2016/SVG/main" r:embed="rId93"/>
                </a:ext>
              </a:extLst>
            </a:blip>
            <a:stretch>
              <a:fillRect l="0" t="0" r="0" b="0"/>
            </a:stretch>
          </a:blipFill>
        </p:spPr>
      </p:sp>
      <p:sp>
        <p:nvSpPr>
          <p:cNvPr name="Freeform 48" id="48"/>
          <p:cNvSpPr/>
          <p:nvPr/>
        </p:nvSpPr>
        <p:spPr>
          <a:xfrm flipH="false" flipV="false" rot="0">
            <a:off x="4664293" y="7143567"/>
            <a:ext cx="848434" cy="870595"/>
          </a:xfrm>
          <a:custGeom>
            <a:avLst/>
            <a:gdLst/>
            <a:ahLst/>
            <a:cxnLst/>
            <a:rect r="r" b="b" t="t" l="l"/>
            <a:pathLst>
              <a:path h="870595" w="848434">
                <a:moveTo>
                  <a:pt x="0" y="0"/>
                </a:moveTo>
                <a:lnTo>
                  <a:pt x="848434" y="0"/>
                </a:lnTo>
                <a:lnTo>
                  <a:pt x="848434" y="870595"/>
                </a:lnTo>
                <a:lnTo>
                  <a:pt x="0" y="870595"/>
                </a:lnTo>
                <a:lnTo>
                  <a:pt x="0" y="0"/>
                </a:lnTo>
                <a:close/>
              </a:path>
            </a:pathLst>
          </a:custGeom>
          <a:blipFill>
            <a:blip r:embed="rId94">
              <a:extLst>
                <a:ext uri="{96DAC541-7B7A-43D3-8B79-37D633B846F1}">
                  <asvg:svgBlip xmlns:asvg="http://schemas.microsoft.com/office/drawing/2016/SVG/main" r:embed="rId95"/>
                </a:ext>
              </a:extLst>
            </a:blip>
            <a:stretch>
              <a:fillRect l="0" t="0" r="0" b="0"/>
            </a:stretch>
          </a:blipFill>
        </p:spPr>
      </p:sp>
      <p:sp>
        <p:nvSpPr>
          <p:cNvPr name="Freeform 49" id="49"/>
          <p:cNvSpPr/>
          <p:nvPr/>
        </p:nvSpPr>
        <p:spPr>
          <a:xfrm flipH="false" flipV="false" rot="0">
            <a:off x="3311987" y="7262329"/>
            <a:ext cx="803265" cy="803265"/>
          </a:xfrm>
          <a:custGeom>
            <a:avLst/>
            <a:gdLst/>
            <a:ahLst/>
            <a:cxnLst/>
            <a:rect r="r" b="b" t="t" l="l"/>
            <a:pathLst>
              <a:path h="803265" w="803265">
                <a:moveTo>
                  <a:pt x="0" y="0"/>
                </a:moveTo>
                <a:lnTo>
                  <a:pt x="803265" y="0"/>
                </a:lnTo>
                <a:lnTo>
                  <a:pt x="803265" y="803264"/>
                </a:lnTo>
                <a:lnTo>
                  <a:pt x="0" y="803264"/>
                </a:lnTo>
                <a:lnTo>
                  <a:pt x="0" y="0"/>
                </a:lnTo>
                <a:close/>
              </a:path>
            </a:pathLst>
          </a:custGeom>
          <a:blipFill>
            <a:blip r:embed="rId96">
              <a:extLst>
                <a:ext uri="{96DAC541-7B7A-43D3-8B79-37D633B846F1}">
                  <asvg:svgBlip xmlns:asvg="http://schemas.microsoft.com/office/drawing/2016/SVG/main" r:embed="rId97"/>
                </a:ext>
              </a:extLst>
            </a:blip>
            <a:stretch>
              <a:fillRect l="0" t="0" r="0" b="0"/>
            </a:stretch>
          </a:blipFill>
        </p:spPr>
      </p:sp>
      <p:sp>
        <p:nvSpPr>
          <p:cNvPr name="Freeform 50" id="50"/>
          <p:cNvSpPr/>
          <p:nvPr/>
        </p:nvSpPr>
        <p:spPr>
          <a:xfrm flipH="false" flipV="false" rot="0">
            <a:off x="14007068" y="2678442"/>
            <a:ext cx="974556" cy="731803"/>
          </a:xfrm>
          <a:custGeom>
            <a:avLst/>
            <a:gdLst/>
            <a:ahLst/>
            <a:cxnLst/>
            <a:rect r="r" b="b" t="t" l="l"/>
            <a:pathLst>
              <a:path h="731803" w="974556">
                <a:moveTo>
                  <a:pt x="0" y="0"/>
                </a:moveTo>
                <a:lnTo>
                  <a:pt x="974556" y="0"/>
                </a:lnTo>
                <a:lnTo>
                  <a:pt x="974556" y="731803"/>
                </a:lnTo>
                <a:lnTo>
                  <a:pt x="0" y="731803"/>
                </a:lnTo>
                <a:lnTo>
                  <a:pt x="0" y="0"/>
                </a:lnTo>
                <a:close/>
              </a:path>
            </a:pathLst>
          </a:custGeom>
          <a:blipFill>
            <a:blip r:embed="rId98">
              <a:extLst>
                <a:ext uri="{96DAC541-7B7A-43D3-8B79-37D633B846F1}">
                  <asvg:svgBlip xmlns:asvg="http://schemas.microsoft.com/office/drawing/2016/SVG/main" r:embed="rId99"/>
                </a:ext>
              </a:extLst>
            </a:blip>
            <a:stretch>
              <a:fillRect l="0" t="0" r="0" b="0"/>
            </a:stretch>
          </a:blipFill>
        </p:spPr>
      </p:sp>
      <p:sp>
        <p:nvSpPr>
          <p:cNvPr name="Freeform 51" id="51"/>
          <p:cNvSpPr/>
          <p:nvPr/>
        </p:nvSpPr>
        <p:spPr>
          <a:xfrm flipH="false" flipV="false" rot="0">
            <a:off x="12771264" y="2597751"/>
            <a:ext cx="642693" cy="894890"/>
          </a:xfrm>
          <a:custGeom>
            <a:avLst/>
            <a:gdLst/>
            <a:ahLst/>
            <a:cxnLst/>
            <a:rect r="r" b="b" t="t" l="l"/>
            <a:pathLst>
              <a:path h="894890" w="642693">
                <a:moveTo>
                  <a:pt x="0" y="0"/>
                </a:moveTo>
                <a:lnTo>
                  <a:pt x="642693" y="0"/>
                </a:lnTo>
                <a:lnTo>
                  <a:pt x="642693" y="894890"/>
                </a:lnTo>
                <a:lnTo>
                  <a:pt x="0" y="894890"/>
                </a:lnTo>
                <a:lnTo>
                  <a:pt x="0" y="0"/>
                </a:lnTo>
                <a:close/>
              </a:path>
            </a:pathLst>
          </a:custGeom>
          <a:blipFill>
            <a:blip r:embed="rId100">
              <a:extLst>
                <a:ext uri="{96DAC541-7B7A-43D3-8B79-37D633B846F1}">
                  <asvg:svgBlip xmlns:asvg="http://schemas.microsoft.com/office/drawing/2016/SVG/main" r:embed="rId101"/>
                </a:ext>
              </a:extLst>
            </a:blip>
            <a:stretch>
              <a:fillRect l="0" t="0" r="0" b="0"/>
            </a:stretch>
          </a:blipFill>
        </p:spPr>
      </p:sp>
      <p:sp>
        <p:nvSpPr>
          <p:cNvPr name="Freeform 52" id="52"/>
          <p:cNvSpPr/>
          <p:nvPr/>
        </p:nvSpPr>
        <p:spPr>
          <a:xfrm flipH="false" flipV="false" rot="0">
            <a:off x="7395284" y="7331411"/>
            <a:ext cx="672381" cy="682305"/>
          </a:xfrm>
          <a:custGeom>
            <a:avLst/>
            <a:gdLst/>
            <a:ahLst/>
            <a:cxnLst/>
            <a:rect r="r" b="b" t="t" l="l"/>
            <a:pathLst>
              <a:path h="682305" w="672381">
                <a:moveTo>
                  <a:pt x="0" y="0"/>
                </a:moveTo>
                <a:lnTo>
                  <a:pt x="672381" y="0"/>
                </a:lnTo>
                <a:lnTo>
                  <a:pt x="672381" y="682305"/>
                </a:lnTo>
                <a:lnTo>
                  <a:pt x="0" y="682305"/>
                </a:lnTo>
                <a:lnTo>
                  <a:pt x="0" y="0"/>
                </a:lnTo>
                <a:close/>
              </a:path>
            </a:pathLst>
          </a:custGeom>
          <a:blipFill>
            <a:blip r:embed="rId102">
              <a:extLst>
                <a:ext uri="{96DAC541-7B7A-43D3-8B79-37D633B846F1}">
                  <asvg:svgBlip xmlns:asvg="http://schemas.microsoft.com/office/drawing/2016/SVG/main" r:embed="rId103"/>
                </a:ext>
              </a:extLst>
            </a:blip>
            <a:stretch>
              <a:fillRect l="0" t="0" r="0" b="0"/>
            </a:stretch>
          </a:blipFill>
        </p:spPr>
      </p:sp>
      <p:sp>
        <p:nvSpPr>
          <p:cNvPr name="Freeform 53" id="53"/>
          <p:cNvSpPr/>
          <p:nvPr/>
        </p:nvSpPr>
        <p:spPr>
          <a:xfrm flipH="false" flipV="false" rot="0">
            <a:off x="14066807" y="3889026"/>
            <a:ext cx="832568" cy="717522"/>
          </a:xfrm>
          <a:custGeom>
            <a:avLst/>
            <a:gdLst/>
            <a:ahLst/>
            <a:cxnLst/>
            <a:rect r="r" b="b" t="t" l="l"/>
            <a:pathLst>
              <a:path h="717522" w="832568">
                <a:moveTo>
                  <a:pt x="0" y="0"/>
                </a:moveTo>
                <a:lnTo>
                  <a:pt x="832568" y="0"/>
                </a:lnTo>
                <a:lnTo>
                  <a:pt x="832568" y="717522"/>
                </a:lnTo>
                <a:lnTo>
                  <a:pt x="0" y="717522"/>
                </a:lnTo>
                <a:lnTo>
                  <a:pt x="0" y="0"/>
                </a:lnTo>
                <a:close/>
              </a:path>
            </a:pathLst>
          </a:custGeom>
          <a:blipFill>
            <a:blip r:embed="rId104">
              <a:extLst>
                <a:ext uri="{96DAC541-7B7A-43D3-8B79-37D633B846F1}">
                  <asvg:svgBlip xmlns:asvg="http://schemas.microsoft.com/office/drawing/2016/SVG/main" r:embed="rId105"/>
                </a:ext>
              </a:extLst>
            </a:blip>
            <a:stretch>
              <a:fillRect l="0" t="0" r="0" b="0"/>
            </a:stretch>
          </a:blipFill>
        </p:spPr>
      </p:sp>
      <p:sp>
        <p:nvSpPr>
          <p:cNvPr name="Freeform 54" id="54"/>
          <p:cNvSpPr/>
          <p:nvPr/>
        </p:nvSpPr>
        <p:spPr>
          <a:xfrm flipH="false" flipV="false" rot="0">
            <a:off x="10299482" y="8399487"/>
            <a:ext cx="809926" cy="809926"/>
          </a:xfrm>
          <a:custGeom>
            <a:avLst/>
            <a:gdLst/>
            <a:ahLst/>
            <a:cxnLst/>
            <a:rect r="r" b="b" t="t" l="l"/>
            <a:pathLst>
              <a:path h="809926" w="809926">
                <a:moveTo>
                  <a:pt x="0" y="0"/>
                </a:moveTo>
                <a:lnTo>
                  <a:pt x="809926" y="0"/>
                </a:lnTo>
                <a:lnTo>
                  <a:pt x="809926" y="809926"/>
                </a:lnTo>
                <a:lnTo>
                  <a:pt x="0" y="80992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55" id="55"/>
          <p:cNvSpPr/>
          <p:nvPr/>
        </p:nvSpPr>
        <p:spPr>
          <a:xfrm flipH="false" flipV="false" rot="0">
            <a:off x="8889890" y="7152484"/>
            <a:ext cx="937480" cy="953075"/>
          </a:xfrm>
          <a:custGeom>
            <a:avLst/>
            <a:gdLst/>
            <a:ahLst/>
            <a:cxnLst/>
            <a:rect r="r" b="b" t="t" l="l"/>
            <a:pathLst>
              <a:path h="953075" w="937480">
                <a:moveTo>
                  <a:pt x="0" y="0"/>
                </a:moveTo>
                <a:lnTo>
                  <a:pt x="937480" y="0"/>
                </a:lnTo>
                <a:lnTo>
                  <a:pt x="937480" y="953076"/>
                </a:lnTo>
                <a:lnTo>
                  <a:pt x="0" y="953076"/>
                </a:lnTo>
                <a:lnTo>
                  <a:pt x="0" y="0"/>
                </a:lnTo>
                <a:close/>
              </a:path>
            </a:pathLst>
          </a:custGeom>
          <a:blipFill>
            <a:blip r:embed="rId106">
              <a:extLst>
                <a:ext uri="{96DAC541-7B7A-43D3-8B79-37D633B846F1}">
                  <asvg:svgBlip xmlns:asvg="http://schemas.microsoft.com/office/drawing/2016/SVG/main" r:embed="rId107"/>
                </a:ext>
              </a:extLst>
            </a:blip>
            <a:stretch>
              <a:fillRect l="0" t="0" r="0" b="0"/>
            </a:stretch>
          </a:blipFill>
        </p:spPr>
      </p:sp>
      <p:sp>
        <p:nvSpPr>
          <p:cNvPr name="Freeform 56" id="56"/>
          <p:cNvSpPr/>
          <p:nvPr/>
        </p:nvSpPr>
        <p:spPr>
          <a:xfrm flipH="false" flipV="false" rot="0">
            <a:off x="12733394" y="3738103"/>
            <a:ext cx="791387" cy="803068"/>
          </a:xfrm>
          <a:custGeom>
            <a:avLst/>
            <a:gdLst/>
            <a:ahLst/>
            <a:cxnLst/>
            <a:rect r="r" b="b" t="t" l="l"/>
            <a:pathLst>
              <a:path h="803068" w="791387">
                <a:moveTo>
                  <a:pt x="0" y="0"/>
                </a:moveTo>
                <a:lnTo>
                  <a:pt x="791387" y="0"/>
                </a:lnTo>
                <a:lnTo>
                  <a:pt x="791387" y="803068"/>
                </a:lnTo>
                <a:lnTo>
                  <a:pt x="0" y="80306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57" id="57"/>
          <p:cNvSpPr txBox="true"/>
          <p:nvPr/>
        </p:nvSpPr>
        <p:spPr>
          <a:xfrm rot="0">
            <a:off x="5428329" y="1028700"/>
            <a:ext cx="7431342" cy="847725"/>
          </a:xfrm>
          <a:prstGeom prst="rect">
            <a:avLst/>
          </a:prstGeom>
        </p:spPr>
        <p:txBody>
          <a:bodyPr anchor="t" rtlCol="false" tIns="0" lIns="0" bIns="0" rIns="0">
            <a:spAutoFit/>
          </a:bodyPr>
          <a:lstStyle/>
          <a:p>
            <a:pPr algn="ctr" marL="0" indent="0" lvl="0">
              <a:lnSpc>
                <a:spcPts val="6719"/>
              </a:lnSpc>
              <a:spcBef>
                <a:spcPct val="0"/>
              </a:spcBef>
            </a:pPr>
            <a:r>
              <a:rPr lang="en-US" b="true" sz="5599">
                <a:solidFill>
                  <a:srgbClr val="000000"/>
                </a:solidFill>
                <a:latin typeface="Montserrat Bold"/>
                <a:ea typeface="Montserrat Bold"/>
                <a:cs typeface="Montserrat Bold"/>
                <a:sym typeface="Montserrat Bold"/>
              </a:rPr>
              <a:t>R</a:t>
            </a:r>
            <a:r>
              <a:rPr lang="en-US" b="true" sz="5599" strike="noStrike" u="none">
                <a:solidFill>
                  <a:srgbClr val="000000"/>
                </a:solidFill>
                <a:latin typeface="Montserrat Bold"/>
                <a:ea typeface="Montserrat Bold"/>
                <a:cs typeface="Montserrat Bold"/>
                <a:sym typeface="Montserrat Bold"/>
              </a:rPr>
              <a:t>esource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DAG8MK2DpKc</dc:identifier>
  <dcterms:modified xsi:type="dcterms:W3CDTF">2011-08-01T06:04:30Z</dcterms:modified>
  <cp:revision>1</cp:revision>
  <dc:title>Proyecto BI: Análisis de Admisión CEPRE-UNI 2024</dc:title>
</cp:coreProperties>
</file>